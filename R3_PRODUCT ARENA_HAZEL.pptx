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9" r:id="rId2"/>
    <p:sldId id="264" r:id="rId3"/>
    <p:sldId id="265" r:id="rId4"/>
    <p:sldId id="268" r:id="rId5"/>
    <p:sldId id="266" r:id="rId6"/>
    <p:sldId id="26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59" d="100"/>
          <a:sy n="59" d="100"/>
        </p:scale>
        <p:origin x="10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9A8C-4922-886A-4C6396392363}"/>
                </c:ext>
              </c:extLst>
            </c:dLbl>
            <c:dLbl>
              <c:idx val="1"/>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9A8C-4922-886A-4C6396392363}"/>
                </c:ext>
              </c:extLst>
            </c:dLbl>
            <c:dLbl>
              <c:idx val="2"/>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9A8C-4922-886A-4C6396392363}"/>
                </c:ext>
              </c:extLst>
            </c:dLbl>
            <c:dLbl>
              <c:idx val="3"/>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9A8C-4922-886A-4C6396392363}"/>
                </c:ext>
              </c:extLst>
            </c:dLbl>
            <c:dLbl>
              <c:idx val="4"/>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9A8C-4922-886A-4C6396392363}"/>
                </c:ext>
              </c:extLst>
            </c:dLbl>
            <c:dLbl>
              <c:idx val="5"/>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9A8C-4922-886A-4C6396392363}"/>
                </c:ext>
              </c:extLst>
            </c:dLbl>
            <c:dLbl>
              <c:idx val="6"/>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6-9A8C-4922-886A-4C6396392363}"/>
                </c:ext>
              </c:extLst>
            </c:dLbl>
            <c:dLbl>
              <c:idx val="7"/>
              <c:numFmt formatCode="#,##0" sourceLinked="0"/>
              <c:spPr/>
              <c:txPr>
                <a:bodyPr/>
                <a:lstStyle/>
                <a:p>
                  <a:pPr>
                    <a:defRPr sz="7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7-9A8C-4922-886A-4C6396392363}"/>
                </c:ext>
              </c:extLst>
            </c:dLbl>
            <c:spPr>
              <a:noFill/>
              <a:ln>
                <a:noFill/>
              </a:ln>
              <a:effectLst/>
            </c:spPr>
            <c:txPr>
              <a:bodyPr/>
              <a:lstStyle/>
              <a:p>
                <a:pPr>
                  <a:defRPr sz="700" b="0" smtId="4294967295">
                    <a:solidFill>
                      <a:srgbClr val="0F2741"/>
                    </a:solidFill>
                    <a:latin typeface="Open Sans"/>
                  </a:defRPr>
                </a:pPr>
                <a:endParaRPr lang="en-US"/>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Sheet1!$A$2:$A$9</c:f>
              <c:strCache>
                <c:ptCount val="8"/>
                <c:pt idx="0">
                  <c:v>FY 2020</c:v>
                </c:pt>
                <c:pt idx="1">
                  <c:v>FY 2021</c:v>
                </c:pt>
                <c:pt idx="2">
                  <c:v>FY 2022</c:v>
                </c:pt>
                <c:pt idx="3">
                  <c:v>FY 2023</c:v>
                </c:pt>
                <c:pt idx="4">
                  <c:v>FY 2024*</c:v>
                </c:pt>
                <c:pt idx="5">
                  <c:v>FY 2025*</c:v>
                </c:pt>
                <c:pt idx="6">
                  <c:v>FY 2026*</c:v>
                </c:pt>
                <c:pt idx="7">
                  <c:v>FY 2027*</c:v>
                </c:pt>
              </c:strCache>
            </c:strRef>
          </c:cat>
          <c:val>
            <c:numRef>
              <c:f>Sheet1!$B$2:$B$9</c:f>
              <c:numCache>
                <c:formatCode>General</c:formatCode>
                <c:ptCount val="8"/>
                <c:pt idx="0">
                  <c:v>42</c:v>
                </c:pt>
                <c:pt idx="1">
                  <c:v>60</c:v>
                </c:pt>
                <c:pt idx="2">
                  <c:v>106</c:v>
                </c:pt>
                <c:pt idx="3">
                  <c:v>166</c:v>
                </c:pt>
                <c:pt idx="4">
                  <c:v>241</c:v>
                </c:pt>
                <c:pt idx="5">
                  <c:v>333</c:v>
                </c:pt>
                <c:pt idx="6">
                  <c:v>418</c:v>
                </c:pt>
                <c:pt idx="7">
                  <c:v>518</c:v>
                </c:pt>
              </c:numCache>
            </c:numRef>
          </c:val>
          <c:extLst>
            <c:ext xmlns:c16="http://schemas.microsoft.com/office/drawing/2014/chart" uri="{C3380CC4-5D6E-409C-BE32-E72D297353CC}">
              <c16:uniqueId val="{00000008-9A8C-4922-886A-4C6396392363}"/>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7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majorGridlines>
          <c:spPr>
            <a:ln w="9525">
              <a:noFill/>
              <a:prstDash val="dot"/>
            </a:ln>
          </c:spPr>
        </c:majorGridlines>
        <c:title>
          <c:tx>
            <c:rich>
              <a:bodyPr/>
              <a:lstStyle/>
              <a:p>
                <a:pPr>
                  <a:defRPr sz="700"/>
                </a:pPr>
                <a:r>
                  <a:rPr lang="en-US" sz="700" b="0">
                    <a:solidFill>
                      <a:srgbClr val="0F2741"/>
                    </a:solidFill>
                    <a:latin typeface="Open Sans"/>
                  </a:rPr>
                  <a:t>Value of transactions in trillion Indian rupees</a:t>
                </a:r>
              </a:p>
            </c:rich>
          </c:tx>
          <c:overlay val="0"/>
        </c:title>
        <c:numFmt formatCode="#,##0" sourceLinked="0"/>
        <c:majorTickMark val="none"/>
        <c:minorTickMark val="none"/>
        <c:tickLblPos val="low"/>
        <c:spPr>
          <a:ln>
            <a:noFill/>
          </a:ln>
        </c:spPr>
        <c:txPr>
          <a:bodyPr/>
          <a:lstStyle/>
          <a:p>
            <a:pPr>
              <a:defRPr sz="700" b="0" smtId="4294967295">
                <a:solidFill>
                  <a:srgbClr val="0F2741"/>
                </a:solidFill>
                <a:latin typeface="Open Sans"/>
              </a:defRPr>
            </a:pPr>
            <a:endParaRPr lang="en-US"/>
          </a:p>
        </c:txPr>
        <c:crossAx val="67451136"/>
        <c:crosses val="autoZero"/>
        <c:crossBetween val="between"/>
      </c:valAx>
    </c:plotArea>
    <c:plotVisOnly val="1"/>
    <c:dispBlanksAs val="gap"/>
    <c:showDLblsOverMax val="1"/>
  </c:chart>
  <c:txPr>
    <a:bodyPr/>
    <a:lstStyle/>
    <a:p>
      <a:pPr>
        <a:defRPr sz="1800" smtId="4294967295"/>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6D4B-4C85-8498-4D6DCA77A560}"/>
                </c:ext>
              </c:extLst>
            </c:dLbl>
            <c:dLbl>
              <c:idx val="1"/>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6D4B-4C85-8498-4D6DCA77A560}"/>
                </c:ext>
              </c:extLst>
            </c:dLbl>
            <c:dLbl>
              <c:idx val="2"/>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6D4B-4C85-8498-4D6DCA77A560}"/>
                </c:ext>
              </c:extLst>
            </c:dLbl>
            <c:dLbl>
              <c:idx val="3"/>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6D4B-4C85-8498-4D6DCA77A560}"/>
                </c:ext>
              </c:extLst>
            </c:dLbl>
            <c:dLbl>
              <c:idx val="4"/>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6D4B-4C85-8498-4D6DCA77A560}"/>
                </c:ext>
              </c:extLst>
            </c:dLbl>
            <c:dLbl>
              <c:idx val="5"/>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6D4B-4C85-8498-4D6DCA77A560}"/>
                </c:ext>
              </c:extLst>
            </c:dLbl>
            <c:dLbl>
              <c:idx val="6"/>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6-6D4B-4C85-8498-4D6DCA77A560}"/>
                </c:ext>
              </c:extLst>
            </c:dLbl>
            <c:dLbl>
              <c:idx val="7"/>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7-6D4B-4C85-8498-4D6DCA77A560}"/>
                </c:ext>
              </c:extLst>
            </c:dLbl>
            <c:dLbl>
              <c:idx val="8"/>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8-6D4B-4C85-8498-4D6DCA77A560}"/>
                </c:ext>
              </c:extLst>
            </c:dLbl>
            <c:dLbl>
              <c:idx val="9"/>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9-6D4B-4C85-8498-4D6DCA77A560}"/>
                </c:ext>
              </c:extLst>
            </c:dLbl>
            <c:dLbl>
              <c:idx val="10"/>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A-6D4B-4C85-8498-4D6DCA77A560}"/>
                </c:ext>
              </c:extLst>
            </c:dLbl>
            <c:dLbl>
              <c:idx val="11"/>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B-6D4B-4C85-8498-4D6DCA77A560}"/>
                </c:ext>
              </c:extLst>
            </c:dLbl>
            <c:dLbl>
              <c:idx val="12"/>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C-6D4B-4C85-8498-4D6DCA77A560}"/>
                </c:ext>
              </c:extLst>
            </c:dLbl>
            <c:spPr>
              <a:noFill/>
              <a:ln>
                <a:noFill/>
              </a:ln>
              <a:effectLst/>
            </c:spPr>
            <c:txPr>
              <a:bodyPr/>
              <a:lstStyle/>
              <a:p>
                <a:pPr>
                  <a:defRPr sz="600" b="0" smtId="4294967295">
                    <a:solidFill>
                      <a:srgbClr val="0F2741"/>
                    </a:solidFill>
                    <a:latin typeface="Open Sans"/>
                  </a:defRPr>
                </a:pPr>
                <a:endParaRPr lang="en-US"/>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Sheet1!$A$2:$A$14</c:f>
              <c:strCache>
                <c:ptCount val="13"/>
                <c:pt idx="0">
                  <c:v>BHIM UPI</c:v>
                </c:pt>
                <c:pt idx="1">
                  <c:v>PPI</c:v>
                </c:pt>
                <c:pt idx="2">
                  <c:v>NEFT</c:v>
                </c:pt>
                <c:pt idx="3">
                  <c:v>NACH</c:v>
                </c:pt>
                <c:pt idx="4">
                  <c:v>IMPS</c:v>
                </c:pt>
                <c:pt idx="5">
                  <c:v>Credit card</c:v>
                </c:pt>
                <c:pt idx="6">
                  <c:v>NETC</c:v>
                </c:pt>
                <c:pt idx="7">
                  <c:v>Debit card</c:v>
                </c:pt>
                <c:pt idx="8">
                  <c:v>Internet banking</c:v>
                </c:pt>
                <c:pt idx="9">
                  <c:v>Mobile banking</c:v>
                </c:pt>
                <c:pt idx="10">
                  <c:v>AEPS</c:v>
                </c:pt>
                <c:pt idx="11">
                  <c:v>RTGS</c:v>
                </c:pt>
                <c:pt idx="12">
                  <c:v>Others</c:v>
                </c:pt>
              </c:strCache>
            </c:strRef>
          </c:cat>
          <c:val>
            <c:numRef>
              <c:f>Sheet1!$B$2:$B$14</c:f>
              <c:numCache>
                <c:formatCode>General</c:formatCode>
                <c:ptCount val="13"/>
                <c:pt idx="0">
                  <c:v>81.459999999999994</c:v>
                </c:pt>
                <c:pt idx="1">
                  <c:v>5.81</c:v>
                </c:pt>
                <c:pt idx="2">
                  <c:v>4.8099999999999996</c:v>
                </c:pt>
                <c:pt idx="3">
                  <c:v>3.84</c:v>
                </c:pt>
                <c:pt idx="4">
                  <c:v>3.37</c:v>
                </c:pt>
                <c:pt idx="5">
                  <c:v>2.5</c:v>
                </c:pt>
                <c:pt idx="6">
                  <c:v>2.19</c:v>
                </c:pt>
                <c:pt idx="7">
                  <c:v>1.94</c:v>
                </c:pt>
                <c:pt idx="8">
                  <c:v>1.88</c:v>
                </c:pt>
                <c:pt idx="9">
                  <c:v>1.54</c:v>
                </c:pt>
                <c:pt idx="10">
                  <c:v>0.64</c:v>
                </c:pt>
                <c:pt idx="11">
                  <c:v>0.19</c:v>
                </c:pt>
                <c:pt idx="12">
                  <c:v>11.27</c:v>
                </c:pt>
              </c:numCache>
            </c:numRef>
          </c:val>
          <c:extLst>
            <c:ext xmlns:c16="http://schemas.microsoft.com/office/drawing/2014/chart" uri="{C3380CC4-5D6E-409C-BE32-E72D297353CC}">
              <c16:uniqueId val="{0000000D-6D4B-4C85-8498-4D6DCA77A560}"/>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majorGridlines>
          <c:spPr>
            <a:ln>
              <a:noFill/>
            </a:ln>
          </c:spPr>
        </c:majorGridlines>
        <c:numFmt formatCode="General" sourceLinked="0"/>
        <c:majorTickMark val="none"/>
        <c:minorTickMark val="none"/>
        <c:tickLblPos val="low"/>
        <c:spPr>
          <a:ln w="9525">
            <a:solidFill>
              <a:srgbClr val="2F2F2F"/>
            </a:solidFill>
          </a:ln>
        </c:spPr>
        <c:txPr>
          <a:bodyPr/>
          <a:lstStyle/>
          <a:p>
            <a:pPr>
              <a:defRPr sz="6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t"/>
        <c:numFmt formatCode="#,##0" sourceLinked="0"/>
        <c:majorTickMark val="none"/>
        <c:minorTickMark val="none"/>
        <c:tickLblPos val="nextTo"/>
        <c:spPr>
          <a:ln>
            <a:noFill/>
          </a:ln>
        </c:spPr>
        <c:txPr>
          <a:bodyPr/>
          <a:lstStyle/>
          <a:p>
            <a:pPr>
              <a:defRPr sz="600" b="0" smtId="4294967295">
                <a:solidFill>
                  <a:srgbClr val="0F2741"/>
                </a:solidFill>
                <a:latin typeface="Open Sans"/>
              </a:defRPr>
            </a:pPr>
            <a:endParaRPr lang="en-US"/>
          </a:p>
        </c:txPr>
        <c:crossAx val="67451136"/>
        <c:crosses val="autoZero"/>
        <c:crossBetween val="between"/>
      </c:valAx>
    </c:plotArea>
    <c:plotVisOnly val="1"/>
    <c:dispBlanksAs val="gap"/>
    <c:showDLblsOverMax val="1"/>
  </c:chart>
  <c:txPr>
    <a:bodyPr/>
    <a:lstStyle/>
    <a:p>
      <a:pPr>
        <a:defRPr sz="1800" smtId="4294967295"/>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AePS</c:v>
                </c:pt>
              </c:strCache>
            </c:strRef>
          </c:tx>
          <c:spPr>
            <a:solidFill>
              <a:srgbClr val="2875DD"/>
            </a:solidFill>
            <a:ln>
              <a:solidFill>
                <a:srgbClr val="2875DD"/>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Sheet1!$B$2:$B$7</c:f>
              <c:numCache>
                <c:formatCode>General</c:formatCode>
                <c:ptCount val="6"/>
                <c:pt idx="0">
                  <c:v>0</c:v>
                </c:pt>
                <c:pt idx="1">
                  <c:v>0.01</c:v>
                </c:pt>
                <c:pt idx="2">
                  <c:v>0</c:v>
                </c:pt>
                <c:pt idx="3">
                  <c:v>0.01</c:v>
                </c:pt>
                <c:pt idx="4">
                  <c:v>0.01</c:v>
                </c:pt>
                <c:pt idx="5">
                  <c:v>0</c:v>
                </c:pt>
              </c:numCache>
            </c:numRef>
          </c:val>
          <c:extLst>
            <c:ext xmlns:c16="http://schemas.microsoft.com/office/drawing/2014/chart" uri="{C3380CC4-5D6E-409C-BE32-E72D297353CC}">
              <c16:uniqueId val="{00000000-0208-4683-BE7F-AE06256DC713}"/>
            </c:ext>
          </c:extLst>
        </c:ser>
        <c:ser>
          <c:idx val="1"/>
          <c:order val="1"/>
          <c:tx>
            <c:strRef>
              <c:f>Sheet1!$C$1</c:f>
              <c:strCache>
                <c:ptCount val="1"/>
                <c:pt idx="0">
                  <c:v>ECS</c:v>
                </c:pt>
              </c:strCache>
            </c:strRef>
          </c:tx>
          <c:spPr>
            <a:solidFill>
              <a:srgbClr val="0F283E"/>
            </a:solidFill>
            <a:ln>
              <a:solidFill>
                <a:srgbClr val="0F283E"/>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Sheet1!$C$2:$C$7</c:f>
              <c:numCache>
                <c:formatCode>General</c:formatCode>
                <c:ptCount val="6"/>
                <c:pt idx="0">
                  <c:v>0.12</c:v>
                </c:pt>
                <c:pt idx="1">
                  <c:v>0.13</c:v>
                </c:pt>
                <c:pt idx="2">
                  <c:v>0.05</c:v>
                </c:pt>
                <c:pt idx="3">
                  <c:v>0</c:v>
                </c:pt>
                <c:pt idx="4">
                  <c:v>0</c:v>
                </c:pt>
                <c:pt idx="5">
                  <c:v>0</c:v>
                </c:pt>
              </c:numCache>
            </c:numRef>
          </c:val>
          <c:extLst>
            <c:ext xmlns:c16="http://schemas.microsoft.com/office/drawing/2014/chart" uri="{C3380CC4-5D6E-409C-BE32-E72D297353CC}">
              <c16:uniqueId val="{00000001-0208-4683-BE7F-AE06256DC713}"/>
            </c:ext>
          </c:extLst>
        </c:ser>
        <c:ser>
          <c:idx val="2"/>
          <c:order val="2"/>
          <c:tx>
            <c:strRef>
              <c:f>Sheet1!$D$1</c:f>
              <c:strCache>
                <c:ptCount val="1"/>
                <c:pt idx="0">
                  <c:v>NACH</c:v>
                </c:pt>
              </c:strCache>
            </c:strRef>
          </c:tx>
          <c:spPr>
            <a:solidFill>
              <a:srgbClr val="BABABA"/>
            </a:solidFill>
            <a:ln>
              <a:solidFill>
                <a:srgbClr val="BABABA"/>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Sheet1!$D$2:$D$7</c:f>
              <c:numCache>
                <c:formatCode>General</c:formatCode>
                <c:ptCount val="6"/>
                <c:pt idx="0">
                  <c:v>5.21</c:v>
                </c:pt>
                <c:pt idx="1">
                  <c:v>7.3</c:v>
                </c:pt>
                <c:pt idx="2">
                  <c:v>10.43</c:v>
                </c:pt>
                <c:pt idx="3">
                  <c:v>12.33</c:v>
                </c:pt>
                <c:pt idx="4">
                  <c:v>12.77</c:v>
                </c:pt>
                <c:pt idx="5">
                  <c:v>15.44</c:v>
                </c:pt>
              </c:numCache>
            </c:numRef>
          </c:val>
          <c:extLst>
            <c:ext xmlns:c16="http://schemas.microsoft.com/office/drawing/2014/chart" uri="{C3380CC4-5D6E-409C-BE32-E72D297353CC}">
              <c16:uniqueId val="{00000002-0208-4683-BE7F-AE06256DC713}"/>
            </c:ext>
          </c:extLst>
        </c:ser>
        <c:ser>
          <c:idx val="3"/>
          <c:order val="3"/>
          <c:tx>
            <c:strRef>
              <c:f>Sheet1!$E$1</c:f>
              <c:strCache>
                <c:ptCount val="1"/>
                <c:pt idx="0">
                  <c:v>APBS</c:v>
                </c:pt>
              </c:strCache>
            </c:strRef>
          </c:tx>
          <c:spPr>
            <a:solidFill>
              <a:srgbClr val="A60B0B"/>
            </a:solidFill>
            <a:ln>
              <a:solidFill>
                <a:srgbClr val="A60B0B"/>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Sheet1!$E$2:$E$7</c:f>
              <c:numCache>
                <c:formatCode>General</c:formatCode>
                <c:ptCount val="6"/>
                <c:pt idx="0">
                  <c:v>0.56000000000000005</c:v>
                </c:pt>
                <c:pt idx="1">
                  <c:v>0.86</c:v>
                </c:pt>
                <c:pt idx="2">
                  <c:v>0.99</c:v>
                </c:pt>
                <c:pt idx="3">
                  <c:v>1.1299999999999999</c:v>
                </c:pt>
                <c:pt idx="4">
                  <c:v>1.33</c:v>
                </c:pt>
                <c:pt idx="5">
                  <c:v>2.48</c:v>
                </c:pt>
              </c:numCache>
            </c:numRef>
          </c:val>
          <c:extLst>
            <c:ext xmlns:c16="http://schemas.microsoft.com/office/drawing/2014/chart" uri="{C3380CC4-5D6E-409C-BE32-E72D297353CC}">
              <c16:uniqueId val="{00000003-0208-4683-BE7F-AE06256DC713}"/>
            </c:ext>
          </c:extLst>
        </c:ser>
        <c:ser>
          <c:idx val="4"/>
          <c:order val="4"/>
          <c:tx>
            <c:strRef>
              <c:f>Sheet1!$F$1</c:f>
              <c:strCache>
                <c:ptCount val="1"/>
                <c:pt idx="0">
                  <c:v>IMPS</c:v>
                </c:pt>
              </c:strCache>
            </c:strRef>
          </c:tx>
          <c:spPr>
            <a:solidFill>
              <a:srgbClr val="87BC24"/>
            </a:solidFill>
            <a:ln>
              <a:solidFill>
                <a:srgbClr val="87BC24"/>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Sheet1!$F$2:$F$7</c:f>
              <c:numCache>
                <c:formatCode>General</c:formatCode>
                <c:ptCount val="6"/>
                <c:pt idx="0">
                  <c:v>8.92</c:v>
                </c:pt>
                <c:pt idx="1">
                  <c:v>15.9</c:v>
                </c:pt>
                <c:pt idx="2">
                  <c:v>23.38</c:v>
                </c:pt>
                <c:pt idx="3">
                  <c:v>29.42</c:v>
                </c:pt>
                <c:pt idx="4">
                  <c:v>41.71</c:v>
                </c:pt>
                <c:pt idx="5">
                  <c:v>55.85</c:v>
                </c:pt>
              </c:numCache>
            </c:numRef>
          </c:val>
          <c:extLst>
            <c:ext xmlns:c16="http://schemas.microsoft.com/office/drawing/2014/chart" uri="{C3380CC4-5D6E-409C-BE32-E72D297353CC}">
              <c16:uniqueId val="{00000004-0208-4683-BE7F-AE06256DC713}"/>
            </c:ext>
          </c:extLst>
        </c:ser>
        <c:ser>
          <c:idx val="5"/>
          <c:order val="5"/>
          <c:tx>
            <c:strRef>
              <c:f>Sheet1!$G$1</c:f>
              <c:strCache>
                <c:ptCount val="1"/>
                <c:pt idx="0">
                  <c:v>NEFT</c:v>
                </c:pt>
              </c:strCache>
            </c:strRef>
          </c:tx>
          <c:spPr>
            <a:solidFill>
              <a:srgbClr val="EBB523"/>
            </a:solidFill>
            <a:ln>
              <a:solidFill>
                <a:srgbClr val="EBB523"/>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Sheet1!$G$2:$G$7</c:f>
              <c:numCache>
                <c:formatCode>General</c:formatCode>
                <c:ptCount val="6"/>
                <c:pt idx="0">
                  <c:v>172.23</c:v>
                </c:pt>
                <c:pt idx="1">
                  <c:v>227.94</c:v>
                </c:pt>
                <c:pt idx="2">
                  <c:v>229.46</c:v>
                </c:pt>
                <c:pt idx="3">
                  <c:v>251.31</c:v>
                </c:pt>
                <c:pt idx="4">
                  <c:v>287.25</c:v>
                </c:pt>
                <c:pt idx="5">
                  <c:v>337.2</c:v>
                </c:pt>
              </c:numCache>
            </c:numRef>
          </c:val>
          <c:extLst>
            <c:ext xmlns:c16="http://schemas.microsoft.com/office/drawing/2014/chart" uri="{C3380CC4-5D6E-409C-BE32-E72D297353CC}">
              <c16:uniqueId val="{00000005-0208-4683-BE7F-AE06256DC713}"/>
            </c:ext>
          </c:extLst>
        </c:ser>
        <c:ser>
          <c:idx val="6"/>
          <c:order val="6"/>
          <c:tx>
            <c:strRef>
              <c:f>Sheet1!$H$1</c:f>
              <c:strCache>
                <c:ptCount val="1"/>
                <c:pt idx="0">
                  <c:v>UPI</c:v>
                </c:pt>
              </c:strCache>
            </c:strRef>
          </c:tx>
          <c:spPr>
            <a:solidFill>
              <a:srgbClr val="5D2B76"/>
            </a:solidFill>
            <a:ln>
              <a:solidFill>
                <a:srgbClr val="5D2B76"/>
              </a:solidFill>
            </a:ln>
          </c:spPr>
          <c:invertIfNegative val="0"/>
          <c:cat>
            <c:strRef>
              <c:f>Sheet1!$A$2:$A$7</c:f>
              <c:strCache>
                <c:ptCount val="6"/>
                <c:pt idx="0">
                  <c:v>FY 2018</c:v>
                </c:pt>
                <c:pt idx="1">
                  <c:v>FY 2019</c:v>
                </c:pt>
                <c:pt idx="2">
                  <c:v>FY 2020</c:v>
                </c:pt>
                <c:pt idx="3">
                  <c:v>FY 2021</c:v>
                </c:pt>
                <c:pt idx="4">
                  <c:v>FY 2022</c:v>
                </c:pt>
                <c:pt idx="5">
                  <c:v>FY 2023</c:v>
                </c:pt>
              </c:strCache>
            </c:strRef>
          </c:cat>
          <c:val>
            <c:numRef>
              <c:f>Sheet1!$H$2:$H$7</c:f>
              <c:numCache>
                <c:formatCode>General</c:formatCode>
                <c:ptCount val="6"/>
                <c:pt idx="0">
                  <c:v>1.1000000000000001</c:v>
                </c:pt>
                <c:pt idx="1">
                  <c:v>8.77</c:v>
                </c:pt>
                <c:pt idx="2">
                  <c:v>21.32</c:v>
                </c:pt>
                <c:pt idx="3">
                  <c:v>41.04</c:v>
                </c:pt>
                <c:pt idx="4">
                  <c:v>84.16</c:v>
                </c:pt>
                <c:pt idx="5">
                  <c:v>139.15</c:v>
                </c:pt>
              </c:numCache>
            </c:numRef>
          </c:val>
          <c:extLst>
            <c:ext xmlns:c16="http://schemas.microsoft.com/office/drawing/2014/chart" uri="{C3380CC4-5D6E-409C-BE32-E72D297353CC}">
              <c16:uniqueId val="{00000006-0208-4683-BE7F-AE06256DC713}"/>
            </c:ext>
          </c:extLst>
        </c:ser>
        <c:dLbls>
          <c:showLegendKey val="0"/>
          <c:showVal val="0"/>
          <c:showCatName val="0"/>
          <c:showSerName val="0"/>
          <c:showPercent val="0"/>
          <c:showBubbleSize val="0"/>
        </c:dLbls>
        <c:gapWidth val="80"/>
        <c:overlap val="10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6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majorGridlines>
          <c:spPr>
            <a:ln w="9525">
              <a:solidFill>
                <a:srgbClr val="2F2F2F"/>
              </a:solidFill>
              <a:prstDash val="dot"/>
            </a:ln>
          </c:spPr>
        </c:majorGridlines>
        <c:title>
          <c:tx>
            <c:rich>
              <a:bodyPr/>
              <a:lstStyle/>
              <a:p>
                <a:pPr>
                  <a:defRPr sz="600"/>
                </a:pPr>
                <a:r>
                  <a:rPr lang="en-US" sz="600" b="0">
                    <a:solidFill>
                      <a:srgbClr val="0F2741"/>
                    </a:solidFill>
                    <a:latin typeface="Open Sans"/>
                  </a:rPr>
                  <a:t>Value in trillion Indian rupees</a:t>
                </a:r>
              </a:p>
            </c:rich>
          </c:tx>
          <c:overlay val="0"/>
        </c:title>
        <c:numFmt formatCode="#,##0" sourceLinked="0"/>
        <c:majorTickMark val="none"/>
        <c:minorTickMark val="none"/>
        <c:tickLblPos val="low"/>
        <c:spPr>
          <a:ln>
            <a:noFill/>
          </a:ln>
        </c:spPr>
        <c:txPr>
          <a:bodyPr/>
          <a:lstStyle/>
          <a:p>
            <a:pPr>
              <a:defRPr sz="600" b="0" smtId="4294967295">
                <a:solidFill>
                  <a:srgbClr val="0F2741"/>
                </a:solidFill>
                <a:latin typeface="Open Sans"/>
              </a:defRPr>
            </a:pPr>
            <a:endParaRPr lang="en-US"/>
          </a:p>
        </c:txPr>
        <c:crossAx val="67451136"/>
        <c:crosses val="autoZero"/>
        <c:crossBetween val="between"/>
      </c:valAx>
    </c:plotArea>
    <c:legend>
      <c:legendPos val="t"/>
      <c:overlay val="0"/>
      <c:txPr>
        <a:bodyPr/>
        <a:lstStyle/>
        <a:p>
          <a:pPr>
            <a:defRPr sz="600" smtId="4294967295">
              <a:solidFill>
                <a:srgbClr val="0F2741"/>
              </a:solidFill>
              <a:latin typeface="Open Sans"/>
            </a:defRPr>
          </a:pPr>
          <a:endParaRPr lang="en-US"/>
        </a:p>
      </c:txPr>
    </c:legend>
    <c:plotVisOnly val="1"/>
    <c:dispBlanksAs val="gap"/>
    <c:showDLblsOverMax val="1"/>
  </c:chart>
  <c:txPr>
    <a:bodyPr/>
    <a:lstStyle/>
    <a:p>
      <a:pPr>
        <a:defRPr sz="1800" smtId="4294967295"/>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F36-4808-985F-2099DC34FDE4}"/>
                </c:ext>
              </c:extLst>
            </c:dLbl>
            <c:dLbl>
              <c:idx val="1"/>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F36-4808-985F-2099DC34FDE4}"/>
                </c:ext>
              </c:extLst>
            </c:dLbl>
            <c:dLbl>
              <c:idx val="2"/>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F36-4808-985F-2099DC34FDE4}"/>
                </c:ext>
              </c:extLst>
            </c:dLbl>
            <c:dLbl>
              <c:idx val="3"/>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F36-4808-985F-2099DC34FDE4}"/>
                </c:ext>
              </c:extLst>
            </c:dLbl>
            <c:dLbl>
              <c:idx val="4"/>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F36-4808-985F-2099DC34FDE4}"/>
                </c:ext>
              </c:extLst>
            </c:dLbl>
            <c:dLbl>
              <c:idx val="5"/>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F36-4808-985F-2099DC34FDE4}"/>
                </c:ext>
              </c:extLst>
            </c:dLbl>
            <c:dLbl>
              <c:idx val="6"/>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F36-4808-985F-2099DC34FDE4}"/>
                </c:ext>
              </c:extLst>
            </c:dLbl>
            <c:dLbl>
              <c:idx val="7"/>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F36-4808-985F-2099DC34FDE4}"/>
                </c:ext>
              </c:extLst>
            </c:dLbl>
            <c:dLbl>
              <c:idx val="8"/>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F36-4808-985F-2099DC34FDE4}"/>
                </c:ext>
              </c:extLst>
            </c:dLbl>
            <c:dLbl>
              <c:idx val="9"/>
              <c:numFmt formatCode="#,##0.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F36-4808-985F-2099DC34FDE4}"/>
                </c:ext>
              </c:extLst>
            </c:dLbl>
            <c:spPr>
              <a:noFill/>
              <a:ln>
                <a:noFill/>
              </a:ln>
              <a:effectLst/>
            </c:spPr>
            <c:txPr>
              <a:bodyPr/>
              <a:lstStyle/>
              <a:p>
                <a:pPr>
                  <a:defRPr sz="600" b="0" smtId="4294967295">
                    <a:solidFill>
                      <a:srgbClr val="0F2741"/>
                    </a:solidFill>
                    <a:latin typeface="Open Sans"/>
                  </a:defRPr>
                </a:pPr>
                <a:endParaRPr lang="en-US"/>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Sheet1!$A$2:$A$11</c:f>
              <c:strCache>
                <c:ptCount val="10"/>
                <c:pt idx="0">
                  <c:v>China</c:v>
                </c:pt>
                <c:pt idx="1">
                  <c:v>United States</c:v>
                </c:pt>
                <c:pt idx="2">
                  <c:v>United Kingdom</c:v>
                </c:pt>
                <c:pt idx="3">
                  <c:v>Canada</c:v>
                </c:pt>
                <c:pt idx="4">
                  <c:v>India</c:v>
                </c:pt>
                <c:pt idx="5">
                  <c:v>Russia</c:v>
                </c:pt>
                <c:pt idx="6">
                  <c:v>France</c:v>
                </c:pt>
                <c:pt idx="7">
                  <c:v>South Korea</c:v>
                </c:pt>
                <c:pt idx="8">
                  <c:v>Spain</c:v>
                </c:pt>
                <c:pt idx="9">
                  <c:v>Japan</c:v>
                </c:pt>
              </c:strCache>
            </c:strRef>
          </c:cat>
          <c:val>
            <c:numRef>
              <c:f>Sheet1!$B$2:$B$11</c:f>
              <c:numCache>
                <c:formatCode>General</c:formatCode>
                <c:ptCount val="10"/>
                <c:pt idx="0">
                  <c:v>86.81</c:v>
                </c:pt>
                <c:pt idx="1">
                  <c:v>20.47</c:v>
                </c:pt>
                <c:pt idx="2">
                  <c:v>5.3</c:v>
                </c:pt>
                <c:pt idx="3">
                  <c:v>5.05</c:v>
                </c:pt>
                <c:pt idx="4">
                  <c:v>4.82</c:v>
                </c:pt>
                <c:pt idx="5">
                  <c:v>3.9</c:v>
                </c:pt>
                <c:pt idx="6">
                  <c:v>2.79</c:v>
                </c:pt>
                <c:pt idx="7">
                  <c:v>2.5299999999999998</c:v>
                </c:pt>
                <c:pt idx="8">
                  <c:v>2.5099999999999998</c:v>
                </c:pt>
                <c:pt idx="9">
                  <c:v>2.08</c:v>
                </c:pt>
              </c:numCache>
            </c:numRef>
          </c:val>
          <c:extLst>
            <c:ext xmlns:c16="http://schemas.microsoft.com/office/drawing/2014/chart" uri="{C3380CC4-5D6E-409C-BE32-E72D297353CC}">
              <c16:uniqueId val="{0000000A-AF36-4808-985F-2099DC34FDE4}"/>
            </c:ext>
          </c:extLst>
        </c:ser>
        <c:dLbls>
          <c:showLegendKey val="0"/>
          <c:showVal val="0"/>
          <c:showCatName val="0"/>
          <c:showSerName val="0"/>
          <c:showPercent val="0"/>
          <c:showBubbleSize val="0"/>
        </c:dLbls>
        <c:gapWidth val="80"/>
        <c:overlap val="-30"/>
        <c:axId val="67451136"/>
        <c:axId val="66437120"/>
      </c:barChart>
      <c:catAx>
        <c:axId val="67451136"/>
        <c:scaling>
          <c:orientation val="maxMin"/>
        </c:scaling>
        <c:delete val="0"/>
        <c:axPos val="l"/>
        <c:numFmt formatCode="General" sourceLinked="0"/>
        <c:majorTickMark val="none"/>
        <c:minorTickMark val="none"/>
        <c:tickLblPos val="low"/>
        <c:spPr>
          <a:ln w="9525">
            <a:solidFill>
              <a:srgbClr val="2F2F2F"/>
            </a:solidFill>
          </a:ln>
        </c:spPr>
        <c:txPr>
          <a:bodyPr/>
          <a:lstStyle/>
          <a:p>
            <a:pPr>
              <a:defRPr sz="6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t"/>
        <c:numFmt formatCode="#,##0" sourceLinked="0"/>
        <c:majorTickMark val="none"/>
        <c:minorTickMark val="none"/>
        <c:tickLblPos val="nextTo"/>
        <c:spPr>
          <a:ln>
            <a:noFill/>
          </a:ln>
        </c:spPr>
        <c:txPr>
          <a:bodyPr/>
          <a:lstStyle/>
          <a:p>
            <a:pPr>
              <a:defRPr sz="600" b="0" smtId="4294967295">
                <a:solidFill>
                  <a:srgbClr val="0F2741"/>
                </a:solidFill>
                <a:latin typeface="Open Sans"/>
              </a:defRPr>
            </a:pPr>
            <a:endParaRPr lang="en-US"/>
          </a:p>
        </c:txPr>
        <c:crossAx val="67451136"/>
        <c:crosses val="autoZero"/>
        <c:crossBetween val="between"/>
      </c:valAx>
    </c:plotArea>
    <c:plotVisOnly val="1"/>
    <c:dispBlanksAs val="gap"/>
    <c:showDLblsOverMax val="1"/>
  </c:chart>
  <c:txPr>
    <a:bodyPr/>
    <a:lstStyle/>
    <a:p>
      <a:pPr>
        <a:defRPr sz="1800" smtId="4294967295"/>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3"/>
            <c:invertIfNegative val="0"/>
            <c:bubble3D val="0"/>
            <c:spPr>
              <a:solidFill>
                <a:srgbClr val="000000"/>
              </a:solidFill>
            </c:spPr>
            <c:extLst>
              <c:ext xmlns:c16="http://schemas.microsoft.com/office/drawing/2014/chart" uri="{C3380CC4-5D6E-409C-BE32-E72D297353CC}">
                <c16:uniqueId val="{00000001-5360-40A4-96B7-71FA1C87C930}"/>
              </c:ext>
            </c:extLst>
          </c:dPt>
          <c:dLbls>
            <c:dLbl>
              <c:idx val="0"/>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5360-40A4-96B7-71FA1C87C930}"/>
                </c:ext>
              </c:extLst>
            </c:dLbl>
            <c:dLbl>
              <c:idx val="1"/>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5360-40A4-96B7-71FA1C87C930}"/>
                </c:ext>
              </c:extLst>
            </c:dLbl>
            <c:dLbl>
              <c:idx val="2"/>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5360-40A4-96B7-71FA1C87C930}"/>
                </c:ext>
              </c:extLst>
            </c:dLbl>
            <c:dLbl>
              <c:idx val="3"/>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5360-40A4-96B7-71FA1C87C930}"/>
                </c:ext>
              </c:extLst>
            </c:dLbl>
            <c:spPr>
              <a:noFill/>
              <a:ln>
                <a:noFill/>
              </a:ln>
              <a:effectLst/>
            </c:spPr>
            <c:txPr>
              <a:bodyPr/>
              <a:lstStyle/>
              <a:p>
                <a:pPr>
                  <a:defRPr sz="600" b="0" smtId="4294967295">
                    <a:solidFill>
                      <a:srgbClr val="0F2741"/>
                    </a:solidFill>
                    <a:latin typeface="Open Sans"/>
                  </a:defRPr>
                </a:pPr>
                <a:endParaRPr lang="en-US"/>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Sheet1!$A$2:$A$5</c:f>
              <c:strCache>
                <c:ptCount val="4"/>
                <c:pt idx="0">
                  <c:v>PhonePe</c:v>
                </c:pt>
                <c:pt idx="1">
                  <c:v>Google Pay</c:v>
                </c:pt>
                <c:pt idx="2">
                  <c:v>Paytm</c:v>
                </c:pt>
                <c:pt idx="3">
                  <c:v>Others</c:v>
                </c:pt>
              </c:strCache>
            </c:strRef>
          </c:cat>
          <c:val>
            <c:numRef>
              <c:f>Sheet1!$B$2:$B$5</c:f>
              <c:numCache>
                <c:formatCode>General</c:formatCode>
                <c:ptCount val="4"/>
                <c:pt idx="0">
                  <c:v>0.46</c:v>
                </c:pt>
                <c:pt idx="1">
                  <c:v>0.36</c:v>
                </c:pt>
                <c:pt idx="2">
                  <c:v>0.13</c:v>
                </c:pt>
                <c:pt idx="3">
                  <c:v>0.05</c:v>
                </c:pt>
              </c:numCache>
            </c:numRef>
          </c:val>
          <c:extLst>
            <c:ext xmlns:c16="http://schemas.microsoft.com/office/drawing/2014/chart" uri="{C3380CC4-5D6E-409C-BE32-E72D297353CC}">
              <c16:uniqueId val="{00000005-5360-40A4-96B7-71FA1C87C930}"/>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7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title>
          <c:tx>
            <c:rich>
              <a:bodyPr/>
              <a:lstStyle/>
              <a:p>
                <a:pPr>
                  <a:defRPr sz="600"/>
                </a:pPr>
                <a:r>
                  <a:rPr lang="en-IN" sz="600" b="0">
                    <a:solidFill>
                      <a:srgbClr val="0F2741"/>
                    </a:solidFill>
                    <a:latin typeface="Open Sans"/>
                  </a:rPr>
                  <a:t>Share of UPI usage</a:t>
                </a:r>
              </a:p>
            </c:rich>
          </c:tx>
          <c:overlay val="0"/>
        </c:title>
        <c:numFmt formatCode="#,##0%" sourceLinked="0"/>
        <c:majorTickMark val="none"/>
        <c:minorTickMark val="none"/>
        <c:tickLblPos val="low"/>
        <c:spPr>
          <a:ln>
            <a:noFill/>
          </a:ln>
        </c:spPr>
        <c:txPr>
          <a:bodyPr/>
          <a:lstStyle/>
          <a:p>
            <a:pPr>
              <a:defRPr sz="600" b="0" smtId="4294967295">
                <a:solidFill>
                  <a:srgbClr val="0F2741"/>
                </a:solidFill>
                <a:latin typeface="Open Sans"/>
              </a:defRPr>
            </a:pPr>
            <a:endParaRPr lang="en-US"/>
          </a:p>
        </c:txPr>
        <c:crossAx val="67451136"/>
        <c:crosses val="autoZero"/>
        <c:crossBetween val="between"/>
      </c:valAx>
    </c:plotArea>
    <c:plotVisOnly val="1"/>
    <c:dispBlanksAs val="gap"/>
    <c:showDLblsOverMax val="1"/>
  </c:chart>
  <c:txPr>
    <a:bodyPr/>
    <a:lstStyle/>
    <a:p>
      <a:pPr>
        <a:defRPr sz="1800" smtId="4294967295"/>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0-6B06-476B-9F67-647C9A98BD2E}"/>
                </c:ext>
              </c:extLst>
            </c:dLbl>
            <c:dLbl>
              <c:idx val="1"/>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1-6B06-476B-9F67-647C9A98BD2E}"/>
                </c:ext>
              </c:extLst>
            </c:dLbl>
            <c:dLbl>
              <c:idx val="2"/>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2-6B06-476B-9F67-647C9A98BD2E}"/>
                </c:ext>
              </c:extLst>
            </c:dLbl>
            <c:dLbl>
              <c:idx val="3"/>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3-6B06-476B-9F67-647C9A98BD2E}"/>
                </c:ext>
              </c:extLst>
            </c:dLbl>
            <c:dLbl>
              <c:idx val="4"/>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4-6B06-476B-9F67-647C9A98BD2E}"/>
                </c:ext>
              </c:extLst>
            </c:dLbl>
            <c:dLbl>
              <c:idx val="5"/>
              <c:numFmt formatCode="#,##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5-6B06-476B-9F67-647C9A98BD2E}"/>
                </c:ext>
              </c:extLst>
            </c:dLbl>
            <c:dLbl>
              <c:idx val="6"/>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6-6B06-476B-9F67-647C9A98BD2E}"/>
                </c:ext>
              </c:extLst>
            </c:dLbl>
            <c:dLbl>
              <c:idx val="7"/>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7-6B06-476B-9F67-647C9A98BD2E}"/>
                </c:ext>
              </c:extLst>
            </c:dLbl>
            <c:dLbl>
              <c:idx val="8"/>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8-6B06-476B-9F67-647C9A98BD2E}"/>
                </c:ext>
              </c:extLst>
            </c:dLbl>
            <c:dLbl>
              <c:idx val="9"/>
              <c:numFmt formatCode="#,##0.0" sourceLinked="0"/>
              <c:spPr/>
              <c:txPr>
                <a:bodyPr/>
                <a:lstStyle/>
                <a:p>
                  <a:pPr>
                    <a:defRPr sz="600" b="0" smtId="4294967295">
                      <a:solidFill>
                        <a:srgbClr val="0F2741"/>
                      </a:solidFill>
                      <a:latin typeface="Open Sans"/>
                    </a:defRPr>
                  </a:pPr>
                  <a:endParaRPr lang="en-US"/>
                </a:p>
              </c:txPr>
              <c:dLblPos val="outEnd"/>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ext xmlns:c16="http://schemas.microsoft.com/office/drawing/2014/chart" uri="{C3380CC4-5D6E-409C-BE32-E72D297353CC}">
                  <c16:uniqueId val="{00000009-6B06-476B-9F67-647C9A98BD2E}"/>
                </c:ext>
              </c:extLst>
            </c:dLbl>
            <c:spPr>
              <a:noFill/>
              <a:ln>
                <a:noFill/>
              </a:ln>
              <a:effectLst/>
            </c:spPr>
            <c:txPr>
              <a:bodyPr/>
              <a:lstStyle/>
              <a:p>
                <a:pPr>
                  <a:defRPr sz="600" b="0" smtId="4294967295">
                    <a:solidFill>
                      <a:srgbClr val="0F2741"/>
                    </a:solidFill>
                    <a:latin typeface="Open Sans"/>
                  </a:defRPr>
                </a:pPr>
                <a:endParaRPr lang="en-US"/>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0"/>
              </c:ext>
            </c:extLst>
          </c:dLbls>
          <c:cat>
            <c:strRef>
              <c:f>Sheet1!$A$2:$A$11</c:f>
              <c:strCache>
                <c:ptCount val="10"/>
                <c:pt idx="0">
                  <c:v>FY 2013</c:v>
                </c:pt>
                <c:pt idx="1">
                  <c:v>FY 2014</c:v>
                </c:pt>
                <c:pt idx="2">
                  <c:v>FY 2015</c:v>
                </c:pt>
                <c:pt idx="3">
                  <c:v>FY 2016</c:v>
                </c:pt>
                <c:pt idx="4">
                  <c:v>FY 2017</c:v>
                </c:pt>
                <c:pt idx="5">
                  <c:v>FY 2018</c:v>
                </c:pt>
                <c:pt idx="6">
                  <c:v>FY 2019</c:v>
                </c:pt>
                <c:pt idx="7">
                  <c:v>FY 2020</c:v>
                </c:pt>
                <c:pt idx="8">
                  <c:v>FY 2021</c:v>
                </c:pt>
                <c:pt idx="9">
                  <c:v>FY 2022*</c:v>
                </c:pt>
              </c:strCache>
            </c:strRef>
          </c:cat>
          <c:val>
            <c:numRef>
              <c:f>Sheet1!$B$2:$B$11</c:f>
              <c:numCache>
                <c:formatCode>General</c:formatCode>
                <c:ptCount val="10"/>
                <c:pt idx="0">
                  <c:v>32.700000000000003</c:v>
                </c:pt>
                <c:pt idx="1">
                  <c:v>107.5</c:v>
                </c:pt>
                <c:pt idx="2">
                  <c:v>255</c:v>
                </c:pt>
                <c:pt idx="3">
                  <c:v>604</c:v>
                </c:pt>
                <c:pt idx="4">
                  <c:v>1630</c:v>
                </c:pt>
                <c:pt idx="5">
                  <c:v>3026</c:v>
                </c:pt>
                <c:pt idx="6">
                  <c:v>4141.3</c:v>
                </c:pt>
                <c:pt idx="7">
                  <c:v>4242.6000000000004</c:v>
                </c:pt>
                <c:pt idx="8">
                  <c:v>3998.7</c:v>
                </c:pt>
                <c:pt idx="9">
                  <c:v>3866.6</c:v>
                </c:pt>
              </c:numCache>
            </c:numRef>
          </c:val>
          <c:extLst>
            <c:ext xmlns:c16="http://schemas.microsoft.com/office/drawing/2014/chart" uri="{C3380CC4-5D6E-409C-BE32-E72D297353CC}">
              <c16:uniqueId val="{0000000A-6B06-476B-9F67-647C9A98BD2E}"/>
            </c:ext>
          </c:extLst>
        </c:ser>
        <c:dLbls>
          <c:showLegendKey val="0"/>
          <c:showVal val="0"/>
          <c:showCatName val="0"/>
          <c:showSerName val="0"/>
          <c:showPercent val="0"/>
          <c:showBubbleSize val="0"/>
        </c:dLbls>
        <c:gapWidth val="80"/>
        <c:overlap val="-30"/>
        <c:axId val="67451136"/>
        <c:axId val="66437120"/>
      </c:barChart>
      <c:catAx>
        <c:axId val="67451136"/>
        <c:scaling>
          <c:orientation val="minMax"/>
        </c:scaling>
        <c:delete val="0"/>
        <c:axPos val="b"/>
        <c:numFmt formatCode="General" sourceLinked="0"/>
        <c:majorTickMark val="none"/>
        <c:minorTickMark val="none"/>
        <c:tickLblPos val="low"/>
        <c:spPr>
          <a:ln w="25400">
            <a:solidFill>
              <a:srgbClr val="000000"/>
            </a:solidFill>
          </a:ln>
        </c:spPr>
        <c:txPr>
          <a:bodyPr/>
          <a:lstStyle/>
          <a:p>
            <a:pPr>
              <a:defRPr sz="600" b="0" smtId="4294967295">
                <a:solidFill>
                  <a:srgbClr val="0F2741"/>
                </a:solidFill>
                <a:latin typeface="Open Sans"/>
              </a:defRPr>
            </a:pPr>
            <a:endParaRPr lang="en-US"/>
          </a:p>
        </c:txPr>
        <c:crossAx val="66437120"/>
        <c:crosses val="autoZero"/>
        <c:auto val="0"/>
        <c:lblAlgn val="ctr"/>
        <c:lblOffset val="100"/>
        <c:noMultiLvlLbl val="0"/>
      </c:catAx>
      <c:valAx>
        <c:axId val="66437120"/>
        <c:scaling>
          <c:orientation val="minMax"/>
          <c:min val="0"/>
        </c:scaling>
        <c:delete val="0"/>
        <c:axPos val="l"/>
        <c:title>
          <c:tx>
            <c:rich>
              <a:bodyPr/>
              <a:lstStyle/>
              <a:p>
                <a:pPr>
                  <a:defRPr sz="600"/>
                </a:pPr>
                <a:r>
                  <a:rPr lang="en-US" sz="600" b="0">
                    <a:solidFill>
                      <a:srgbClr val="0F2741"/>
                    </a:solidFill>
                    <a:latin typeface="Open Sans"/>
                  </a:rPr>
                  <a:t>Number of transactions in billions</a:t>
                </a:r>
              </a:p>
            </c:rich>
          </c:tx>
          <c:overlay val="0"/>
        </c:title>
        <c:numFmt formatCode="#,##0" sourceLinked="0"/>
        <c:majorTickMark val="none"/>
        <c:minorTickMark val="none"/>
        <c:tickLblPos val="low"/>
        <c:spPr>
          <a:ln>
            <a:noFill/>
          </a:ln>
        </c:spPr>
        <c:txPr>
          <a:bodyPr/>
          <a:lstStyle/>
          <a:p>
            <a:pPr>
              <a:defRPr sz="600" b="0" smtId="4294967295">
                <a:solidFill>
                  <a:srgbClr val="0F2741"/>
                </a:solidFill>
                <a:latin typeface="Open Sans"/>
              </a:defRPr>
            </a:pPr>
            <a:endParaRPr lang="en-US"/>
          </a:p>
        </c:txPr>
        <c:crossAx val="67451136"/>
        <c:crosses val="autoZero"/>
        <c:crossBetween val="between"/>
      </c:valAx>
    </c:plotArea>
    <c:plotVisOnly val="1"/>
    <c:dispBlanksAs val="gap"/>
    <c:showDLblsOverMax val="1"/>
  </c:chart>
  <c:txPr>
    <a:bodyPr/>
    <a:lstStyle/>
    <a:p>
      <a:pPr>
        <a:defRPr sz="1800" smtId="4294967295"/>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EE568F-A804-4D21-BEFF-2F82ECF0123E}" type="datetimeFigureOut">
              <a:rPr lang="en-IN" smtClean="0"/>
              <a:t>10-05-2024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ECFA51-5C30-4539-89B4-8085339E4E24}" type="slidenum">
              <a:rPr lang="en-IN" smtClean="0"/>
              <a:t>‹#›</a:t>
            </a:fld>
            <a:endParaRPr lang="en-IN"/>
          </a:p>
        </p:txBody>
      </p:sp>
    </p:spTree>
    <p:extLst>
      <p:ext uri="{BB962C8B-B14F-4D97-AF65-F5344CB8AC3E}">
        <p14:creationId xmlns:p14="http://schemas.microsoft.com/office/powerpoint/2010/main" val="3460935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9CD85-A158-AA7A-6C3D-974268DDCE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7319A5-2F23-A417-ED91-BABD7A4E32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4A45F7-6C48-66D2-47B7-A658BA94BE61}"/>
              </a:ext>
            </a:extLst>
          </p:cNvPr>
          <p:cNvSpPr>
            <a:spLocks noGrp="1"/>
          </p:cNvSpPr>
          <p:nvPr>
            <p:ph type="dt" sz="half" idx="10"/>
          </p:nvPr>
        </p:nvSpPr>
        <p:spPr/>
        <p:txBody>
          <a:bodyPr/>
          <a:lstStyle/>
          <a:p>
            <a:fld id="{5354F047-B9C5-4C67-811A-D7380785A70B}" type="datetimeFigureOut">
              <a:rPr lang="en-IN" smtClean="0"/>
              <a:t>10-05-2024</a:t>
            </a:fld>
            <a:endParaRPr lang="en-IN"/>
          </a:p>
        </p:txBody>
      </p:sp>
      <p:sp>
        <p:nvSpPr>
          <p:cNvPr id="5" name="Footer Placeholder 4">
            <a:extLst>
              <a:ext uri="{FF2B5EF4-FFF2-40B4-BE49-F238E27FC236}">
                <a16:creationId xmlns:a16="http://schemas.microsoft.com/office/drawing/2014/main" id="{458AACB5-0275-B4B4-021F-B4382B50DB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5253FA-29CB-C569-75B6-335B2EC6CDB1}"/>
              </a:ext>
            </a:extLst>
          </p:cNvPr>
          <p:cNvSpPr>
            <a:spLocks noGrp="1"/>
          </p:cNvSpPr>
          <p:nvPr>
            <p:ph type="sldNum" sz="quarter" idx="12"/>
          </p:nvPr>
        </p:nvSpPr>
        <p:spPr/>
        <p:txBody>
          <a:bodyPr/>
          <a:lstStyle/>
          <a:p>
            <a:fld id="{A02C99B6-78E8-47B5-BE71-49AACDB40C21}" type="slidenum">
              <a:rPr lang="en-IN" smtClean="0"/>
              <a:t>‹#›</a:t>
            </a:fld>
            <a:endParaRPr lang="en-IN"/>
          </a:p>
        </p:txBody>
      </p:sp>
    </p:spTree>
    <p:extLst>
      <p:ext uri="{BB962C8B-B14F-4D97-AF65-F5344CB8AC3E}">
        <p14:creationId xmlns:p14="http://schemas.microsoft.com/office/powerpoint/2010/main" val="192899793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A78731-1F04-DDF6-38B9-0B64E30794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A02352-D411-59A2-8162-32EDE5A0C6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D4C588-825E-0ABD-9CF0-C0AD9F232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54F047-B9C5-4C67-811A-D7380785A70B}" type="datetimeFigureOut">
              <a:rPr lang="en-IN" smtClean="0"/>
              <a:t>10-05-2024</a:t>
            </a:fld>
            <a:endParaRPr lang="en-IN"/>
          </a:p>
        </p:txBody>
      </p:sp>
      <p:sp>
        <p:nvSpPr>
          <p:cNvPr id="5" name="Footer Placeholder 4">
            <a:extLst>
              <a:ext uri="{FF2B5EF4-FFF2-40B4-BE49-F238E27FC236}">
                <a16:creationId xmlns:a16="http://schemas.microsoft.com/office/drawing/2014/main" id="{890226A7-FC2A-0458-3950-6DB944DF9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CA237B-215A-3031-8C7F-F7256FD1BB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2C99B6-78E8-47B5-BE71-49AACDB40C21}" type="slidenum">
              <a:rPr lang="en-IN" smtClean="0"/>
              <a:t>‹#›</a:t>
            </a:fld>
            <a:endParaRPr lang="en-IN"/>
          </a:p>
        </p:txBody>
      </p:sp>
    </p:spTree>
    <p:extLst>
      <p:ext uri="{BB962C8B-B14F-4D97-AF65-F5344CB8AC3E}">
        <p14:creationId xmlns:p14="http://schemas.microsoft.com/office/powerpoint/2010/main" val="1618564119"/>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2.xml"/><Relationship Id="rId7" Type="http://schemas.openxmlformats.org/officeDocument/2006/relationships/chart" Target="../charts/chart5.xml"/><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10"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hyperlink" Target="https://www.rawpixel.com/image/457632/free-illustration-vector-question-ask-asking" TargetMode="External"/><Relationship Id="rId2" Type="http://schemas.openxmlformats.org/officeDocument/2006/relationships/image" Target="../media/image10.1"/><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hyperlink" Target="https://technofaq.org/posts/2020/03/how-to-motivate-your-teams-with-rewards-and-recognition/" TargetMode="External"/><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hyperlink" Target="https://debeelddenkers.nl/whatsapp-de-manier-om-in-gesprek-te-gaan-met-mogelijke-klanten/" TargetMode="External"/><Relationship Id="rId2" Type="http://schemas.openxmlformats.org/officeDocument/2006/relationships/image" Target="../media/image15.jpg"/><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B408CAC-4538-4693-7781-5170E194254A}"/>
              </a:ext>
            </a:extLst>
          </p:cNvPr>
          <p:cNvSpPr/>
          <p:nvPr/>
        </p:nvSpPr>
        <p:spPr>
          <a:xfrm>
            <a:off x="2458649" y="5764248"/>
            <a:ext cx="4680000"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9990226-9275-7AE8-7FD0-FB8A7E2CFD75}"/>
              </a:ext>
            </a:extLst>
          </p:cNvPr>
          <p:cNvSpPr/>
          <p:nvPr/>
        </p:nvSpPr>
        <p:spPr>
          <a:xfrm>
            <a:off x="0" y="6477000"/>
            <a:ext cx="12192000" cy="381000"/>
          </a:xfrm>
          <a:prstGeom prst="rect">
            <a:avLst/>
          </a:prstGeom>
          <a:gradFill flip="none" rotWithShape="1">
            <a:gsLst>
              <a:gs pos="0">
                <a:srgbClr val="2F4375"/>
              </a:gs>
              <a:gs pos="52000">
                <a:schemeClr val="accent1">
                  <a:lumMod val="89000"/>
                </a:schemeClr>
              </a:gs>
              <a:gs pos="89000">
                <a:schemeClr val="accent1">
                  <a:lumMod val="76000"/>
                </a:schemeClr>
              </a:gs>
              <a:gs pos="97000">
                <a:schemeClr val="accent1">
                  <a:lumMod val="70000"/>
                </a:schemeClr>
              </a:gs>
            </a:gsLst>
            <a:lin ang="27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E03B362-D6A2-23B8-A3AD-0ECBC8A6A9DC}"/>
              </a:ext>
            </a:extLst>
          </p:cNvPr>
          <p:cNvSpPr txBox="1"/>
          <p:nvPr/>
        </p:nvSpPr>
        <p:spPr>
          <a:xfrm>
            <a:off x="250373" y="4497556"/>
            <a:ext cx="2634342" cy="1015663"/>
          </a:xfrm>
          <a:prstGeom prst="rect">
            <a:avLst/>
          </a:prstGeom>
          <a:solidFill>
            <a:srgbClr val="1F4D74"/>
          </a:solidFill>
          <a:ln>
            <a:noFill/>
          </a:ln>
          <a:effectLst/>
          <a:scene3d>
            <a:camera prst="orthographicFront">
              <a:rot lat="0" lon="0" rev="0"/>
            </a:camera>
            <a:lightRig rig="glow" dir="t">
              <a:rot lat="0" lon="0" rev="14100000"/>
            </a:lightRig>
          </a:scene3d>
          <a:sp3d prstMaterial="softEdge">
            <a:bevelT w="127000" prst="artDeco"/>
          </a:sp3d>
        </p:spPr>
        <p:style>
          <a:lnRef idx="0">
            <a:scrgbClr r="0" g="0" b="0"/>
          </a:lnRef>
          <a:fillRef idx="0">
            <a:scrgbClr r="0" g="0" b="0"/>
          </a:fillRef>
          <a:effectRef idx="0">
            <a:scrgbClr r="0" g="0" b="0"/>
          </a:effectRef>
          <a:fontRef idx="minor">
            <a:schemeClr val="lt1"/>
          </a:fontRef>
        </p:style>
        <p:txBody>
          <a:bodyPr wrap="square" rtlCol="0">
            <a:spAutoFit/>
          </a:bodyPr>
          <a:lstStyle/>
          <a:p>
            <a:r>
              <a:rPr lang="en-US" sz="3000" b="1" dirty="0">
                <a:latin typeface="Aharoni" panose="02010803020104030203" pitchFamily="2" charset="-79"/>
                <a:cs typeface="Aharoni" panose="02010803020104030203" pitchFamily="2" charset="-79"/>
              </a:rPr>
              <a:t>TEAM</a:t>
            </a:r>
            <a:r>
              <a:rPr lang="en-US" sz="3000" dirty="0">
                <a:latin typeface="Aharoni" panose="02010803020104030203" pitchFamily="2" charset="-79"/>
                <a:cs typeface="Aharoni" panose="02010803020104030203" pitchFamily="2" charset="-79"/>
              </a:rPr>
              <a:t> </a:t>
            </a:r>
          </a:p>
          <a:p>
            <a:r>
              <a:rPr lang="en-US" sz="3000" dirty="0">
                <a:solidFill>
                  <a:schemeClr val="accent1">
                    <a:lumMod val="40000"/>
                    <a:lumOff val="60000"/>
                  </a:schemeClr>
                </a:solidFill>
                <a:latin typeface="Aharoni" panose="02010803020104030203" pitchFamily="2" charset="-79"/>
                <a:cs typeface="Aharoni" panose="02010803020104030203" pitchFamily="2" charset="-79"/>
              </a:rPr>
              <a:t>HAZEL</a:t>
            </a:r>
            <a:endParaRPr lang="en-IN" sz="3000" dirty="0">
              <a:solidFill>
                <a:schemeClr val="accent1">
                  <a:lumMod val="40000"/>
                  <a:lumOff val="60000"/>
                </a:schemeClr>
              </a:solidFill>
              <a:latin typeface="Aharoni" panose="02010803020104030203" pitchFamily="2" charset="-79"/>
              <a:cs typeface="Aharoni" panose="02010803020104030203" pitchFamily="2" charset="-79"/>
            </a:endParaRPr>
          </a:p>
        </p:txBody>
      </p:sp>
      <p:sp>
        <p:nvSpPr>
          <p:cNvPr id="7" name="TextBox 6">
            <a:extLst>
              <a:ext uri="{FF2B5EF4-FFF2-40B4-BE49-F238E27FC236}">
                <a16:creationId xmlns:a16="http://schemas.microsoft.com/office/drawing/2014/main" id="{5F7F0216-8C83-4291-43DA-A971A2277A1C}"/>
              </a:ext>
            </a:extLst>
          </p:cNvPr>
          <p:cNvSpPr txBox="1"/>
          <p:nvPr/>
        </p:nvSpPr>
        <p:spPr>
          <a:xfrm>
            <a:off x="3455338" y="4494899"/>
            <a:ext cx="2444720" cy="1015663"/>
          </a:xfrm>
          <a:prstGeom prst="rect">
            <a:avLst/>
          </a:prstGeom>
          <a:solidFill>
            <a:srgbClr val="1F4D74"/>
          </a:solidFill>
          <a:ln>
            <a:noFill/>
          </a:ln>
          <a:effectLst/>
          <a:scene3d>
            <a:camera prst="orthographicFront">
              <a:rot lat="0" lon="0" rev="0"/>
            </a:camera>
            <a:lightRig rig="glow" dir="t">
              <a:rot lat="0" lon="0" rev="14100000"/>
            </a:lightRig>
          </a:scene3d>
          <a:sp3d prstMaterial="softEdge">
            <a:bevelT w="127000" prst="artDeco"/>
          </a:sp3d>
        </p:spPr>
        <p:style>
          <a:lnRef idx="0">
            <a:scrgbClr r="0" g="0" b="0"/>
          </a:lnRef>
          <a:fillRef idx="0">
            <a:scrgbClr r="0" g="0" b="0"/>
          </a:fillRef>
          <a:effectRef idx="0">
            <a:scrgbClr r="0" g="0" b="0"/>
          </a:effectRef>
          <a:fontRef idx="minor">
            <a:schemeClr val="lt1"/>
          </a:fontRef>
        </p:style>
        <p:txBody>
          <a:bodyPr wrap="square" rtlCol="0">
            <a:spAutoFit/>
          </a:bodyPr>
          <a:lstStyle/>
          <a:p>
            <a:r>
              <a:rPr lang="en-US" sz="3000" dirty="0">
                <a:latin typeface="Aharoni" panose="02010803020104030203" pitchFamily="2" charset="-79"/>
                <a:cs typeface="Aharoni" panose="02010803020104030203" pitchFamily="2" charset="-79"/>
              </a:rPr>
              <a:t>IIM</a:t>
            </a:r>
          </a:p>
          <a:p>
            <a:r>
              <a:rPr lang="en-US" sz="3000" dirty="0">
                <a:solidFill>
                  <a:schemeClr val="accent1">
                    <a:lumMod val="40000"/>
                    <a:lumOff val="60000"/>
                  </a:schemeClr>
                </a:solidFill>
                <a:latin typeface="Aharoni" panose="02010803020104030203" pitchFamily="2" charset="-79"/>
                <a:cs typeface="Aharoni" panose="02010803020104030203" pitchFamily="2" charset="-79"/>
              </a:rPr>
              <a:t>UDAIPUR</a:t>
            </a:r>
            <a:endParaRPr lang="en-IN" sz="3000" dirty="0">
              <a:solidFill>
                <a:schemeClr val="accent1">
                  <a:lumMod val="40000"/>
                  <a:lumOff val="60000"/>
                </a:schemeClr>
              </a:solidFill>
              <a:latin typeface="Aharoni" panose="02010803020104030203" pitchFamily="2" charset="-79"/>
              <a:cs typeface="Aharoni" panose="02010803020104030203" pitchFamily="2" charset="-79"/>
            </a:endParaRPr>
          </a:p>
        </p:txBody>
      </p:sp>
      <p:sp>
        <p:nvSpPr>
          <p:cNvPr id="13" name="TextBox 12">
            <a:extLst>
              <a:ext uri="{FF2B5EF4-FFF2-40B4-BE49-F238E27FC236}">
                <a16:creationId xmlns:a16="http://schemas.microsoft.com/office/drawing/2014/main" id="{B12E40F7-50CF-60B7-7A65-3DAB4EF4AB32}"/>
              </a:ext>
            </a:extLst>
          </p:cNvPr>
          <p:cNvSpPr txBox="1"/>
          <p:nvPr/>
        </p:nvSpPr>
        <p:spPr>
          <a:xfrm>
            <a:off x="11375571" y="6476999"/>
            <a:ext cx="729344" cy="369332"/>
          </a:xfrm>
          <a:prstGeom prst="rect">
            <a:avLst/>
          </a:prstGeom>
          <a:noFill/>
        </p:spPr>
        <p:txBody>
          <a:bodyPr wrap="square" rtlCol="0">
            <a:spAutoFit/>
          </a:bodyPr>
          <a:lstStyle/>
          <a:p>
            <a:r>
              <a:rPr lang="en-US" dirty="0">
                <a:solidFill>
                  <a:schemeClr val="bg1"/>
                </a:solidFill>
              </a:rPr>
              <a:t>Intro</a:t>
            </a:r>
            <a:endParaRPr lang="en-IN" dirty="0">
              <a:solidFill>
                <a:schemeClr val="bg1"/>
              </a:solidFill>
            </a:endParaRPr>
          </a:p>
        </p:txBody>
      </p:sp>
      <p:grpSp>
        <p:nvGrpSpPr>
          <p:cNvPr id="8" name="Group 7">
            <a:extLst>
              <a:ext uri="{FF2B5EF4-FFF2-40B4-BE49-F238E27FC236}">
                <a16:creationId xmlns:a16="http://schemas.microsoft.com/office/drawing/2014/main" id="{844051CF-3E3A-19DF-00D6-035CD7092AE9}"/>
              </a:ext>
            </a:extLst>
          </p:cNvPr>
          <p:cNvGrpSpPr/>
          <p:nvPr/>
        </p:nvGrpSpPr>
        <p:grpSpPr>
          <a:xfrm>
            <a:off x="9832917" y="3825165"/>
            <a:ext cx="2192754" cy="2590083"/>
            <a:chOff x="7710203" y="3909010"/>
            <a:chExt cx="2192754" cy="2590083"/>
          </a:xfrm>
        </p:grpSpPr>
        <p:pic>
          <p:nvPicPr>
            <p:cNvPr id="9" name="Picture 8" descr="A person in a suit&#10;&#10;Description automatically generated">
              <a:extLst>
                <a:ext uri="{FF2B5EF4-FFF2-40B4-BE49-F238E27FC236}">
                  <a16:creationId xmlns:a16="http://schemas.microsoft.com/office/drawing/2014/main" id="{929F3175-764E-4FE1-0365-9CDC992F0E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0203" y="3909010"/>
              <a:ext cx="2192754" cy="2192754"/>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4" name="TextBox 13">
              <a:extLst>
                <a:ext uri="{FF2B5EF4-FFF2-40B4-BE49-F238E27FC236}">
                  <a16:creationId xmlns:a16="http://schemas.microsoft.com/office/drawing/2014/main" id="{1CAC298B-5DB6-9B72-AA3E-886041F46DBF}"/>
                </a:ext>
              </a:extLst>
            </p:cNvPr>
            <p:cNvSpPr txBox="1"/>
            <p:nvPr/>
          </p:nvSpPr>
          <p:spPr>
            <a:xfrm>
              <a:off x="7710203" y="6129761"/>
              <a:ext cx="2192754" cy="369332"/>
            </a:xfrm>
            <a:prstGeom prst="rect">
              <a:avLst/>
            </a:prstGeom>
            <a:noFill/>
          </p:spPr>
          <p:txBody>
            <a:bodyPr wrap="square" rtlCol="0">
              <a:spAutoFit/>
            </a:bodyPr>
            <a:lstStyle/>
            <a:p>
              <a:pPr algn="ctr"/>
              <a:r>
                <a:rPr lang="en-US" b="1" dirty="0">
                  <a:solidFill>
                    <a:srgbClr val="1E4C74"/>
                  </a:solidFill>
                </a:rPr>
                <a:t>Deepanshu Rawat</a:t>
              </a:r>
              <a:endParaRPr lang="en-IN" b="1" dirty="0">
                <a:solidFill>
                  <a:srgbClr val="1E4C74"/>
                </a:solidFill>
              </a:endParaRPr>
            </a:p>
          </p:txBody>
        </p:sp>
      </p:grpSp>
      <p:sp>
        <p:nvSpPr>
          <p:cNvPr id="16" name="Rectangle 15">
            <a:extLst>
              <a:ext uri="{FF2B5EF4-FFF2-40B4-BE49-F238E27FC236}">
                <a16:creationId xmlns:a16="http://schemas.microsoft.com/office/drawing/2014/main" id="{66FFD227-A488-F50F-026B-BEC5C4B3D8ED}"/>
              </a:ext>
            </a:extLst>
          </p:cNvPr>
          <p:cNvSpPr/>
          <p:nvPr/>
        </p:nvSpPr>
        <p:spPr>
          <a:xfrm>
            <a:off x="0" y="3825165"/>
            <a:ext cx="5453743"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2EE9C9DD-9C4D-4ED8-121B-A9C4BD3780F6}"/>
              </a:ext>
            </a:extLst>
          </p:cNvPr>
          <p:cNvPicPr>
            <a:picLocks noChangeAspect="1"/>
          </p:cNvPicPr>
          <p:nvPr/>
        </p:nvPicPr>
        <p:blipFill>
          <a:blip r:embed="rId3"/>
          <a:stretch>
            <a:fillRect/>
          </a:stretch>
        </p:blipFill>
        <p:spPr>
          <a:xfrm>
            <a:off x="0" y="0"/>
            <a:ext cx="12192000" cy="3410023"/>
          </a:xfrm>
          <a:prstGeom prst="rect">
            <a:avLst/>
          </a:prstGeom>
        </p:spPr>
      </p:pic>
      <p:pic>
        <p:nvPicPr>
          <p:cNvPr id="11" name="Picture 10" descr="A person in a suit and tie&#10;&#10;Description automatically generated">
            <a:extLst>
              <a:ext uri="{FF2B5EF4-FFF2-40B4-BE49-F238E27FC236}">
                <a16:creationId xmlns:a16="http://schemas.microsoft.com/office/drawing/2014/main" id="{1610B3C0-4733-B7B0-0072-64D03AB7D7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5966" y="3847311"/>
            <a:ext cx="2192400" cy="2192400"/>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12" name="TextBox 11">
            <a:extLst>
              <a:ext uri="{FF2B5EF4-FFF2-40B4-BE49-F238E27FC236}">
                <a16:creationId xmlns:a16="http://schemas.microsoft.com/office/drawing/2014/main" id="{29C78C43-6A72-E0C1-7507-6F12459AF95E}"/>
              </a:ext>
            </a:extLst>
          </p:cNvPr>
          <p:cNvSpPr txBox="1"/>
          <p:nvPr/>
        </p:nvSpPr>
        <p:spPr>
          <a:xfrm>
            <a:off x="7405789" y="6045916"/>
            <a:ext cx="2192754" cy="369332"/>
          </a:xfrm>
          <a:prstGeom prst="rect">
            <a:avLst/>
          </a:prstGeom>
          <a:noFill/>
        </p:spPr>
        <p:txBody>
          <a:bodyPr wrap="square" rtlCol="0">
            <a:spAutoFit/>
          </a:bodyPr>
          <a:lstStyle/>
          <a:p>
            <a:pPr algn="ctr"/>
            <a:r>
              <a:rPr lang="en-US" b="1" dirty="0">
                <a:solidFill>
                  <a:srgbClr val="1E4C74"/>
                </a:solidFill>
              </a:rPr>
              <a:t>Tushar Singh</a:t>
            </a:r>
            <a:endParaRPr lang="en-IN" b="1" dirty="0">
              <a:solidFill>
                <a:srgbClr val="1E4C74"/>
              </a:solidFill>
            </a:endParaRPr>
          </a:p>
        </p:txBody>
      </p:sp>
    </p:spTree>
    <p:extLst>
      <p:ext uri="{BB962C8B-B14F-4D97-AF65-F5344CB8AC3E}">
        <p14:creationId xmlns:p14="http://schemas.microsoft.com/office/powerpoint/2010/main" val="1979712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990226-9275-7AE8-7FD0-FB8A7E2CFD75}"/>
              </a:ext>
            </a:extLst>
          </p:cNvPr>
          <p:cNvSpPr/>
          <p:nvPr/>
        </p:nvSpPr>
        <p:spPr>
          <a:xfrm>
            <a:off x="0" y="6477000"/>
            <a:ext cx="12192000" cy="381000"/>
          </a:xfrm>
          <a:prstGeom prst="rect">
            <a:avLst/>
          </a:prstGeom>
          <a:gradFill flip="none" rotWithShape="1">
            <a:gsLst>
              <a:gs pos="0">
                <a:srgbClr val="2F4375"/>
              </a:gs>
              <a:gs pos="52000">
                <a:schemeClr val="accent1">
                  <a:lumMod val="89000"/>
                </a:schemeClr>
              </a:gs>
              <a:gs pos="89000">
                <a:schemeClr val="accent1">
                  <a:lumMod val="76000"/>
                </a:schemeClr>
              </a:gs>
              <a:gs pos="97000">
                <a:schemeClr val="accent1">
                  <a:lumMod val="70000"/>
                </a:schemeClr>
              </a:gs>
            </a:gsLst>
            <a:lin ang="27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6FFD227-A488-F50F-026B-BEC5C4B3D8ED}"/>
              </a:ext>
            </a:extLst>
          </p:cNvPr>
          <p:cNvSpPr/>
          <p:nvPr/>
        </p:nvSpPr>
        <p:spPr>
          <a:xfrm>
            <a:off x="1" y="0"/>
            <a:ext cx="12192000"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Overview</a:t>
            </a:r>
            <a:endParaRPr lang="en-IN" b="1" dirty="0">
              <a:solidFill>
                <a:srgbClr val="002060"/>
              </a:solidFill>
            </a:endParaRPr>
          </a:p>
        </p:txBody>
      </p:sp>
      <p:sp>
        <p:nvSpPr>
          <p:cNvPr id="2" name="TextBox 1">
            <a:extLst>
              <a:ext uri="{FF2B5EF4-FFF2-40B4-BE49-F238E27FC236}">
                <a16:creationId xmlns:a16="http://schemas.microsoft.com/office/drawing/2014/main" id="{F1DC6003-BCBA-A02C-013D-94848C6B3182}"/>
              </a:ext>
            </a:extLst>
          </p:cNvPr>
          <p:cNvSpPr txBox="1"/>
          <p:nvPr/>
        </p:nvSpPr>
        <p:spPr>
          <a:xfrm>
            <a:off x="3131951" y="457200"/>
            <a:ext cx="5928098" cy="369332"/>
          </a:xfrm>
          <a:prstGeom prst="rect">
            <a:avLst/>
          </a:prstGeom>
          <a:noFill/>
        </p:spPr>
        <p:txBody>
          <a:bodyPr wrap="none" rtlCol="0">
            <a:spAutoFit/>
          </a:bodyPr>
          <a:lstStyle/>
          <a:p>
            <a:r>
              <a:rPr lang="en-US" b="0" i="1" dirty="0">
                <a:solidFill>
                  <a:srgbClr val="000C2D"/>
                </a:solidFill>
                <a:effectLst/>
                <a:highlight>
                  <a:srgbClr val="F5F7F9"/>
                </a:highlight>
                <a:latin typeface="inherit"/>
              </a:rPr>
              <a:t>Revenue is vanity, profit is sanity, but cash is king. - Alan Miltz</a:t>
            </a:r>
            <a:endParaRPr lang="en-IN" dirty="0"/>
          </a:p>
        </p:txBody>
      </p:sp>
      <p:cxnSp>
        <p:nvCxnSpPr>
          <p:cNvPr id="10" name="Straight Connector 9">
            <a:extLst>
              <a:ext uri="{FF2B5EF4-FFF2-40B4-BE49-F238E27FC236}">
                <a16:creationId xmlns:a16="http://schemas.microsoft.com/office/drawing/2014/main" id="{E14D8F1A-E204-6CBE-4104-8F3079B6BFF9}"/>
              </a:ext>
            </a:extLst>
          </p:cNvPr>
          <p:cNvCxnSpPr>
            <a:cxnSpLocks/>
            <a:stCxn id="2" idx="2"/>
            <a:endCxn id="5" idx="0"/>
          </p:cNvCxnSpPr>
          <p:nvPr/>
        </p:nvCxnSpPr>
        <p:spPr>
          <a:xfrm>
            <a:off x="6096000" y="826532"/>
            <a:ext cx="0" cy="565046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21" name="ChartObject">
            <a:extLst>
              <a:ext uri="{FF2B5EF4-FFF2-40B4-BE49-F238E27FC236}">
                <a16:creationId xmlns:a16="http://schemas.microsoft.com/office/drawing/2014/main" id="{17B02F3A-BB89-BB5B-489D-EA1A61D004C8}"/>
              </a:ext>
            </a:extLst>
          </p:cNvPr>
          <p:cNvGraphicFramePr/>
          <p:nvPr>
            <p:extLst>
              <p:ext uri="{D42A27DB-BD31-4B8C-83A1-F6EECF244321}">
                <p14:modId xmlns:p14="http://schemas.microsoft.com/office/powerpoint/2010/main" val="1150770527"/>
              </p:ext>
            </p:extLst>
          </p:nvPr>
        </p:nvGraphicFramePr>
        <p:xfrm>
          <a:off x="-68449" y="1056707"/>
          <a:ext cx="3200400" cy="140866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Object">
            <a:extLst>
              <a:ext uri="{FF2B5EF4-FFF2-40B4-BE49-F238E27FC236}">
                <a16:creationId xmlns:a16="http://schemas.microsoft.com/office/drawing/2014/main" id="{A5D279F6-20B8-E609-E8D3-67E57DA9D973}"/>
              </a:ext>
            </a:extLst>
          </p:cNvPr>
          <p:cNvGraphicFramePr/>
          <p:nvPr>
            <p:extLst>
              <p:ext uri="{D42A27DB-BD31-4B8C-83A1-F6EECF244321}">
                <p14:modId xmlns:p14="http://schemas.microsoft.com/office/powerpoint/2010/main" val="3638776849"/>
              </p:ext>
            </p:extLst>
          </p:nvPr>
        </p:nvGraphicFramePr>
        <p:xfrm>
          <a:off x="-68449" y="4799309"/>
          <a:ext cx="4158346" cy="1710879"/>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2">
            <a:extLst>
              <a:ext uri="{FF2B5EF4-FFF2-40B4-BE49-F238E27FC236}">
                <a16:creationId xmlns:a16="http://schemas.microsoft.com/office/drawing/2014/main" id="{1EA0A2F7-6E73-6597-1B9A-9FA61956EADD}"/>
              </a:ext>
            </a:extLst>
          </p:cNvPr>
          <p:cNvSpPr txBox="1"/>
          <p:nvPr/>
        </p:nvSpPr>
        <p:spPr>
          <a:xfrm>
            <a:off x="122355" y="4673967"/>
            <a:ext cx="3475631" cy="492443"/>
          </a:xfrm>
          <a:prstGeom prst="rect">
            <a:avLst/>
          </a:prstGeom>
          <a:noFill/>
        </p:spPr>
        <p:txBody>
          <a:bodyPr wrap="none" rtlCol="0">
            <a:spAutoFit/>
          </a:bodyPr>
          <a:lstStyle/>
          <a:p>
            <a:r>
              <a:rPr lang="en-US" sz="800" dirty="0">
                <a:solidFill>
                  <a:srgbClr val="0F2741"/>
                </a:solidFill>
                <a:latin typeface="+mj-lt"/>
              </a:rPr>
              <a:t>Volume of digital transactions in India in financial year 2024, by mode (in billions)</a:t>
            </a:r>
          </a:p>
          <a:p>
            <a:endParaRPr lang="en-IN" dirty="0"/>
          </a:p>
        </p:txBody>
      </p:sp>
      <p:pic>
        <p:nvPicPr>
          <p:cNvPr id="25" name="Picture 24">
            <a:extLst>
              <a:ext uri="{FF2B5EF4-FFF2-40B4-BE49-F238E27FC236}">
                <a16:creationId xmlns:a16="http://schemas.microsoft.com/office/drawing/2014/main" id="{89522EBD-335C-3DAE-6CAE-2A805A27604C}"/>
              </a:ext>
            </a:extLst>
          </p:cNvPr>
          <p:cNvPicPr>
            <a:picLocks noChangeAspect="1"/>
          </p:cNvPicPr>
          <p:nvPr/>
        </p:nvPicPr>
        <p:blipFill>
          <a:blip r:embed="rId4"/>
          <a:stretch>
            <a:fillRect/>
          </a:stretch>
        </p:blipFill>
        <p:spPr>
          <a:xfrm>
            <a:off x="6172567" y="3620980"/>
            <a:ext cx="3237333" cy="1141918"/>
          </a:xfrm>
          <a:prstGeom prst="rect">
            <a:avLst/>
          </a:prstGeom>
        </p:spPr>
      </p:pic>
      <p:graphicFrame>
        <p:nvGraphicFramePr>
          <p:cNvPr id="26" name="ChartObject">
            <a:extLst>
              <a:ext uri="{FF2B5EF4-FFF2-40B4-BE49-F238E27FC236}">
                <a16:creationId xmlns:a16="http://schemas.microsoft.com/office/drawing/2014/main" id="{45F814FA-5F05-78D0-3F3E-489063E03834}"/>
              </a:ext>
            </a:extLst>
          </p:cNvPr>
          <p:cNvGraphicFramePr/>
          <p:nvPr>
            <p:extLst>
              <p:ext uri="{D42A27DB-BD31-4B8C-83A1-F6EECF244321}">
                <p14:modId xmlns:p14="http://schemas.microsoft.com/office/powerpoint/2010/main" val="44501964"/>
              </p:ext>
            </p:extLst>
          </p:nvPr>
        </p:nvGraphicFramePr>
        <p:xfrm>
          <a:off x="5987902" y="4963098"/>
          <a:ext cx="3761916" cy="1594018"/>
        </p:xfrm>
        <a:graphic>
          <a:graphicData uri="http://schemas.openxmlformats.org/drawingml/2006/chart">
            <c:chart xmlns:c="http://schemas.openxmlformats.org/drawingml/2006/chart" xmlns:r="http://schemas.openxmlformats.org/officeDocument/2006/relationships" r:id="rId5"/>
          </a:graphicData>
        </a:graphic>
      </p:graphicFrame>
      <p:sp>
        <p:nvSpPr>
          <p:cNvPr id="27" name="TextBox 26">
            <a:extLst>
              <a:ext uri="{FF2B5EF4-FFF2-40B4-BE49-F238E27FC236}">
                <a16:creationId xmlns:a16="http://schemas.microsoft.com/office/drawing/2014/main" id="{BC7B7EE6-4C42-A121-35D2-20532E44AC03}"/>
              </a:ext>
            </a:extLst>
          </p:cNvPr>
          <p:cNvSpPr txBox="1"/>
          <p:nvPr/>
        </p:nvSpPr>
        <p:spPr>
          <a:xfrm>
            <a:off x="5911136" y="4762898"/>
            <a:ext cx="3869996" cy="692497"/>
          </a:xfrm>
          <a:prstGeom prst="rect">
            <a:avLst/>
          </a:prstGeom>
          <a:noFill/>
        </p:spPr>
        <p:txBody>
          <a:bodyPr wrap="square" rtlCol="0">
            <a:spAutoFit/>
          </a:bodyPr>
          <a:lstStyle/>
          <a:p>
            <a:pPr marL="0" algn="ctr" rtl="0" eaLnBrk="1" latinLnBrk="0" hangingPunct="1">
              <a:spcBef>
                <a:spcPts val="0"/>
              </a:spcBef>
              <a:spcAft>
                <a:spcPts val="600"/>
              </a:spcAft>
            </a:pPr>
            <a:r>
              <a:rPr lang="en-IN" sz="800" kern="1200" dirty="0">
                <a:solidFill>
                  <a:srgbClr val="0F2741"/>
                </a:solidFill>
                <a:effectLst/>
                <a:latin typeface="+mj-lt"/>
                <a:ea typeface="Arial" panose="020B0604020202020204" pitchFamily="34" charset="0"/>
                <a:cs typeface="Arial" panose="020B0604020202020204" pitchFamily="34" charset="0"/>
              </a:rPr>
              <a:t>Value of credit transfers across India from financial year 2018 to 2023, by mode of payment (in trillion Indian rupees)</a:t>
            </a:r>
          </a:p>
          <a:p>
            <a:pPr algn="ctr"/>
            <a:endParaRPr lang="en-IN" dirty="0"/>
          </a:p>
        </p:txBody>
      </p:sp>
      <p:graphicFrame>
        <p:nvGraphicFramePr>
          <p:cNvPr id="28" name="ChartObject">
            <a:extLst>
              <a:ext uri="{FF2B5EF4-FFF2-40B4-BE49-F238E27FC236}">
                <a16:creationId xmlns:a16="http://schemas.microsoft.com/office/drawing/2014/main" id="{5DCAA4E7-6D9B-3D13-48B8-BCC94E245765}"/>
              </a:ext>
            </a:extLst>
          </p:cNvPr>
          <p:cNvGraphicFramePr/>
          <p:nvPr>
            <p:extLst>
              <p:ext uri="{D42A27DB-BD31-4B8C-83A1-F6EECF244321}">
                <p14:modId xmlns:p14="http://schemas.microsoft.com/office/powerpoint/2010/main" val="1063411719"/>
              </p:ext>
            </p:extLst>
          </p:nvPr>
        </p:nvGraphicFramePr>
        <p:xfrm>
          <a:off x="-95306" y="2385958"/>
          <a:ext cx="3185705" cy="2279735"/>
        </p:xfrm>
        <a:graphic>
          <a:graphicData uri="http://schemas.openxmlformats.org/drawingml/2006/chart">
            <c:chart xmlns:c="http://schemas.openxmlformats.org/drawingml/2006/chart" xmlns:r="http://schemas.openxmlformats.org/officeDocument/2006/relationships" r:id="rId6"/>
          </a:graphicData>
        </a:graphic>
      </p:graphicFrame>
      <p:sp>
        <p:nvSpPr>
          <p:cNvPr id="29" name="Rectangle 28">
            <a:extLst>
              <a:ext uri="{FF2B5EF4-FFF2-40B4-BE49-F238E27FC236}">
                <a16:creationId xmlns:a16="http://schemas.microsoft.com/office/drawing/2014/main" id="{ABDAF36C-57DD-C6B6-B019-6698716562FF}"/>
              </a:ext>
            </a:extLst>
          </p:cNvPr>
          <p:cNvSpPr/>
          <p:nvPr/>
        </p:nvSpPr>
        <p:spPr>
          <a:xfrm>
            <a:off x="1371600" y="3179135"/>
            <a:ext cx="1509823" cy="68452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700" dirty="0">
                <a:solidFill>
                  <a:srgbClr val="0F2741"/>
                </a:solidFill>
                <a:latin typeface="+mj-lt"/>
              </a:rPr>
              <a:t>Leading countries in the world with the highest number of contactless card transactions as of 2022 (in billions)</a:t>
            </a:r>
          </a:p>
        </p:txBody>
      </p:sp>
      <p:sp>
        <p:nvSpPr>
          <p:cNvPr id="30" name="Oval 29">
            <a:extLst>
              <a:ext uri="{FF2B5EF4-FFF2-40B4-BE49-F238E27FC236}">
                <a16:creationId xmlns:a16="http://schemas.microsoft.com/office/drawing/2014/main" id="{DD3E4D0B-B757-000A-234C-DDD64E4295C8}"/>
              </a:ext>
            </a:extLst>
          </p:cNvPr>
          <p:cNvSpPr/>
          <p:nvPr/>
        </p:nvSpPr>
        <p:spPr>
          <a:xfrm>
            <a:off x="3221664" y="1056707"/>
            <a:ext cx="786787" cy="492443"/>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600" dirty="0"/>
              <a:t>E-Commerce</a:t>
            </a:r>
            <a:endParaRPr lang="en-IN" sz="600" dirty="0"/>
          </a:p>
        </p:txBody>
      </p:sp>
      <p:sp>
        <p:nvSpPr>
          <p:cNvPr id="31" name="Oval 30">
            <a:extLst>
              <a:ext uri="{FF2B5EF4-FFF2-40B4-BE49-F238E27FC236}">
                <a16:creationId xmlns:a16="http://schemas.microsoft.com/office/drawing/2014/main" id="{B24F645B-0FA4-61E7-2046-1F875112D67C}"/>
              </a:ext>
            </a:extLst>
          </p:cNvPr>
          <p:cNvSpPr/>
          <p:nvPr/>
        </p:nvSpPr>
        <p:spPr>
          <a:xfrm>
            <a:off x="4252945" y="1056706"/>
            <a:ext cx="786787" cy="492443"/>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600" dirty="0"/>
              <a:t>Digital India Cam.</a:t>
            </a:r>
            <a:endParaRPr lang="en-IN" sz="600" dirty="0"/>
          </a:p>
        </p:txBody>
      </p:sp>
      <p:sp>
        <p:nvSpPr>
          <p:cNvPr id="32" name="Oval 31">
            <a:extLst>
              <a:ext uri="{FF2B5EF4-FFF2-40B4-BE49-F238E27FC236}">
                <a16:creationId xmlns:a16="http://schemas.microsoft.com/office/drawing/2014/main" id="{995C6B80-769E-0ED3-7BC5-689928B9AC9B}"/>
              </a:ext>
            </a:extLst>
          </p:cNvPr>
          <p:cNvSpPr/>
          <p:nvPr/>
        </p:nvSpPr>
        <p:spPr>
          <a:xfrm>
            <a:off x="5203772" y="1060090"/>
            <a:ext cx="786787" cy="492443"/>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600" dirty="0"/>
              <a:t>Covid 19</a:t>
            </a:r>
            <a:endParaRPr lang="en-IN" sz="600" dirty="0"/>
          </a:p>
        </p:txBody>
      </p:sp>
      <p:sp>
        <p:nvSpPr>
          <p:cNvPr id="33" name="Rectangle 32">
            <a:extLst>
              <a:ext uri="{FF2B5EF4-FFF2-40B4-BE49-F238E27FC236}">
                <a16:creationId xmlns:a16="http://schemas.microsoft.com/office/drawing/2014/main" id="{5F111B40-6B03-A0CB-6F63-752165906DC1}"/>
              </a:ext>
            </a:extLst>
          </p:cNvPr>
          <p:cNvSpPr/>
          <p:nvPr/>
        </p:nvSpPr>
        <p:spPr>
          <a:xfrm>
            <a:off x="3221664" y="1761041"/>
            <a:ext cx="786780" cy="386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t>Food Delivery</a:t>
            </a:r>
            <a:endParaRPr lang="en-IN" sz="600" dirty="0"/>
          </a:p>
        </p:txBody>
      </p:sp>
      <p:sp>
        <p:nvSpPr>
          <p:cNvPr id="34" name="Rectangle 33">
            <a:extLst>
              <a:ext uri="{FF2B5EF4-FFF2-40B4-BE49-F238E27FC236}">
                <a16:creationId xmlns:a16="http://schemas.microsoft.com/office/drawing/2014/main" id="{B960347B-22A8-00DE-A5E7-C2773EBEC9A8}"/>
              </a:ext>
            </a:extLst>
          </p:cNvPr>
          <p:cNvSpPr/>
          <p:nvPr/>
        </p:nvSpPr>
        <p:spPr>
          <a:xfrm>
            <a:off x="4189242" y="1768031"/>
            <a:ext cx="786780" cy="386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t>E-Commerce</a:t>
            </a:r>
            <a:endParaRPr lang="en-IN" sz="600" dirty="0"/>
          </a:p>
        </p:txBody>
      </p:sp>
      <p:sp>
        <p:nvSpPr>
          <p:cNvPr id="35" name="Rectangle 34">
            <a:extLst>
              <a:ext uri="{FF2B5EF4-FFF2-40B4-BE49-F238E27FC236}">
                <a16:creationId xmlns:a16="http://schemas.microsoft.com/office/drawing/2014/main" id="{5CDC534D-1A51-B2E2-5DBE-1F68818C12A8}"/>
              </a:ext>
            </a:extLst>
          </p:cNvPr>
          <p:cNvSpPr/>
          <p:nvPr/>
        </p:nvSpPr>
        <p:spPr>
          <a:xfrm>
            <a:off x="5145415" y="1761041"/>
            <a:ext cx="786780" cy="386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t>Travel/ Mobility</a:t>
            </a:r>
            <a:endParaRPr lang="en-IN" sz="600" dirty="0"/>
          </a:p>
        </p:txBody>
      </p:sp>
      <p:sp>
        <p:nvSpPr>
          <p:cNvPr id="36" name="Rectangle 35">
            <a:extLst>
              <a:ext uri="{FF2B5EF4-FFF2-40B4-BE49-F238E27FC236}">
                <a16:creationId xmlns:a16="http://schemas.microsoft.com/office/drawing/2014/main" id="{79E6127C-D393-E294-5B28-6F00C43DBA9C}"/>
              </a:ext>
            </a:extLst>
          </p:cNvPr>
          <p:cNvSpPr/>
          <p:nvPr/>
        </p:nvSpPr>
        <p:spPr>
          <a:xfrm>
            <a:off x="4196160" y="2365533"/>
            <a:ext cx="786780" cy="386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t>Retail</a:t>
            </a:r>
            <a:endParaRPr lang="en-IN" sz="600" dirty="0"/>
          </a:p>
        </p:txBody>
      </p:sp>
      <p:sp>
        <p:nvSpPr>
          <p:cNvPr id="37" name="Rectangle 36">
            <a:extLst>
              <a:ext uri="{FF2B5EF4-FFF2-40B4-BE49-F238E27FC236}">
                <a16:creationId xmlns:a16="http://schemas.microsoft.com/office/drawing/2014/main" id="{D3FA652B-F7CB-27BE-3D58-66946C829F70}"/>
              </a:ext>
            </a:extLst>
          </p:cNvPr>
          <p:cNvSpPr/>
          <p:nvPr/>
        </p:nvSpPr>
        <p:spPr>
          <a:xfrm>
            <a:off x="3221664" y="2380318"/>
            <a:ext cx="786780" cy="386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t>Healthcare</a:t>
            </a:r>
            <a:endParaRPr lang="en-IN" sz="600" dirty="0"/>
          </a:p>
        </p:txBody>
      </p:sp>
      <p:sp>
        <p:nvSpPr>
          <p:cNvPr id="38" name="Rectangle 37">
            <a:extLst>
              <a:ext uri="{FF2B5EF4-FFF2-40B4-BE49-F238E27FC236}">
                <a16:creationId xmlns:a16="http://schemas.microsoft.com/office/drawing/2014/main" id="{A32242E1-247B-DE3C-21F0-FEF5BF45786B}"/>
              </a:ext>
            </a:extLst>
          </p:cNvPr>
          <p:cNvSpPr/>
          <p:nvPr/>
        </p:nvSpPr>
        <p:spPr>
          <a:xfrm>
            <a:off x="5145415" y="2365089"/>
            <a:ext cx="786780" cy="3867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t>Education</a:t>
            </a:r>
            <a:endParaRPr lang="en-IN" sz="600" dirty="0"/>
          </a:p>
        </p:txBody>
      </p:sp>
      <p:graphicFrame>
        <p:nvGraphicFramePr>
          <p:cNvPr id="39" name="ChartObject">
            <a:extLst>
              <a:ext uri="{FF2B5EF4-FFF2-40B4-BE49-F238E27FC236}">
                <a16:creationId xmlns:a16="http://schemas.microsoft.com/office/drawing/2014/main" id="{BD897EF6-EB29-198F-FC50-B699BD0B8E13}"/>
              </a:ext>
            </a:extLst>
          </p:cNvPr>
          <p:cNvGraphicFramePr/>
          <p:nvPr>
            <p:extLst>
              <p:ext uri="{D42A27DB-BD31-4B8C-83A1-F6EECF244321}">
                <p14:modId xmlns:p14="http://schemas.microsoft.com/office/powerpoint/2010/main" val="527778726"/>
              </p:ext>
            </p:extLst>
          </p:nvPr>
        </p:nvGraphicFramePr>
        <p:xfrm>
          <a:off x="2244701" y="5212334"/>
          <a:ext cx="3687494" cy="132064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0" name="ChartObject">
            <a:extLst>
              <a:ext uri="{FF2B5EF4-FFF2-40B4-BE49-F238E27FC236}">
                <a16:creationId xmlns:a16="http://schemas.microsoft.com/office/drawing/2014/main" id="{CAE9FDF1-2A41-CA7D-537D-9A3AE0885047}"/>
              </a:ext>
            </a:extLst>
          </p:cNvPr>
          <p:cNvGraphicFramePr/>
          <p:nvPr>
            <p:extLst>
              <p:ext uri="{D42A27DB-BD31-4B8C-83A1-F6EECF244321}">
                <p14:modId xmlns:p14="http://schemas.microsoft.com/office/powerpoint/2010/main" val="1602972495"/>
              </p:ext>
            </p:extLst>
          </p:nvPr>
        </p:nvGraphicFramePr>
        <p:xfrm>
          <a:off x="2986863" y="2822012"/>
          <a:ext cx="3200398" cy="2009321"/>
        </p:xfrm>
        <a:graphic>
          <a:graphicData uri="http://schemas.openxmlformats.org/drawingml/2006/chart">
            <c:chart xmlns:c="http://schemas.openxmlformats.org/drawingml/2006/chart" xmlns:r="http://schemas.openxmlformats.org/officeDocument/2006/relationships" r:id="rId8"/>
          </a:graphicData>
        </a:graphic>
      </p:graphicFrame>
      <p:sp>
        <p:nvSpPr>
          <p:cNvPr id="41" name="TextBox 40">
            <a:extLst>
              <a:ext uri="{FF2B5EF4-FFF2-40B4-BE49-F238E27FC236}">
                <a16:creationId xmlns:a16="http://schemas.microsoft.com/office/drawing/2014/main" id="{2EEC5274-C357-1DD5-6DA4-0DDAE3339E42}"/>
              </a:ext>
            </a:extLst>
          </p:cNvPr>
          <p:cNvSpPr txBox="1"/>
          <p:nvPr/>
        </p:nvSpPr>
        <p:spPr>
          <a:xfrm>
            <a:off x="6148722" y="822308"/>
            <a:ext cx="5928095" cy="869469"/>
          </a:xfrm>
          <a:prstGeom prst="rect">
            <a:avLst/>
          </a:prstGeom>
          <a:noFill/>
        </p:spPr>
        <p:txBody>
          <a:bodyPr wrap="square">
            <a:spAutoFit/>
          </a:bodyPr>
          <a:lstStyle/>
          <a:p>
            <a:r>
              <a:rPr lang="en-US" sz="1050" b="1" dirty="0"/>
              <a:t>PROBLEM STATEMENT</a:t>
            </a:r>
          </a:p>
          <a:p>
            <a:r>
              <a:rPr lang="en-US" sz="1000" dirty="0"/>
              <a:t>Despite its massive user base and initial promise, WhatsApp Payments has struggled to gain significant traction in India. As a Product Manager for WhatsApp Payments, we must analyze the potential reasons for this limited success and propose strategic changes that could have propelled WhatsApp Payments towards greater adoption. </a:t>
            </a:r>
            <a:endParaRPr lang="en-IN" sz="1000" dirty="0"/>
          </a:p>
        </p:txBody>
      </p:sp>
      <p:pic>
        <p:nvPicPr>
          <p:cNvPr id="42" name="Picture 41">
            <a:extLst>
              <a:ext uri="{FF2B5EF4-FFF2-40B4-BE49-F238E27FC236}">
                <a16:creationId xmlns:a16="http://schemas.microsoft.com/office/drawing/2014/main" id="{C25CF870-09C1-D547-C073-C04E1D27D218}"/>
              </a:ext>
            </a:extLst>
          </p:cNvPr>
          <p:cNvPicPr>
            <a:picLocks noChangeAspect="1"/>
          </p:cNvPicPr>
          <p:nvPr/>
        </p:nvPicPr>
        <p:blipFill>
          <a:blip r:embed="rId9"/>
          <a:stretch>
            <a:fillRect/>
          </a:stretch>
        </p:blipFill>
        <p:spPr>
          <a:xfrm>
            <a:off x="6094669" y="1828001"/>
            <a:ext cx="3315227" cy="1721557"/>
          </a:xfrm>
          <a:prstGeom prst="rect">
            <a:avLst/>
          </a:prstGeom>
        </p:spPr>
      </p:pic>
      <p:pic>
        <p:nvPicPr>
          <p:cNvPr id="43" name="Picture 42">
            <a:extLst>
              <a:ext uri="{FF2B5EF4-FFF2-40B4-BE49-F238E27FC236}">
                <a16:creationId xmlns:a16="http://schemas.microsoft.com/office/drawing/2014/main" id="{4A86B7C3-FCC6-6B2E-2617-931073D04A21}"/>
              </a:ext>
            </a:extLst>
          </p:cNvPr>
          <p:cNvPicPr>
            <a:picLocks noChangeAspect="1"/>
          </p:cNvPicPr>
          <p:nvPr/>
        </p:nvPicPr>
        <p:blipFill>
          <a:blip r:embed="rId10"/>
          <a:stretch>
            <a:fillRect/>
          </a:stretch>
        </p:blipFill>
        <p:spPr>
          <a:xfrm>
            <a:off x="9473611" y="1691590"/>
            <a:ext cx="2718389" cy="4709209"/>
          </a:xfrm>
          <a:prstGeom prst="rect">
            <a:avLst/>
          </a:prstGeom>
        </p:spPr>
      </p:pic>
      <p:sp>
        <p:nvSpPr>
          <p:cNvPr id="44" name="TextBox 43">
            <a:extLst>
              <a:ext uri="{FF2B5EF4-FFF2-40B4-BE49-F238E27FC236}">
                <a16:creationId xmlns:a16="http://schemas.microsoft.com/office/drawing/2014/main" id="{24F7A699-8D48-A6F7-F8CE-14F543F2F0D5}"/>
              </a:ext>
            </a:extLst>
          </p:cNvPr>
          <p:cNvSpPr txBox="1"/>
          <p:nvPr/>
        </p:nvSpPr>
        <p:spPr>
          <a:xfrm>
            <a:off x="-18189" y="826532"/>
            <a:ext cx="1460656" cy="246221"/>
          </a:xfrm>
          <a:prstGeom prst="rect">
            <a:avLst/>
          </a:prstGeom>
          <a:noFill/>
        </p:spPr>
        <p:txBody>
          <a:bodyPr wrap="none" rtlCol="0">
            <a:spAutoFit/>
          </a:bodyPr>
          <a:lstStyle/>
          <a:p>
            <a:r>
              <a:rPr lang="en-US" sz="1000" b="1" dirty="0"/>
              <a:t>INDUSTRY OVERVIEW</a:t>
            </a:r>
            <a:endParaRPr lang="en-IN" sz="1000" b="1" dirty="0"/>
          </a:p>
        </p:txBody>
      </p:sp>
    </p:spTree>
    <p:extLst>
      <p:ext uri="{BB962C8B-B14F-4D97-AF65-F5344CB8AC3E}">
        <p14:creationId xmlns:p14="http://schemas.microsoft.com/office/powerpoint/2010/main" val="177753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990226-9275-7AE8-7FD0-FB8A7E2CFD75}"/>
              </a:ext>
            </a:extLst>
          </p:cNvPr>
          <p:cNvSpPr/>
          <p:nvPr/>
        </p:nvSpPr>
        <p:spPr>
          <a:xfrm>
            <a:off x="0" y="6477000"/>
            <a:ext cx="12192000" cy="381000"/>
          </a:xfrm>
          <a:prstGeom prst="rect">
            <a:avLst/>
          </a:prstGeom>
          <a:gradFill flip="none" rotWithShape="1">
            <a:gsLst>
              <a:gs pos="0">
                <a:srgbClr val="2F4375"/>
              </a:gs>
              <a:gs pos="52000">
                <a:schemeClr val="accent1">
                  <a:lumMod val="89000"/>
                </a:schemeClr>
              </a:gs>
              <a:gs pos="89000">
                <a:schemeClr val="accent1">
                  <a:lumMod val="76000"/>
                </a:schemeClr>
              </a:gs>
              <a:gs pos="97000">
                <a:schemeClr val="accent1">
                  <a:lumMod val="70000"/>
                </a:schemeClr>
              </a:gs>
            </a:gsLst>
            <a:lin ang="27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6FFD227-A488-F50F-026B-BEC5C4B3D8ED}"/>
              </a:ext>
            </a:extLst>
          </p:cNvPr>
          <p:cNvSpPr/>
          <p:nvPr/>
        </p:nvSpPr>
        <p:spPr>
          <a:xfrm>
            <a:off x="1" y="0"/>
            <a:ext cx="12192000"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Issues VS Solutions</a:t>
            </a:r>
            <a:endParaRPr lang="en-IN" b="1" dirty="0">
              <a:solidFill>
                <a:srgbClr val="002060"/>
              </a:solidFill>
            </a:endParaRPr>
          </a:p>
        </p:txBody>
      </p:sp>
      <p:cxnSp>
        <p:nvCxnSpPr>
          <p:cNvPr id="3" name="Straight Connector 2">
            <a:extLst>
              <a:ext uri="{FF2B5EF4-FFF2-40B4-BE49-F238E27FC236}">
                <a16:creationId xmlns:a16="http://schemas.microsoft.com/office/drawing/2014/main" id="{1C0E4CBE-7288-F495-6C45-05683F500639}"/>
              </a:ext>
            </a:extLst>
          </p:cNvPr>
          <p:cNvCxnSpPr>
            <a:cxnSpLocks/>
          </p:cNvCxnSpPr>
          <p:nvPr/>
        </p:nvCxnSpPr>
        <p:spPr>
          <a:xfrm flipH="1">
            <a:off x="4075814" y="381000"/>
            <a:ext cx="1" cy="609600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33774292-14CE-EDE8-8E02-AAA4A8A0E5F4}"/>
              </a:ext>
            </a:extLst>
          </p:cNvPr>
          <p:cNvSpPr txBox="1"/>
          <p:nvPr/>
        </p:nvSpPr>
        <p:spPr>
          <a:xfrm>
            <a:off x="744279" y="701748"/>
            <a:ext cx="2048318" cy="369332"/>
          </a:xfrm>
          <a:prstGeom prst="rect">
            <a:avLst/>
          </a:prstGeom>
          <a:noFill/>
        </p:spPr>
        <p:txBody>
          <a:bodyPr wrap="none" rtlCol="0">
            <a:spAutoFit/>
          </a:bodyPr>
          <a:lstStyle/>
          <a:p>
            <a:r>
              <a:rPr lang="en-US" b="1" dirty="0"/>
              <a:t>Concerns with UX</a:t>
            </a:r>
            <a:endParaRPr lang="en-IN" b="1" dirty="0"/>
          </a:p>
        </p:txBody>
      </p:sp>
      <p:sp>
        <p:nvSpPr>
          <p:cNvPr id="7" name="TextBox 6">
            <a:extLst>
              <a:ext uri="{FF2B5EF4-FFF2-40B4-BE49-F238E27FC236}">
                <a16:creationId xmlns:a16="http://schemas.microsoft.com/office/drawing/2014/main" id="{17BA84E1-AA89-9FC8-7AE4-BFEE623B2EC2}"/>
              </a:ext>
            </a:extLst>
          </p:cNvPr>
          <p:cNvSpPr txBox="1"/>
          <p:nvPr/>
        </p:nvSpPr>
        <p:spPr>
          <a:xfrm>
            <a:off x="244549" y="1488557"/>
            <a:ext cx="3753292" cy="4247317"/>
          </a:xfrm>
          <a:prstGeom prst="rect">
            <a:avLst/>
          </a:prstGeom>
          <a:noFill/>
        </p:spPr>
        <p:txBody>
          <a:bodyPr wrap="square" rtlCol="0">
            <a:spAutoFit/>
          </a:bodyPr>
          <a:lstStyle/>
          <a:p>
            <a:r>
              <a:rPr lang="en-US" dirty="0"/>
              <a:t>When you open your WhatsApp, you don’t see any payments option available.</a:t>
            </a:r>
          </a:p>
          <a:p>
            <a:endParaRPr lang="en-IN" dirty="0"/>
          </a:p>
          <a:p>
            <a:r>
              <a:rPr lang="en-IN" dirty="0"/>
              <a:t>This leading into of many consumer not being aware of this feature.</a:t>
            </a:r>
          </a:p>
          <a:p>
            <a:endParaRPr lang="en-IN" dirty="0"/>
          </a:p>
          <a:p>
            <a:r>
              <a:rPr lang="en-IN" dirty="0"/>
              <a:t>You can pay the merchant through UPI ID or UPI Number, but there is no scanning option available.</a:t>
            </a:r>
          </a:p>
          <a:p>
            <a:endParaRPr lang="en-IN" dirty="0"/>
          </a:p>
          <a:p>
            <a:r>
              <a:rPr lang="en-IN" dirty="0"/>
              <a:t>Checking your payment history and settings related to payments are difficult to track due to its UI concerns. </a:t>
            </a:r>
            <a:endParaRPr lang="en-US" dirty="0"/>
          </a:p>
        </p:txBody>
      </p:sp>
      <p:pic>
        <p:nvPicPr>
          <p:cNvPr id="9" name="Picture 8" descr="A screenshot of a phone&#10;&#10;Description automatically generated">
            <a:extLst>
              <a:ext uri="{FF2B5EF4-FFF2-40B4-BE49-F238E27FC236}">
                <a16:creationId xmlns:a16="http://schemas.microsoft.com/office/drawing/2014/main" id="{0C231CC2-05B1-9CBE-DA6C-AE78B902B4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0261" y="945118"/>
            <a:ext cx="2341841" cy="5334194"/>
          </a:xfrm>
          <a:prstGeom prst="rect">
            <a:avLst/>
          </a:prstGeom>
        </p:spPr>
      </p:pic>
      <p:pic>
        <p:nvPicPr>
          <p:cNvPr id="12" name="Graphic 11" descr="Qr Code outline">
            <a:extLst>
              <a:ext uri="{FF2B5EF4-FFF2-40B4-BE49-F238E27FC236}">
                <a16:creationId xmlns:a16="http://schemas.microsoft.com/office/drawing/2014/main" id="{486E8AB1-E56F-BFEF-3F0B-C86D525686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33144" y="1246173"/>
            <a:ext cx="326066" cy="326066"/>
          </a:xfrm>
          <a:prstGeom prst="rect">
            <a:avLst/>
          </a:prstGeom>
        </p:spPr>
      </p:pic>
      <p:cxnSp>
        <p:nvCxnSpPr>
          <p:cNvPr id="17" name="Connector: Curved 16">
            <a:extLst>
              <a:ext uri="{FF2B5EF4-FFF2-40B4-BE49-F238E27FC236}">
                <a16:creationId xmlns:a16="http://schemas.microsoft.com/office/drawing/2014/main" id="{76EB8C37-FC40-5BF0-F741-3AE006A7862D}"/>
              </a:ext>
            </a:extLst>
          </p:cNvPr>
          <p:cNvCxnSpPr/>
          <p:nvPr/>
        </p:nvCxnSpPr>
        <p:spPr>
          <a:xfrm flipV="1">
            <a:off x="8396177" y="886414"/>
            <a:ext cx="2108790" cy="602143"/>
          </a:xfrm>
          <a:prstGeom prst="curvedConnector3">
            <a:avLst>
              <a:gd name="adj1" fmla="val -647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Rectangle 18">
            <a:extLst>
              <a:ext uri="{FF2B5EF4-FFF2-40B4-BE49-F238E27FC236}">
                <a16:creationId xmlns:a16="http://schemas.microsoft.com/office/drawing/2014/main" id="{1C09256E-462B-1DC1-D242-358670EADA0C}"/>
              </a:ext>
            </a:extLst>
          </p:cNvPr>
          <p:cNvSpPr/>
          <p:nvPr/>
        </p:nvSpPr>
        <p:spPr>
          <a:xfrm>
            <a:off x="10017641" y="598360"/>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Scanning Option</a:t>
            </a:r>
            <a:endParaRPr lang="en-IN" dirty="0"/>
          </a:p>
        </p:txBody>
      </p:sp>
      <p:sp>
        <p:nvSpPr>
          <p:cNvPr id="20" name="Rectangle 19">
            <a:extLst>
              <a:ext uri="{FF2B5EF4-FFF2-40B4-BE49-F238E27FC236}">
                <a16:creationId xmlns:a16="http://schemas.microsoft.com/office/drawing/2014/main" id="{481F2D60-53FC-5B3C-C252-72757A7E5FFA}"/>
              </a:ext>
            </a:extLst>
          </p:cNvPr>
          <p:cNvSpPr/>
          <p:nvPr/>
        </p:nvSpPr>
        <p:spPr>
          <a:xfrm>
            <a:off x="9112102" y="945118"/>
            <a:ext cx="326066" cy="49677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4" name="Action Button: Go Back or Previous 23">
            <a:hlinkClick r:id="" action="ppaction://hlinkshowjump?jump=previousslide" highlightClick="1"/>
            <a:extLst>
              <a:ext uri="{FF2B5EF4-FFF2-40B4-BE49-F238E27FC236}">
                <a16:creationId xmlns:a16="http://schemas.microsoft.com/office/drawing/2014/main" id="{539B57F0-D764-5ACE-DB6B-A8F4AD265193}"/>
              </a:ext>
            </a:extLst>
          </p:cNvPr>
          <p:cNvSpPr/>
          <p:nvPr/>
        </p:nvSpPr>
        <p:spPr>
          <a:xfrm>
            <a:off x="8218967" y="5509044"/>
            <a:ext cx="326066" cy="320156"/>
          </a:xfrm>
          <a:prstGeom prst="actionButtonBackPreviou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46" name="Straight Arrow Connector 45">
            <a:extLst>
              <a:ext uri="{FF2B5EF4-FFF2-40B4-BE49-F238E27FC236}">
                <a16:creationId xmlns:a16="http://schemas.microsoft.com/office/drawing/2014/main" id="{CD7F214A-AC36-744F-FF08-F968ED9600A5}"/>
              </a:ext>
            </a:extLst>
          </p:cNvPr>
          <p:cNvCxnSpPr>
            <a:stCxn id="24" idx="2"/>
          </p:cNvCxnSpPr>
          <p:nvPr/>
        </p:nvCxnSpPr>
        <p:spPr>
          <a:xfrm flipH="1" flipV="1">
            <a:off x="6177516" y="3612215"/>
            <a:ext cx="2041451" cy="20569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DEE621BA-F75C-D513-23F3-47409BB8026B}"/>
              </a:ext>
            </a:extLst>
          </p:cNvPr>
          <p:cNvSpPr/>
          <p:nvPr/>
        </p:nvSpPr>
        <p:spPr>
          <a:xfrm>
            <a:off x="4290669" y="2804337"/>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Separate Option For Payment</a:t>
            </a:r>
            <a:endParaRPr lang="en-IN" dirty="0"/>
          </a:p>
        </p:txBody>
      </p:sp>
      <p:cxnSp>
        <p:nvCxnSpPr>
          <p:cNvPr id="49" name="Straight Arrow Connector 48">
            <a:extLst>
              <a:ext uri="{FF2B5EF4-FFF2-40B4-BE49-F238E27FC236}">
                <a16:creationId xmlns:a16="http://schemas.microsoft.com/office/drawing/2014/main" id="{8D90A5B0-A2E8-27AB-E0B7-FC20EAFF5033}"/>
              </a:ext>
            </a:extLst>
          </p:cNvPr>
          <p:cNvCxnSpPr>
            <a:cxnSpLocks/>
            <a:stCxn id="20" idx="3"/>
          </p:cNvCxnSpPr>
          <p:nvPr/>
        </p:nvCxnSpPr>
        <p:spPr>
          <a:xfrm>
            <a:off x="9438168" y="3429000"/>
            <a:ext cx="715925" cy="4267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A0EDFA9B-0DFB-B1C8-645E-1FA7767A0898}"/>
              </a:ext>
            </a:extLst>
          </p:cNvPr>
          <p:cNvSpPr/>
          <p:nvPr/>
        </p:nvSpPr>
        <p:spPr>
          <a:xfrm>
            <a:off x="10017641" y="3902456"/>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A separate tab for Payments</a:t>
            </a:r>
            <a:endParaRPr lang="en-IN" dirty="0"/>
          </a:p>
        </p:txBody>
      </p:sp>
      <p:sp>
        <p:nvSpPr>
          <p:cNvPr id="2" name="Rectangle 1">
            <a:extLst>
              <a:ext uri="{FF2B5EF4-FFF2-40B4-BE49-F238E27FC236}">
                <a16:creationId xmlns:a16="http://schemas.microsoft.com/office/drawing/2014/main" id="{0347110A-3D08-3E46-2696-23D0A5D75AB3}"/>
              </a:ext>
            </a:extLst>
          </p:cNvPr>
          <p:cNvSpPr/>
          <p:nvPr/>
        </p:nvSpPr>
        <p:spPr>
          <a:xfrm>
            <a:off x="10017641" y="2203251"/>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Launch Wallet</a:t>
            </a:r>
            <a:endParaRPr lang="en-IN" dirty="0"/>
          </a:p>
        </p:txBody>
      </p:sp>
      <p:cxnSp>
        <p:nvCxnSpPr>
          <p:cNvPr id="4" name="Straight Arrow Connector 3">
            <a:extLst>
              <a:ext uri="{FF2B5EF4-FFF2-40B4-BE49-F238E27FC236}">
                <a16:creationId xmlns:a16="http://schemas.microsoft.com/office/drawing/2014/main" id="{6DCD4F31-3992-2D58-957D-4101F84BBC05}"/>
              </a:ext>
            </a:extLst>
          </p:cNvPr>
          <p:cNvCxnSpPr>
            <a:cxnSpLocks/>
          </p:cNvCxnSpPr>
          <p:nvPr/>
        </p:nvCxnSpPr>
        <p:spPr>
          <a:xfrm flipV="1">
            <a:off x="9450572" y="2850017"/>
            <a:ext cx="880731" cy="5694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3D6AA0A5-C717-4AF1-5E7A-98D69DED70E6}"/>
              </a:ext>
            </a:extLst>
          </p:cNvPr>
          <p:cNvSpPr/>
          <p:nvPr/>
        </p:nvSpPr>
        <p:spPr>
          <a:xfrm>
            <a:off x="4285321" y="4640668"/>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Split Payments between group.</a:t>
            </a:r>
            <a:endParaRPr lang="en-IN" dirty="0"/>
          </a:p>
        </p:txBody>
      </p:sp>
      <p:sp>
        <p:nvSpPr>
          <p:cNvPr id="14" name="Rectangle 13">
            <a:extLst>
              <a:ext uri="{FF2B5EF4-FFF2-40B4-BE49-F238E27FC236}">
                <a16:creationId xmlns:a16="http://schemas.microsoft.com/office/drawing/2014/main" id="{F1EADD48-940E-8A28-F1F3-7066D593A6A8}"/>
              </a:ext>
            </a:extLst>
          </p:cNvPr>
          <p:cNvSpPr/>
          <p:nvPr/>
        </p:nvSpPr>
        <p:spPr>
          <a:xfrm>
            <a:off x="4285321" y="1071079"/>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Expense Tracking </a:t>
            </a:r>
            <a:endParaRPr lang="en-IN" dirty="0"/>
          </a:p>
        </p:txBody>
      </p:sp>
      <p:sp>
        <p:nvSpPr>
          <p:cNvPr id="15" name="Rectangle 14">
            <a:extLst>
              <a:ext uri="{FF2B5EF4-FFF2-40B4-BE49-F238E27FC236}">
                <a16:creationId xmlns:a16="http://schemas.microsoft.com/office/drawing/2014/main" id="{B8141BF9-2B61-D8C8-5C39-08B82E35AA88}"/>
              </a:ext>
            </a:extLst>
          </p:cNvPr>
          <p:cNvSpPr/>
          <p:nvPr/>
        </p:nvSpPr>
        <p:spPr>
          <a:xfrm>
            <a:off x="10005237" y="5389116"/>
            <a:ext cx="2108790" cy="615165"/>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Integration With CRM</a:t>
            </a:r>
            <a:endParaRPr lang="en-IN" dirty="0"/>
          </a:p>
        </p:txBody>
      </p:sp>
    </p:spTree>
    <p:extLst>
      <p:ext uri="{BB962C8B-B14F-4D97-AF65-F5344CB8AC3E}">
        <p14:creationId xmlns:p14="http://schemas.microsoft.com/office/powerpoint/2010/main" val="2834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oup of people holding signs&#10;&#10;Description automatically generated">
            <a:extLst>
              <a:ext uri="{FF2B5EF4-FFF2-40B4-BE49-F238E27FC236}">
                <a16:creationId xmlns:a16="http://schemas.microsoft.com/office/drawing/2014/main" id="{CA012919-CC81-F013-85F4-E0A25304705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474149" y="653213"/>
            <a:ext cx="3020639" cy="2012500"/>
          </a:xfrm>
          <a:prstGeom prst="rect">
            <a:avLst/>
          </a:prstGeom>
        </p:spPr>
      </p:pic>
      <p:sp>
        <p:nvSpPr>
          <p:cNvPr id="5" name="Rectangle 4">
            <a:extLst>
              <a:ext uri="{FF2B5EF4-FFF2-40B4-BE49-F238E27FC236}">
                <a16:creationId xmlns:a16="http://schemas.microsoft.com/office/drawing/2014/main" id="{19990226-9275-7AE8-7FD0-FB8A7E2CFD75}"/>
              </a:ext>
            </a:extLst>
          </p:cNvPr>
          <p:cNvSpPr/>
          <p:nvPr/>
        </p:nvSpPr>
        <p:spPr>
          <a:xfrm>
            <a:off x="0" y="6477000"/>
            <a:ext cx="12192000" cy="381000"/>
          </a:xfrm>
          <a:prstGeom prst="rect">
            <a:avLst/>
          </a:prstGeom>
          <a:gradFill flip="none" rotWithShape="1">
            <a:gsLst>
              <a:gs pos="0">
                <a:srgbClr val="2F4375"/>
              </a:gs>
              <a:gs pos="52000">
                <a:schemeClr val="accent1">
                  <a:lumMod val="89000"/>
                </a:schemeClr>
              </a:gs>
              <a:gs pos="89000">
                <a:schemeClr val="accent1">
                  <a:lumMod val="76000"/>
                </a:schemeClr>
              </a:gs>
              <a:gs pos="97000">
                <a:schemeClr val="accent1">
                  <a:lumMod val="70000"/>
                </a:schemeClr>
              </a:gs>
            </a:gsLst>
            <a:lin ang="27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6FFD227-A488-F50F-026B-BEC5C4B3D8ED}"/>
              </a:ext>
            </a:extLst>
          </p:cNvPr>
          <p:cNvSpPr/>
          <p:nvPr/>
        </p:nvSpPr>
        <p:spPr>
          <a:xfrm>
            <a:off x="1" y="0"/>
            <a:ext cx="12192000"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Issues VS Solutions</a:t>
            </a:r>
            <a:endParaRPr lang="en-IN" b="1" dirty="0">
              <a:solidFill>
                <a:srgbClr val="002060"/>
              </a:solidFill>
            </a:endParaRPr>
          </a:p>
        </p:txBody>
      </p:sp>
      <p:cxnSp>
        <p:nvCxnSpPr>
          <p:cNvPr id="3" name="Straight Connector 2">
            <a:extLst>
              <a:ext uri="{FF2B5EF4-FFF2-40B4-BE49-F238E27FC236}">
                <a16:creationId xmlns:a16="http://schemas.microsoft.com/office/drawing/2014/main" id="{1C0E4CBE-7288-F495-6C45-05683F500639}"/>
              </a:ext>
            </a:extLst>
          </p:cNvPr>
          <p:cNvCxnSpPr>
            <a:cxnSpLocks/>
          </p:cNvCxnSpPr>
          <p:nvPr/>
        </p:nvCxnSpPr>
        <p:spPr>
          <a:xfrm flipH="1">
            <a:off x="4075814" y="381000"/>
            <a:ext cx="1" cy="609600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33774292-14CE-EDE8-8E02-AAA4A8A0E5F4}"/>
              </a:ext>
            </a:extLst>
          </p:cNvPr>
          <p:cNvSpPr txBox="1"/>
          <p:nvPr/>
        </p:nvSpPr>
        <p:spPr>
          <a:xfrm>
            <a:off x="744279" y="505415"/>
            <a:ext cx="2108078" cy="369332"/>
          </a:xfrm>
          <a:prstGeom prst="rect">
            <a:avLst/>
          </a:prstGeom>
          <a:noFill/>
        </p:spPr>
        <p:txBody>
          <a:bodyPr wrap="none" rtlCol="0">
            <a:spAutoFit/>
          </a:bodyPr>
          <a:lstStyle/>
          <a:p>
            <a:r>
              <a:rPr lang="en-IN" b="1" i="0" dirty="0">
                <a:solidFill>
                  <a:srgbClr val="242424"/>
                </a:solidFill>
                <a:effectLst/>
                <a:highlight>
                  <a:srgbClr val="FFFFFF"/>
                </a:highlight>
                <a:latin typeface="source-serif-pro"/>
              </a:rPr>
              <a:t>Security and privacy</a:t>
            </a:r>
            <a:endParaRPr lang="en-IN" b="1" dirty="0"/>
          </a:p>
        </p:txBody>
      </p:sp>
      <p:sp>
        <p:nvSpPr>
          <p:cNvPr id="7" name="TextBox 6">
            <a:extLst>
              <a:ext uri="{FF2B5EF4-FFF2-40B4-BE49-F238E27FC236}">
                <a16:creationId xmlns:a16="http://schemas.microsoft.com/office/drawing/2014/main" id="{17BA84E1-AA89-9FC8-7AE4-BFEE623B2EC2}"/>
              </a:ext>
            </a:extLst>
          </p:cNvPr>
          <p:cNvSpPr txBox="1"/>
          <p:nvPr/>
        </p:nvSpPr>
        <p:spPr>
          <a:xfrm>
            <a:off x="244549" y="957885"/>
            <a:ext cx="3753292" cy="5632311"/>
          </a:xfrm>
          <a:prstGeom prst="rect">
            <a:avLst/>
          </a:prstGeom>
          <a:noFill/>
        </p:spPr>
        <p:txBody>
          <a:bodyPr wrap="square" rtlCol="0">
            <a:spAutoFit/>
          </a:bodyPr>
          <a:lstStyle/>
          <a:p>
            <a:r>
              <a:rPr lang="en-US" b="0" i="0" dirty="0">
                <a:solidFill>
                  <a:srgbClr val="242424"/>
                </a:solidFill>
                <a:effectLst/>
                <a:highlight>
                  <a:srgbClr val="FFFFFF"/>
                </a:highlight>
              </a:rPr>
              <a:t>Users are skeptical of using WhatsApp Payments because they don’t trust Meta. They are concerned about WhatsApp sharing data with other Meta platforms or selling their data to third parties.</a:t>
            </a:r>
          </a:p>
          <a:p>
            <a:endParaRPr lang="en-US" dirty="0">
              <a:solidFill>
                <a:srgbClr val="242424"/>
              </a:solidFill>
              <a:highlight>
                <a:srgbClr val="FFFFFF"/>
              </a:highlight>
            </a:endParaRPr>
          </a:p>
          <a:p>
            <a:r>
              <a:rPr lang="en-US" dirty="0">
                <a:solidFill>
                  <a:srgbClr val="242424"/>
                </a:solidFill>
                <a:highlight>
                  <a:srgbClr val="FFFFFF"/>
                </a:highlight>
              </a:rPr>
              <a:t>Also, WhatsApp follows pathetic refund policy, and do not take any responsibility for transactions.</a:t>
            </a:r>
          </a:p>
          <a:p>
            <a:endParaRPr lang="en-US" dirty="0">
              <a:solidFill>
                <a:srgbClr val="242424"/>
              </a:solidFill>
              <a:highlight>
                <a:srgbClr val="FFFFFF"/>
              </a:highlight>
            </a:endParaRPr>
          </a:p>
          <a:p>
            <a:r>
              <a:rPr lang="en-IN" sz="1800" kern="0" dirty="0">
                <a:solidFill>
                  <a:srgbClr val="1C1E21"/>
                </a:solidFill>
                <a:effectLst/>
                <a:ea typeface="Times New Roman" panose="02020603050405020304" pitchFamily="18" charset="0"/>
                <a:cs typeface="Helvetica" panose="020B0604020202020204" pitchFamily="34" charset="0"/>
              </a:rPr>
              <a:t>“</a:t>
            </a:r>
            <a:r>
              <a:rPr lang="en-IN" sz="1800" i="1" kern="0" dirty="0">
                <a:solidFill>
                  <a:srgbClr val="1C1E21"/>
                </a:solidFill>
                <a:effectLst/>
                <a:ea typeface="Times New Roman" panose="02020603050405020304" pitchFamily="18" charset="0"/>
                <a:cs typeface="Helvetica" panose="020B0604020202020204" pitchFamily="34" charset="0"/>
              </a:rPr>
              <a:t>To get a refund, you should reach out to the business directly</a:t>
            </a:r>
            <a:r>
              <a:rPr lang="en-IN" sz="1800" kern="0" dirty="0">
                <a:solidFill>
                  <a:srgbClr val="1C1E21"/>
                </a:solidFill>
                <a:effectLst/>
                <a:ea typeface="Times New Roman" panose="02020603050405020304" pitchFamily="18" charset="0"/>
                <a:cs typeface="Helvetica" panose="020B0604020202020204" pitchFamily="34" charset="0"/>
              </a:rPr>
              <a:t>.</a:t>
            </a:r>
          </a:p>
          <a:p>
            <a:endParaRPr lang="en-IN" kern="0" dirty="0">
              <a:solidFill>
                <a:srgbClr val="1C1E21"/>
              </a:solidFill>
              <a:ea typeface="Times New Roman" panose="02020603050405020304" pitchFamily="18" charset="0"/>
              <a:cs typeface="Helvetica" panose="020B0604020202020204" pitchFamily="34" charset="0"/>
            </a:endParaRPr>
          </a:p>
          <a:p>
            <a:r>
              <a:rPr lang="en-IN" sz="1800" i="1" kern="0" dirty="0">
                <a:solidFill>
                  <a:srgbClr val="1C1E21"/>
                </a:solidFill>
                <a:effectLst/>
                <a:highlight>
                  <a:srgbClr val="FFFFFF"/>
                </a:highlight>
                <a:ea typeface="Times New Roman" panose="02020603050405020304" pitchFamily="18" charset="0"/>
                <a:cs typeface="Helvetica" panose="020B0604020202020204" pitchFamily="34" charset="0"/>
              </a:rPr>
              <a:t>WhatsApp also doesn't provide any customer support for payments made to businesses on WhatsApp or the WhatsApp Business app in India.</a:t>
            </a:r>
            <a:endParaRPr lang="en-IN" sz="1800" i="1" kern="100" dirty="0">
              <a:effectLst/>
              <a:highlight>
                <a:srgbClr val="FFFFFF"/>
              </a:highlight>
              <a:ea typeface="Aptos" panose="020B0004020202020204" pitchFamily="34" charset="0"/>
              <a:cs typeface="Times New Roman" panose="02020603050405020304" pitchFamily="18" charset="0"/>
            </a:endParaRPr>
          </a:p>
          <a:p>
            <a:r>
              <a:rPr lang="en-IN" sz="1800" kern="0" dirty="0">
                <a:solidFill>
                  <a:srgbClr val="1C1E21"/>
                </a:solidFill>
                <a:effectLst/>
                <a:latin typeface="var(--font-family-segoe)"/>
                <a:ea typeface="Times New Roman" panose="02020603050405020304" pitchFamily="18" charset="0"/>
                <a:cs typeface="Helvetica" panose="020B0604020202020204" pitchFamily="34" charset="0"/>
              </a:rPr>
              <a:t>” </a:t>
            </a:r>
            <a:endParaRPr lang="en-US" dirty="0"/>
          </a:p>
        </p:txBody>
      </p:sp>
      <p:sp>
        <p:nvSpPr>
          <p:cNvPr id="2" name="TextBox 1">
            <a:extLst>
              <a:ext uri="{FF2B5EF4-FFF2-40B4-BE49-F238E27FC236}">
                <a16:creationId xmlns:a16="http://schemas.microsoft.com/office/drawing/2014/main" id="{2AECC03E-BD0E-D2F8-17A4-44E73F533431}"/>
              </a:ext>
            </a:extLst>
          </p:cNvPr>
          <p:cNvSpPr txBox="1"/>
          <p:nvPr/>
        </p:nvSpPr>
        <p:spPr>
          <a:xfrm>
            <a:off x="4420813" y="936056"/>
            <a:ext cx="3753292" cy="4801314"/>
          </a:xfrm>
          <a:prstGeom prst="rect">
            <a:avLst/>
          </a:prstGeom>
          <a:noFill/>
        </p:spPr>
        <p:txBody>
          <a:bodyPr wrap="square" rtlCol="0">
            <a:spAutoFit/>
          </a:bodyPr>
          <a:lstStyle/>
          <a:p>
            <a:r>
              <a:rPr lang="en-US" b="0" i="0" dirty="0">
                <a:solidFill>
                  <a:srgbClr val="0D0D0D"/>
                </a:solidFill>
                <a:effectLst/>
                <a:highlight>
                  <a:srgbClr val="FFFFFF"/>
                </a:highlight>
              </a:rPr>
              <a:t>WhatsApp should consider outsourcing customer service for its payment service to ensure efficient and effective support for users. </a:t>
            </a:r>
          </a:p>
          <a:p>
            <a:endParaRPr lang="en-US" dirty="0">
              <a:solidFill>
                <a:srgbClr val="0D0D0D"/>
              </a:solidFill>
              <a:highlight>
                <a:srgbClr val="FFFFFF"/>
              </a:highlight>
            </a:endParaRPr>
          </a:p>
          <a:p>
            <a:r>
              <a:rPr lang="en-US" dirty="0">
                <a:solidFill>
                  <a:srgbClr val="0D0D0D"/>
                </a:solidFill>
                <a:highlight>
                  <a:srgbClr val="FFFFFF"/>
                </a:highlight>
              </a:rPr>
              <a:t>Use AI chatbots as a feature on the payments tab, to resolve first level queries of users and lodge complaints for higher level, which then become one of the chat messages.</a:t>
            </a:r>
          </a:p>
          <a:p>
            <a:endParaRPr lang="en-US" dirty="0">
              <a:solidFill>
                <a:srgbClr val="0D0D0D"/>
              </a:solidFill>
              <a:highlight>
                <a:srgbClr val="FFFFFF"/>
              </a:highlight>
            </a:endParaRPr>
          </a:p>
          <a:p>
            <a:r>
              <a:rPr lang="en-US" b="1" i="0" dirty="0">
                <a:solidFill>
                  <a:srgbClr val="242424"/>
                </a:solidFill>
                <a:effectLst/>
                <a:highlight>
                  <a:srgbClr val="FFFFFF"/>
                </a:highlight>
              </a:rPr>
              <a:t>Transparency: </a:t>
            </a:r>
            <a:r>
              <a:rPr lang="en-US" b="0" i="0" dirty="0">
                <a:solidFill>
                  <a:srgbClr val="242424"/>
                </a:solidFill>
                <a:effectLst/>
                <a:highlight>
                  <a:srgbClr val="FFFFFF"/>
                </a:highlight>
              </a:rPr>
              <a:t>Communicate data privacy practices used by WhatsApp Payments and emphasize robust security measures.</a:t>
            </a:r>
          </a:p>
          <a:p>
            <a:endParaRPr lang="en-US" dirty="0"/>
          </a:p>
        </p:txBody>
      </p:sp>
      <p:pic>
        <p:nvPicPr>
          <p:cNvPr id="10" name="Picture 9" descr="A cartoon of a robot on a cellphone&#10;&#10;Description automatically generated">
            <a:extLst>
              <a:ext uri="{FF2B5EF4-FFF2-40B4-BE49-F238E27FC236}">
                <a16:creationId xmlns:a16="http://schemas.microsoft.com/office/drawing/2014/main" id="{00ADA7CA-175B-3880-9600-2D094B96CF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9104" y="2665713"/>
            <a:ext cx="3042557" cy="3042557"/>
          </a:xfrm>
          <a:prstGeom prst="rect">
            <a:avLst/>
          </a:prstGeom>
        </p:spPr>
      </p:pic>
    </p:spTree>
    <p:extLst>
      <p:ext uri="{BB962C8B-B14F-4D97-AF65-F5344CB8AC3E}">
        <p14:creationId xmlns:p14="http://schemas.microsoft.com/office/powerpoint/2010/main" val="335532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990226-9275-7AE8-7FD0-FB8A7E2CFD75}"/>
              </a:ext>
            </a:extLst>
          </p:cNvPr>
          <p:cNvSpPr/>
          <p:nvPr/>
        </p:nvSpPr>
        <p:spPr>
          <a:xfrm>
            <a:off x="0" y="6477000"/>
            <a:ext cx="12192000" cy="381000"/>
          </a:xfrm>
          <a:prstGeom prst="rect">
            <a:avLst/>
          </a:prstGeom>
          <a:gradFill flip="none" rotWithShape="1">
            <a:gsLst>
              <a:gs pos="0">
                <a:srgbClr val="2F4375"/>
              </a:gs>
              <a:gs pos="52000">
                <a:schemeClr val="accent1">
                  <a:lumMod val="89000"/>
                </a:schemeClr>
              </a:gs>
              <a:gs pos="89000">
                <a:schemeClr val="accent1">
                  <a:lumMod val="76000"/>
                </a:schemeClr>
              </a:gs>
              <a:gs pos="97000">
                <a:schemeClr val="accent1">
                  <a:lumMod val="70000"/>
                </a:schemeClr>
              </a:gs>
            </a:gsLst>
            <a:lin ang="27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6FFD227-A488-F50F-026B-BEC5C4B3D8ED}"/>
              </a:ext>
            </a:extLst>
          </p:cNvPr>
          <p:cNvSpPr/>
          <p:nvPr/>
        </p:nvSpPr>
        <p:spPr>
          <a:xfrm>
            <a:off x="1" y="0"/>
            <a:ext cx="12192000"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Issues VS Solutions</a:t>
            </a:r>
            <a:endParaRPr lang="en-IN" b="1" dirty="0">
              <a:solidFill>
                <a:srgbClr val="002060"/>
              </a:solidFill>
            </a:endParaRPr>
          </a:p>
        </p:txBody>
      </p:sp>
      <p:cxnSp>
        <p:nvCxnSpPr>
          <p:cNvPr id="3" name="Straight Connector 2">
            <a:extLst>
              <a:ext uri="{FF2B5EF4-FFF2-40B4-BE49-F238E27FC236}">
                <a16:creationId xmlns:a16="http://schemas.microsoft.com/office/drawing/2014/main" id="{1C0E4CBE-7288-F495-6C45-05683F500639}"/>
              </a:ext>
            </a:extLst>
          </p:cNvPr>
          <p:cNvCxnSpPr>
            <a:cxnSpLocks/>
          </p:cNvCxnSpPr>
          <p:nvPr/>
        </p:nvCxnSpPr>
        <p:spPr>
          <a:xfrm flipH="1">
            <a:off x="4075814" y="381000"/>
            <a:ext cx="1" cy="609600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33774292-14CE-EDE8-8E02-AAA4A8A0E5F4}"/>
              </a:ext>
            </a:extLst>
          </p:cNvPr>
          <p:cNvSpPr txBox="1"/>
          <p:nvPr/>
        </p:nvSpPr>
        <p:spPr>
          <a:xfrm>
            <a:off x="744279" y="701748"/>
            <a:ext cx="1868397" cy="369332"/>
          </a:xfrm>
          <a:prstGeom prst="rect">
            <a:avLst/>
          </a:prstGeom>
          <a:noFill/>
        </p:spPr>
        <p:txBody>
          <a:bodyPr wrap="none" rtlCol="0">
            <a:spAutoFit/>
          </a:bodyPr>
          <a:lstStyle/>
          <a:p>
            <a:r>
              <a:rPr lang="en-IN" b="1" i="0" dirty="0">
                <a:solidFill>
                  <a:srgbClr val="242424"/>
                </a:solidFill>
                <a:effectLst/>
                <a:highlight>
                  <a:srgbClr val="FFFFFF"/>
                </a:highlight>
                <a:latin typeface="source-serif-pro"/>
              </a:rPr>
              <a:t>Lack of incentives</a:t>
            </a:r>
            <a:endParaRPr lang="en-IN" dirty="0"/>
          </a:p>
        </p:txBody>
      </p:sp>
      <p:sp>
        <p:nvSpPr>
          <p:cNvPr id="2" name="TextBox 1">
            <a:extLst>
              <a:ext uri="{FF2B5EF4-FFF2-40B4-BE49-F238E27FC236}">
                <a16:creationId xmlns:a16="http://schemas.microsoft.com/office/drawing/2014/main" id="{F7BEA4BC-2EA3-144F-52A9-89E56E72EC05}"/>
              </a:ext>
            </a:extLst>
          </p:cNvPr>
          <p:cNvSpPr txBox="1"/>
          <p:nvPr/>
        </p:nvSpPr>
        <p:spPr>
          <a:xfrm>
            <a:off x="283536" y="1090155"/>
            <a:ext cx="3753292" cy="2862322"/>
          </a:xfrm>
          <a:prstGeom prst="rect">
            <a:avLst/>
          </a:prstGeom>
          <a:noFill/>
        </p:spPr>
        <p:txBody>
          <a:bodyPr wrap="square" rtlCol="0">
            <a:spAutoFit/>
          </a:bodyPr>
          <a:lstStyle/>
          <a:p>
            <a:r>
              <a:rPr lang="en-US" b="0" i="0" dirty="0">
                <a:solidFill>
                  <a:srgbClr val="242424"/>
                </a:solidFill>
                <a:effectLst/>
                <a:highlight>
                  <a:srgbClr val="FFFFFF"/>
                </a:highlight>
              </a:rPr>
              <a:t>Users lack motivation to switch to WhatsApp Payments from other familiar platforms because there’s no reward for that.</a:t>
            </a:r>
          </a:p>
          <a:p>
            <a:endParaRPr lang="en-US" dirty="0">
              <a:solidFill>
                <a:srgbClr val="242424"/>
              </a:solidFill>
              <a:highlight>
                <a:srgbClr val="FFFFFF"/>
              </a:highlight>
            </a:endParaRPr>
          </a:p>
          <a:p>
            <a:r>
              <a:rPr lang="en-US" dirty="0">
                <a:solidFill>
                  <a:srgbClr val="242424"/>
                </a:solidFill>
                <a:highlight>
                  <a:srgbClr val="FFFFFF"/>
                </a:highlight>
              </a:rPr>
              <a:t>We believe switching cost is moderate in this industry, if you are a reputed player offering potential advantages, people will switch their platform for that advantage.</a:t>
            </a:r>
            <a:endParaRPr lang="en-US" dirty="0"/>
          </a:p>
        </p:txBody>
      </p:sp>
      <p:sp>
        <p:nvSpPr>
          <p:cNvPr id="4" name="TextBox 3">
            <a:extLst>
              <a:ext uri="{FF2B5EF4-FFF2-40B4-BE49-F238E27FC236}">
                <a16:creationId xmlns:a16="http://schemas.microsoft.com/office/drawing/2014/main" id="{14819941-306B-F1AC-44F8-064C7AEA196E}"/>
              </a:ext>
            </a:extLst>
          </p:cNvPr>
          <p:cNvSpPr txBox="1"/>
          <p:nvPr/>
        </p:nvSpPr>
        <p:spPr>
          <a:xfrm>
            <a:off x="4277831" y="1056446"/>
            <a:ext cx="3873797" cy="4801314"/>
          </a:xfrm>
          <a:prstGeom prst="rect">
            <a:avLst/>
          </a:prstGeom>
          <a:noFill/>
        </p:spPr>
        <p:txBody>
          <a:bodyPr wrap="square" rtlCol="0">
            <a:spAutoFit/>
          </a:bodyPr>
          <a:lstStyle/>
          <a:p>
            <a:pPr algn="l">
              <a:buFont typeface="Arial" panose="020B0604020202020204" pitchFamily="34" charset="0"/>
              <a:buChar char="•"/>
            </a:pPr>
            <a:r>
              <a:rPr lang="en-US" b="1" i="0" dirty="0">
                <a:solidFill>
                  <a:srgbClr val="242424"/>
                </a:solidFill>
                <a:effectLst/>
                <a:highlight>
                  <a:srgbClr val="FFFFFF"/>
                </a:highlight>
              </a:rPr>
              <a:t>Welcome offers and cashback rewards: </a:t>
            </a:r>
            <a:r>
              <a:rPr lang="en-US" b="0" i="0" dirty="0">
                <a:solidFill>
                  <a:srgbClr val="242424"/>
                </a:solidFill>
                <a:effectLst/>
                <a:highlight>
                  <a:srgbClr val="FFFFFF"/>
                </a:highlight>
              </a:rPr>
              <a:t>Offer incentives like cashback or discounts for first-time users</a:t>
            </a:r>
            <a:r>
              <a:rPr lang="en-US" dirty="0">
                <a:solidFill>
                  <a:srgbClr val="242424"/>
                </a:solidFill>
                <a:highlight>
                  <a:srgbClr val="FFFFFF"/>
                </a:highlight>
              </a:rPr>
              <a:t>.</a:t>
            </a:r>
          </a:p>
          <a:p>
            <a:pPr algn="l">
              <a:buFont typeface="Arial" panose="020B0604020202020204" pitchFamily="34" charset="0"/>
              <a:buChar char="•"/>
            </a:pPr>
            <a:endParaRPr lang="en-US" b="0" i="0" dirty="0">
              <a:solidFill>
                <a:srgbClr val="242424"/>
              </a:solidFill>
              <a:effectLst/>
              <a:highlight>
                <a:srgbClr val="FFFFFF"/>
              </a:highlight>
            </a:endParaRPr>
          </a:p>
          <a:p>
            <a:pPr algn="l">
              <a:buFont typeface="Arial" panose="020B0604020202020204" pitchFamily="34" charset="0"/>
              <a:buChar char="•"/>
            </a:pPr>
            <a:r>
              <a:rPr lang="en-US" b="1" i="0" dirty="0">
                <a:solidFill>
                  <a:srgbClr val="242424"/>
                </a:solidFill>
                <a:effectLst/>
                <a:highlight>
                  <a:srgbClr val="FFFFFF"/>
                </a:highlight>
              </a:rPr>
              <a:t>Partnerships with merchants: </a:t>
            </a:r>
            <a:r>
              <a:rPr lang="en-US" b="0" i="0" dirty="0">
                <a:solidFill>
                  <a:srgbClr val="242424"/>
                </a:solidFill>
                <a:effectLst/>
                <a:highlight>
                  <a:srgbClr val="FFFFFF"/>
                </a:highlight>
              </a:rPr>
              <a:t>Partner with local merchants and online retailers to offer exclusive deals and discounts when using WhatsApp Payments.</a:t>
            </a:r>
          </a:p>
          <a:p>
            <a:pPr algn="l">
              <a:buFont typeface="Arial" panose="020B0604020202020204" pitchFamily="34" charset="0"/>
              <a:buChar char="•"/>
            </a:pPr>
            <a:endParaRPr lang="en-US" b="0" i="0" dirty="0">
              <a:solidFill>
                <a:srgbClr val="242424"/>
              </a:solidFill>
              <a:effectLst/>
              <a:highlight>
                <a:srgbClr val="FFFFFF"/>
              </a:highlight>
            </a:endParaRPr>
          </a:p>
          <a:p>
            <a:pPr algn="l">
              <a:buFont typeface="Arial" panose="020B0604020202020204" pitchFamily="34" charset="0"/>
              <a:buChar char="•"/>
            </a:pPr>
            <a:r>
              <a:rPr lang="en-US" b="1" i="0" dirty="0">
                <a:solidFill>
                  <a:srgbClr val="242424"/>
                </a:solidFill>
                <a:effectLst/>
                <a:highlight>
                  <a:srgbClr val="FFFFFF"/>
                </a:highlight>
              </a:rPr>
              <a:t>Peer recommendations: </a:t>
            </a:r>
            <a:r>
              <a:rPr lang="en-US" b="0" i="0" dirty="0">
                <a:solidFill>
                  <a:srgbClr val="242424"/>
                </a:solidFill>
                <a:effectLst/>
                <a:highlight>
                  <a:srgbClr val="FFFFFF"/>
                </a:highlight>
              </a:rPr>
              <a:t>Incentivize existing users to recommend their friends, leveraging the network effect of WhatsApp.</a:t>
            </a:r>
          </a:p>
          <a:p>
            <a:pPr algn="l">
              <a:buFont typeface="Arial" panose="020B0604020202020204" pitchFamily="34" charset="0"/>
              <a:buChar char="•"/>
            </a:pPr>
            <a:endParaRPr lang="en-US" b="0" i="0" dirty="0">
              <a:solidFill>
                <a:srgbClr val="242424"/>
              </a:solidFill>
              <a:effectLst/>
              <a:highlight>
                <a:srgbClr val="FFFFFF"/>
              </a:highlight>
            </a:endParaRPr>
          </a:p>
          <a:p>
            <a:pPr algn="l">
              <a:buFont typeface="Arial" panose="020B0604020202020204" pitchFamily="34" charset="0"/>
              <a:buChar char="•"/>
            </a:pPr>
            <a:r>
              <a:rPr lang="en-US" b="1" dirty="0">
                <a:solidFill>
                  <a:srgbClr val="242424"/>
                </a:solidFill>
                <a:highlight>
                  <a:srgbClr val="FFFFFF"/>
                </a:highlight>
              </a:rPr>
              <a:t>Integrate it with Channels.</a:t>
            </a:r>
            <a:endParaRPr lang="en-US" b="1" i="0" dirty="0">
              <a:solidFill>
                <a:srgbClr val="242424"/>
              </a:solidFill>
              <a:effectLst/>
              <a:highlight>
                <a:srgbClr val="FFFFFF"/>
              </a:highlight>
            </a:endParaRPr>
          </a:p>
        </p:txBody>
      </p:sp>
      <p:pic>
        <p:nvPicPr>
          <p:cNvPr id="8" name="Picture 7" descr="A group of people standing on a podium&#10;&#10;Description automatically generated">
            <a:extLst>
              <a:ext uri="{FF2B5EF4-FFF2-40B4-BE49-F238E27FC236}">
                <a16:creationId xmlns:a16="http://schemas.microsoft.com/office/drawing/2014/main" id="{8484927E-65B4-FFCC-8D83-F4B8062288A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0507" y="4140009"/>
            <a:ext cx="3753291" cy="2105441"/>
          </a:xfrm>
          <a:prstGeom prst="rect">
            <a:avLst/>
          </a:prstGeom>
        </p:spPr>
      </p:pic>
      <p:pic>
        <p:nvPicPr>
          <p:cNvPr id="10" name="Picture 9" descr="A screenshot of a cell phone&#10;&#10;Description automatically generated">
            <a:extLst>
              <a:ext uri="{FF2B5EF4-FFF2-40B4-BE49-F238E27FC236}">
                <a16:creationId xmlns:a16="http://schemas.microsoft.com/office/drawing/2014/main" id="{BFC13CB2-8706-6479-01BB-3A3637A69E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73654" y="1071080"/>
            <a:ext cx="2268000" cy="5166000"/>
          </a:xfrm>
          <a:prstGeom prst="rect">
            <a:avLst/>
          </a:prstGeom>
        </p:spPr>
      </p:pic>
      <p:pic>
        <p:nvPicPr>
          <p:cNvPr id="12" name="Picture 11" descr="A screenshot of a phone&#10;&#10;Description automatically generated">
            <a:extLst>
              <a:ext uri="{FF2B5EF4-FFF2-40B4-BE49-F238E27FC236}">
                <a16:creationId xmlns:a16="http://schemas.microsoft.com/office/drawing/2014/main" id="{08B6D072-9BC2-9F96-C4CF-10AF20F559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4577" y="1056446"/>
            <a:ext cx="2267423" cy="5164686"/>
          </a:xfrm>
          <a:prstGeom prst="rect">
            <a:avLst/>
          </a:prstGeom>
        </p:spPr>
      </p:pic>
    </p:spTree>
    <p:extLst>
      <p:ext uri="{BB962C8B-B14F-4D97-AF65-F5344CB8AC3E}">
        <p14:creationId xmlns:p14="http://schemas.microsoft.com/office/powerpoint/2010/main" val="1869429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990226-9275-7AE8-7FD0-FB8A7E2CFD75}"/>
              </a:ext>
            </a:extLst>
          </p:cNvPr>
          <p:cNvSpPr/>
          <p:nvPr/>
        </p:nvSpPr>
        <p:spPr>
          <a:xfrm>
            <a:off x="0" y="6477000"/>
            <a:ext cx="12192000" cy="381000"/>
          </a:xfrm>
          <a:prstGeom prst="rect">
            <a:avLst/>
          </a:prstGeom>
          <a:gradFill flip="none" rotWithShape="1">
            <a:gsLst>
              <a:gs pos="0">
                <a:srgbClr val="2F4375"/>
              </a:gs>
              <a:gs pos="52000">
                <a:schemeClr val="accent1">
                  <a:lumMod val="89000"/>
                </a:schemeClr>
              </a:gs>
              <a:gs pos="89000">
                <a:schemeClr val="accent1">
                  <a:lumMod val="76000"/>
                </a:schemeClr>
              </a:gs>
              <a:gs pos="97000">
                <a:schemeClr val="accent1">
                  <a:lumMod val="70000"/>
                </a:schemeClr>
              </a:gs>
            </a:gsLst>
            <a:lin ang="27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6FFD227-A488-F50F-026B-BEC5C4B3D8ED}"/>
              </a:ext>
            </a:extLst>
          </p:cNvPr>
          <p:cNvSpPr/>
          <p:nvPr/>
        </p:nvSpPr>
        <p:spPr>
          <a:xfrm>
            <a:off x="1" y="0"/>
            <a:ext cx="12192000" cy="381000"/>
          </a:xfrm>
          <a:prstGeom prst="rect">
            <a:avLst/>
          </a:prstGeom>
          <a:gradFill flip="none" rotWithShape="1">
            <a:gsLst>
              <a:gs pos="0">
                <a:srgbClr val="AACDE9">
                  <a:tint val="66000"/>
                  <a:satMod val="160000"/>
                </a:srgbClr>
              </a:gs>
              <a:gs pos="50000">
                <a:srgbClr val="AACDE9">
                  <a:tint val="44500"/>
                  <a:satMod val="160000"/>
                </a:srgbClr>
              </a:gs>
              <a:gs pos="100000">
                <a:srgbClr val="AACDE9">
                  <a:tint val="23500"/>
                  <a:satMod val="160000"/>
                </a:srgbClr>
              </a:gs>
            </a:gsLst>
            <a:lin ang="5400000" scaled="1"/>
            <a:tileRect/>
          </a:gradFill>
          <a:ln>
            <a:noFill/>
          </a:ln>
          <a:effectLst>
            <a:softEdge rad="63500"/>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Issues VS Solutions</a:t>
            </a:r>
            <a:endParaRPr lang="en-IN" b="1" dirty="0">
              <a:solidFill>
                <a:srgbClr val="002060"/>
              </a:solidFill>
            </a:endParaRPr>
          </a:p>
        </p:txBody>
      </p:sp>
      <p:cxnSp>
        <p:nvCxnSpPr>
          <p:cNvPr id="3" name="Straight Connector 2">
            <a:extLst>
              <a:ext uri="{FF2B5EF4-FFF2-40B4-BE49-F238E27FC236}">
                <a16:creationId xmlns:a16="http://schemas.microsoft.com/office/drawing/2014/main" id="{1C0E4CBE-7288-F495-6C45-05683F500639}"/>
              </a:ext>
            </a:extLst>
          </p:cNvPr>
          <p:cNvCxnSpPr>
            <a:cxnSpLocks/>
          </p:cNvCxnSpPr>
          <p:nvPr/>
        </p:nvCxnSpPr>
        <p:spPr>
          <a:xfrm flipH="1">
            <a:off x="4075814" y="381000"/>
            <a:ext cx="1" cy="609600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33774292-14CE-EDE8-8E02-AAA4A8A0E5F4}"/>
              </a:ext>
            </a:extLst>
          </p:cNvPr>
          <p:cNvSpPr txBox="1"/>
          <p:nvPr/>
        </p:nvSpPr>
        <p:spPr>
          <a:xfrm>
            <a:off x="629997" y="798477"/>
            <a:ext cx="2158989" cy="369332"/>
          </a:xfrm>
          <a:prstGeom prst="rect">
            <a:avLst/>
          </a:prstGeom>
          <a:noFill/>
        </p:spPr>
        <p:txBody>
          <a:bodyPr wrap="none" rtlCol="0">
            <a:spAutoFit/>
          </a:bodyPr>
          <a:lstStyle/>
          <a:p>
            <a:r>
              <a:rPr lang="en-IN" b="1" i="0" dirty="0">
                <a:solidFill>
                  <a:srgbClr val="242424"/>
                </a:solidFill>
                <a:effectLst/>
                <a:highlight>
                  <a:srgbClr val="FFFFFF"/>
                </a:highlight>
              </a:rPr>
              <a:t>Limited awareness</a:t>
            </a:r>
            <a:endParaRPr lang="en-IN" dirty="0"/>
          </a:p>
        </p:txBody>
      </p:sp>
      <p:sp>
        <p:nvSpPr>
          <p:cNvPr id="2" name="TextBox 1">
            <a:extLst>
              <a:ext uri="{FF2B5EF4-FFF2-40B4-BE49-F238E27FC236}">
                <a16:creationId xmlns:a16="http://schemas.microsoft.com/office/drawing/2014/main" id="{F7BEA4BC-2EA3-144F-52A9-89E56E72EC05}"/>
              </a:ext>
            </a:extLst>
          </p:cNvPr>
          <p:cNvSpPr txBox="1"/>
          <p:nvPr/>
        </p:nvSpPr>
        <p:spPr>
          <a:xfrm>
            <a:off x="244549" y="1488557"/>
            <a:ext cx="3753292" cy="1477328"/>
          </a:xfrm>
          <a:prstGeom prst="rect">
            <a:avLst/>
          </a:prstGeom>
          <a:noFill/>
        </p:spPr>
        <p:txBody>
          <a:bodyPr wrap="square" rtlCol="0">
            <a:spAutoFit/>
          </a:bodyPr>
          <a:lstStyle/>
          <a:p>
            <a:r>
              <a:rPr lang="en-US" b="0" i="0" dirty="0">
                <a:solidFill>
                  <a:srgbClr val="242424"/>
                </a:solidFill>
                <a:effectLst/>
                <a:highlight>
                  <a:srgbClr val="FFFFFF"/>
                </a:highlight>
              </a:rPr>
              <a:t>Many users are unaware of the feature or its functionalities. Also, there’s no direct payment option on the home screen of WhatsApp for users to scan and pay on the go</a:t>
            </a:r>
            <a:endParaRPr lang="en-US" dirty="0"/>
          </a:p>
        </p:txBody>
      </p:sp>
      <p:sp>
        <p:nvSpPr>
          <p:cNvPr id="4" name="TextBox 3">
            <a:extLst>
              <a:ext uri="{FF2B5EF4-FFF2-40B4-BE49-F238E27FC236}">
                <a16:creationId xmlns:a16="http://schemas.microsoft.com/office/drawing/2014/main" id="{14819941-306B-F1AC-44F8-064C7AEA196E}"/>
              </a:ext>
            </a:extLst>
          </p:cNvPr>
          <p:cNvSpPr txBox="1"/>
          <p:nvPr/>
        </p:nvSpPr>
        <p:spPr>
          <a:xfrm>
            <a:off x="4490483" y="701748"/>
            <a:ext cx="3565450" cy="5632311"/>
          </a:xfrm>
          <a:prstGeom prst="rect">
            <a:avLst/>
          </a:prstGeom>
          <a:noFill/>
        </p:spPr>
        <p:txBody>
          <a:bodyPr wrap="square" rtlCol="0">
            <a:spAutoFit/>
          </a:bodyPr>
          <a:lstStyle/>
          <a:p>
            <a:pPr algn="l"/>
            <a:r>
              <a:rPr lang="en-US" b="1" i="0" dirty="0">
                <a:solidFill>
                  <a:srgbClr val="242424"/>
                </a:solidFill>
                <a:effectLst/>
                <a:highlight>
                  <a:srgbClr val="FFFFFF"/>
                </a:highlight>
                <a:latin typeface="source-serif-pro"/>
              </a:rPr>
              <a:t>Enhance User Education and Awareness</a:t>
            </a:r>
          </a:p>
          <a:p>
            <a:pPr algn="l"/>
            <a:endParaRPr lang="en-US" b="0" i="0" dirty="0">
              <a:solidFill>
                <a:srgbClr val="242424"/>
              </a:solidFill>
              <a:effectLst/>
              <a:highlight>
                <a:srgbClr val="FFFFFF"/>
              </a:highlight>
              <a:latin typeface="source-serif-pro"/>
            </a:endParaRPr>
          </a:p>
          <a:p>
            <a:pPr algn="l">
              <a:buFont typeface="Arial" panose="020B0604020202020204" pitchFamily="34" charset="0"/>
              <a:buChar char="•"/>
            </a:pPr>
            <a:r>
              <a:rPr lang="en-US" b="1" i="0" dirty="0">
                <a:solidFill>
                  <a:srgbClr val="242424"/>
                </a:solidFill>
                <a:effectLst/>
                <a:highlight>
                  <a:srgbClr val="FFFFFF"/>
                </a:highlight>
                <a:latin typeface="source-serif-pro"/>
              </a:rPr>
              <a:t>In-app tutorials: </a:t>
            </a:r>
            <a:r>
              <a:rPr lang="en-US" b="0" i="0" dirty="0">
                <a:solidFill>
                  <a:srgbClr val="242424"/>
                </a:solidFill>
                <a:effectLst/>
                <a:highlight>
                  <a:srgbClr val="FFFFFF"/>
                </a:highlight>
                <a:latin typeface="source-serif-pro"/>
              </a:rPr>
              <a:t>Show interactive tutorials and guides explaining the benefits and functionalities of WhatsApp Payments.</a:t>
            </a:r>
          </a:p>
          <a:p>
            <a:pPr algn="l">
              <a:buFont typeface="Arial" panose="020B0604020202020204" pitchFamily="34" charset="0"/>
              <a:buChar char="•"/>
            </a:pPr>
            <a:endParaRPr lang="en-US" b="0" i="0" dirty="0">
              <a:solidFill>
                <a:srgbClr val="242424"/>
              </a:solidFill>
              <a:effectLst/>
              <a:highlight>
                <a:srgbClr val="FFFFFF"/>
              </a:highlight>
              <a:latin typeface="source-serif-pro"/>
            </a:endParaRPr>
          </a:p>
          <a:p>
            <a:pPr algn="l">
              <a:buFont typeface="Arial" panose="020B0604020202020204" pitchFamily="34" charset="0"/>
              <a:buChar char="•"/>
            </a:pPr>
            <a:r>
              <a:rPr lang="en-US" b="1" i="0" dirty="0">
                <a:solidFill>
                  <a:srgbClr val="242424"/>
                </a:solidFill>
                <a:effectLst/>
                <a:highlight>
                  <a:srgbClr val="FFFFFF"/>
                </a:highlight>
                <a:latin typeface="source-serif-pro"/>
              </a:rPr>
              <a:t>Targeted campaigns: </a:t>
            </a:r>
            <a:r>
              <a:rPr lang="en-US" b="0" i="0" dirty="0">
                <a:solidFill>
                  <a:srgbClr val="242424"/>
                </a:solidFill>
                <a:effectLst/>
                <a:highlight>
                  <a:srgbClr val="FFFFFF"/>
                </a:highlight>
                <a:latin typeface="source-serif-pro"/>
              </a:rPr>
              <a:t>Run targeted campaigns within the app, highlighting specific use cases like splitting bills or easy payments.</a:t>
            </a:r>
          </a:p>
          <a:p>
            <a:pPr algn="l">
              <a:buFont typeface="Arial" panose="020B0604020202020204" pitchFamily="34" charset="0"/>
              <a:buChar char="•"/>
            </a:pPr>
            <a:r>
              <a:rPr lang="en-US" dirty="0">
                <a:solidFill>
                  <a:srgbClr val="242424"/>
                </a:solidFill>
                <a:highlight>
                  <a:srgbClr val="FFFFFF"/>
                </a:highlight>
                <a:latin typeface="source-serif-pro"/>
              </a:rPr>
              <a:t>Leverage Meta Platforms for running adds.</a:t>
            </a:r>
            <a:endParaRPr lang="en-US" b="0" i="0" dirty="0">
              <a:solidFill>
                <a:srgbClr val="242424"/>
              </a:solidFill>
              <a:effectLst/>
              <a:highlight>
                <a:srgbClr val="FFFFFF"/>
              </a:highlight>
              <a:latin typeface="source-serif-pro"/>
            </a:endParaRPr>
          </a:p>
          <a:p>
            <a:pPr algn="l">
              <a:buFont typeface="Arial" panose="020B0604020202020204" pitchFamily="34" charset="0"/>
              <a:buChar char="•"/>
            </a:pPr>
            <a:endParaRPr lang="en-US" b="0" i="0" dirty="0">
              <a:solidFill>
                <a:srgbClr val="242424"/>
              </a:solidFill>
              <a:effectLst/>
              <a:highlight>
                <a:srgbClr val="FFFFFF"/>
              </a:highlight>
              <a:latin typeface="source-serif-pro"/>
            </a:endParaRPr>
          </a:p>
          <a:p>
            <a:pPr algn="l">
              <a:buFont typeface="Arial" panose="020B0604020202020204" pitchFamily="34" charset="0"/>
              <a:buChar char="•"/>
            </a:pPr>
            <a:r>
              <a:rPr lang="en-US" b="1" i="0" dirty="0">
                <a:solidFill>
                  <a:srgbClr val="242424"/>
                </a:solidFill>
                <a:effectLst/>
                <a:highlight>
                  <a:srgbClr val="FFFFFF"/>
                </a:highlight>
                <a:latin typeface="source-serif-pro"/>
              </a:rPr>
              <a:t>Collaboration with influencers: </a:t>
            </a:r>
            <a:r>
              <a:rPr lang="en-US" b="0" i="0" dirty="0">
                <a:solidFill>
                  <a:srgbClr val="242424"/>
                </a:solidFill>
                <a:effectLst/>
                <a:highlight>
                  <a:srgbClr val="FFFFFF"/>
                </a:highlight>
                <a:latin typeface="source-serif-pro"/>
              </a:rPr>
              <a:t>Partner with financial influencers to showcase multiple use cases and benefits of using WhatsApp Payments</a:t>
            </a:r>
          </a:p>
        </p:txBody>
      </p:sp>
      <p:pic>
        <p:nvPicPr>
          <p:cNvPr id="10" name="Picture 9" descr="A person holding a cell phone&#10;&#10;Description automatically generated">
            <a:extLst>
              <a:ext uri="{FF2B5EF4-FFF2-40B4-BE49-F238E27FC236}">
                <a16:creationId xmlns:a16="http://schemas.microsoft.com/office/drawing/2014/main" id="{FEC0B851-19DA-3BDA-E2CC-912C14134CF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29289" y="3383362"/>
            <a:ext cx="2857500" cy="2143125"/>
          </a:xfrm>
          <a:prstGeom prst="rect">
            <a:avLst/>
          </a:prstGeom>
        </p:spPr>
      </p:pic>
      <p:pic>
        <p:nvPicPr>
          <p:cNvPr id="1026" name="Picture 2" descr="Google Pay Ad Cast Model Name">
            <a:extLst>
              <a:ext uri="{FF2B5EF4-FFF2-40B4-BE49-F238E27FC236}">
                <a16:creationId xmlns:a16="http://schemas.microsoft.com/office/drawing/2014/main" id="{D1E564B6-A12F-0CFB-AFD7-7E567AEC5E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3915" y="701748"/>
            <a:ext cx="4033536" cy="21859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one Pay This Dhanteras Buy 24 Karat Gold Safely On Phonepe Flat 5%  Assured Cashback On Gold Ad - Advert Gallery">
            <a:extLst>
              <a:ext uri="{FF2B5EF4-FFF2-40B4-BE49-F238E27FC236}">
                <a16:creationId xmlns:a16="http://schemas.microsoft.com/office/drawing/2014/main" id="{EDFE11BA-06DB-1D69-E153-F43957683A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7837" y="3159524"/>
            <a:ext cx="1762125"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ytm on X: &quot;Trusted by 3.6 cr merchants, Paytm is the country's leading  tech innovator, transforming in-store payments for millions! Our pioneering  devices are revolutionizing the way merchants do business! Ye hamare">
            <a:extLst>
              <a:ext uri="{FF2B5EF4-FFF2-40B4-BE49-F238E27FC236}">
                <a16:creationId xmlns:a16="http://schemas.microsoft.com/office/drawing/2014/main" id="{3C0F8380-9942-1BB4-A5A6-9B808D4C8D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89962" y="3159523"/>
            <a:ext cx="2257489" cy="2590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934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TotalTime>
  <Words>703</Words>
  <Application>Microsoft Office PowerPoint</Application>
  <PresentationFormat>Widescreen</PresentationFormat>
  <Paragraphs>127</Paragraphs>
  <Slides>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Aharoni</vt:lpstr>
      <vt:lpstr>Aptos</vt:lpstr>
      <vt:lpstr>Aptos Display</vt:lpstr>
      <vt:lpstr>Arial</vt:lpstr>
      <vt:lpstr>inherit</vt:lpstr>
      <vt:lpstr>Open Sans</vt:lpstr>
      <vt:lpstr>source-serif-pro</vt:lpstr>
      <vt:lpstr>Times New Roman</vt:lpstr>
      <vt:lpstr>var(--font-family-segoe)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Tushar _2311354</dc:creator>
  <cp:lastModifiedBy>Deepanshu Rawat</cp:lastModifiedBy>
  <cp:revision>9</cp:revision>
  <dcterms:created xsi:type="dcterms:W3CDTF">2024-05-07T14:07:13Z</dcterms:created>
  <dcterms:modified xsi:type="dcterms:W3CDTF">2024-05-10T09:53:50Z</dcterms:modified>
</cp:coreProperties>
</file>