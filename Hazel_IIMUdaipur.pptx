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 (in $T)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India</c:v>
                </c:pt>
                <c:pt idx="1">
                  <c:v>Indonesia</c:v>
                </c:pt>
                <c:pt idx="2">
                  <c:v>Vietnam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3.3849999999999998</c:v>
                </c:pt>
                <c:pt idx="1">
                  <c:v>1.389</c:v>
                </c:pt>
                <c:pt idx="2">
                  <c:v>0.40899999999999997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93-4DA7-9765-C84B09A4DD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GDP Growth Rate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India</c:v>
                </c:pt>
                <c:pt idx="1">
                  <c:v>Indonesia</c:v>
                </c:pt>
                <c:pt idx="2">
                  <c:v>Vietnam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5.31</c:v>
                </c:pt>
                <c:pt idx="2">
                  <c:v>8.02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993-4DA7-9765-C84B09A4DD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52896864"/>
        <c:axId val="1252881504"/>
      </c:barChart>
      <c:catAx>
        <c:axId val="1252896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2881504"/>
        <c:crosses val="autoZero"/>
        <c:auto val="1"/>
        <c:lblAlgn val="ctr"/>
        <c:lblOffset val="100"/>
        <c:noMultiLvlLbl val="0"/>
      </c:catAx>
      <c:valAx>
        <c:axId val="1252881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2896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E3C18F-04FC-4041-B3FF-12351A6BF621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4CE1567-049A-4A00-A709-1BDD0419A661}">
      <dgm:prSet phldrT="[Text]"/>
      <dgm:spPr/>
      <dgm:t>
        <a:bodyPr/>
        <a:lstStyle/>
        <a:p>
          <a:r>
            <a:rPr lang="en-US" dirty="0"/>
            <a:t>Clients</a:t>
          </a:r>
          <a:endParaRPr lang="en-IN" dirty="0"/>
        </a:p>
      </dgm:t>
    </dgm:pt>
    <dgm:pt modelId="{81DA01BF-6A52-4C95-AA3E-AD484815BB79}" type="parTrans" cxnId="{18DEF9CA-3C3F-4663-B44C-F8A235477921}">
      <dgm:prSet/>
      <dgm:spPr/>
      <dgm:t>
        <a:bodyPr/>
        <a:lstStyle/>
        <a:p>
          <a:endParaRPr lang="en-IN"/>
        </a:p>
      </dgm:t>
    </dgm:pt>
    <dgm:pt modelId="{500F6AF5-5A9B-4713-B8E4-AED825E66D96}" type="sibTrans" cxnId="{18DEF9CA-3C3F-4663-B44C-F8A235477921}">
      <dgm:prSet/>
      <dgm:spPr/>
      <dgm:t>
        <a:bodyPr/>
        <a:lstStyle/>
        <a:p>
          <a:endParaRPr lang="en-IN"/>
        </a:p>
      </dgm:t>
    </dgm:pt>
    <dgm:pt modelId="{C98A3E79-6C8F-4614-ABEE-E43C9DE97F24}">
      <dgm:prSet phldrT="[Text]"/>
      <dgm:spPr/>
      <dgm:t>
        <a:bodyPr/>
        <a:lstStyle/>
        <a:p>
          <a:r>
            <a:rPr lang="en-US" dirty="0"/>
            <a:t>Business</a:t>
          </a:r>
          <a:endParaRPr lang="en-IN" dirty="0"/>
        </a:p>
      </dgm:t>
    </dgm:pt>
    <dgm:pt modelId="{2DD3D197-806A-45A1-9340-0227B91608D1}" type="parTrans" cxnId="{3E694966-067C-4B47-846E-1934982C74C9}">
      <dgm:prSet/>
      <dgm:spPr/>
      <dgm:t>
        <a:bodyPr/>
        <a:lstStyle/>
        <a:p>
          <a:endParaRPr lang="en-IN"/>
        </a:p>
      </dgm:t>
    </dgm:pt>
    <dgm:pt modelId="{69F970FD-7A65-44CE-A83F-5F37C4F20BB8}" type="sibTrans" cxnId="{3E694966-067C-4B47-846E-1934982C74C9}">
      <dgm:prSet/>
      <dgm:spPr/>
      <dgm:t>
        <a:bodyPr/>
        <a:lstStyle/>
        <a:p>
          <a:endParaRPr lang="en-IN"/>
        </a:p>
      </dgm:t>
    </dgm:pt>
    <dgm:pt modelId="{609EF554-2CB3-4488-840A-12EE97274509}">
      <dgm:prSet phldrT="[Text]"/>
      <dgm:spPr/>
      <dgm:t>
        <a:bodyPr/>
        <a:lstStyle/>
        <a:p>
          <a:r>
            <a:rPr lang="en-US" dirty="0"/>
            <a:t>FMCG</a:t>
          </a:r>
          <a:endParaRPr lang="en-IN" dirty="0"/>
        </a:p>
      </dgm:t>
    </dgm:pt>
    <dgm:pt modelId="{3B00B553-50FA-4E33-8582-823A0AE4F06D}" type="parTrans" cxnId="{1A5677A8-FEBD-4567-891F-6E779524F7D9}">
      <dgm:prSet/>
      <dgm:spPr/>
      <dgm:t>
        <a:bodyPr/>
        <a:lstStyle/>
        <a:p>
          <a:endParaRPr lang="en-IN"/>
        </a:p>
      </dgm:t>
    </dgm:pt>
    <dgm:pt modelId="{DFA87CFA-1D62-4766-B017-F2E5D203473E}" type="sibTrans" cxnId="{1A5677A8-FEBD-4567-891F-6E779524F7D9}">
      <dgm:prSet/>
      <dgm:spPr/>
      <dgm:t>
        <a:bodyPr/>
        <a:lstStyle/>
        <a:p>
          <a:endParaRPr lang="en-IN"/>
        </a:p>
      </dgm:t>
    </dgm:pt>
    <dgm:pt modelId="{A546AB2A-A57C-476A-BF6D-B374706C5B52}">
      <dgm:prSet phldrT="[Text]"/>
      <dgm:spPr/>
      <dgm:t>
        <a:bodyPr/>
        <a:lstStyle/>
        <a:p>
          <a:r>
            <a:rPr lang="en-US" dirty="0"/>
            <a:t>Logistics </a:t>
          </a:r>
        </a:p>
        <a:p>
          <a:r>
            <a:rPr lang="en-US" dirty="0"/>
            <a:t>&amp; E-commerce</a:t>
          </a:r>
          <a:endParaRPr lang="en-IN" dirty="0"/>
        </a:p>
      </dgm:t>
    </dgm:pt>
    <dgm:pt modelId="{D661F973-8261-4BE7-BB20-94D86963C1F0}" type="parTrans" cxnId="{54470020-EF48-4F8B-9D75-D601D292DE59}">
      <dgm:prSet/>
      <dgm:spPr/>
      <dgm:t>
        <a:bodyPr/>
        <a:lstStyle/>
        <a:p>
          <a:endParaRPr lang="en-IN"/>
        </a:p>
      </dgm:t>
    </dgm:pt>
    <dgm:pt modelId="{D134A04C-F846-47F7-A55D-713F24B28C11}" type="sibTrans" cxnId="{54470020-EF48-4F8B-9D75-D601D292DE59}">
      <dgm:prSet/>
      <dgm:spPr/>
      <dgm:t>
        <a:bodyPr/>
        <a:lstStyle/>
        <a:p>
          <a:endParaRPr lang="en-IN"/>
        </a:p>
      </dgm:t>
    </dgm:pt>
    <dgm:pt modelId="{435E0DD3-DE6B-48B1-9C47-044A6FD13E97}">
      <dgm:prSet phldrT="[Text]"/>
      <dgm:spPr/>
      <dgm:t>
        <a:bodyPr/>
        <a:lstStyle/>
        <a:p>
          <a:r>
            <a:rPr lang="en-US" dirty="0"/>
            <a:t>Government </a:t>
          </a:r>
          <a:endParaRPr lang="en-IN" dirty="0"/>
        </a:p>
      </dgm:t>
    </dgm:pt>
    <dgm:pt modelId="{64C3F8D1-C0ED-4320-BD6C-AC32DEEF944E}" type="sibTrans" cxnId="{898E0F5C-E0DA-4FDC-93EF-C486A41C5A24}">
      <dgm:prSet/>
      <dgm:spPr/>
      <dgm:t>
        <a:bodyPr/>
        <a:lstStyle/>
        <a:p>
          <a:endParaRPr lang="en-IN"/>
        </a:p>
      </dgm:t>
    </dgm:pt>
    <dgm:pt modelId="{D15F8442-3C6B-49F6-8E65-157B8F61377A}" type="parTrans" cxnId="{898E0F5C-E0DA-4FDC-93EF-C486A41C5A24}">
      <dgm:prSet/>
      <dgm:spPr/>
      <dgm:t>
        <a:bodyPr/>
        <a:lstStyle/>
        <a:p>
          <a:endParaRPr lang="en-IN"/>
        </a:p>
      </dgm:t>
    </dgm:pt>
    <dgm:pt modelId="{37EF3CCD-BF4B-4565-ADB0-92C8E18E34C2}" type="pres">
      <dgm:prSet presAssocID="{8CE3C18F-04FC-4041-B3FF-12351A6BF62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F67D524-629D-4C54-B201-FC4663082224}" type="pres">
      <dgm:prSet presAssocID="{44CE1567-049A-4A00-A709-1BDD0419A661}" presName="hierRoot1" presStyleCnt="0"/>
      <dgm:spPr/>
    </dgm:pt>
    <dgm:pt modelId="{740C0FC9-605F-4977-A906-F04F6C93F834}" type="pres">
      <dgm:prSet presAssocID="{44CE1567-049A-4A00-A709-1BDD0419A661}" presName="composite" presStyleCnt="0"/>
      <dgm:spPr/>
    </dgm:pt>
    <dgm:pt modelId="{B912C943-2F29-4162-A287-A931723D1683}" type="pres">
      <dgm:prSet presAssocID="{44CE1567-049A-4A00-A709-1BDD0419A661}" presName="image" presStyleLbl="node0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B0357AB-8CAA-483B-AA57-9AE6EDA07DB0}" type="pres">
      <dgm:prSet presAssocID="{44CE1567-049A-4A00-A709-1BDD0419A661}" presName="text" presStyleLbl="revTx" presStyleIdx="0" presStyleCnt="5">
        <dgm:presLayoutVars>
          <dgm:chPref val="3"/>
        </dgm:presLayoutVars>
      </dgm:prSet>
      <dgm:spPr/>
    </dgm:pt>
    <dgm:pt modelId="{12310797-C308-4B7C-890F-C524B303AE23}" type="pres">
      <dgm:prSet presAssocID="{44CE1567-049A-4A00-A709-1BDD0419A661}" presName="hierChild2" presStyleCnt="0"/>
      <dgm:spPr/>
    </dgm:pt>
    <dgm:pt modelId="{936738A1-92A4-4190-894D-741A57B7C8E8}" type="pres">
      <dgm:prSet presAssocID="{2DD3D197-806A-45A1-9340-0227B91608D1}" presName="Name10" presStyleLbl="parChTrans1D2" presStyleIdx="0" presStyleCnt="2"/>
      <dgm:spPr/>
    </dgm:pt>
    <dgm:pt modelId="{D716C574-7BBC-4DCA-B40D-E023DFFA029B}" type="pres">
      <dgm:prSet presAssocID="{C98A3E79-6C8F-4614-ABEE-E43C9DE97F24}" presName="hierRoot2" presStyleCnt="0"/>
      <dgm:spPr/>
    </dgm:pt>
    <dgm:pt modelId="{CCA15636-779B-4F44-A6DB-28159A8536D8}" type="pres">
      <dgm:prSet presAssocID="{C98A3E79-6C8F-4614-ABEE-E43C9DE97F24}" presName="composite2" presStyleCnt="0"/>
      <dgm:spPr/>
    </dgm:pt>
    <dgm:pt modelId="{47D65E94-21C3-476A-9B0A-F95829AC1D32}" type="pres">
      <dgm:prSet presAssocID="{C98A3E79-6C8F-4614-ABEE-E43C9DE97F24}" presName="image2" presStyleLbl="node2" presStyleIdx="0" presStyleCnt="2"/>
      <dgm:spPr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 with solid fill"/>
        </a:ext>
      </dgm:extLst>
    </dgm:pt>
    <dgm:pt modelId="{8159579E-2565-4C55-BE23-BF3B90DC184B}" type="pres">
      <dgm:prSet presAssocID="{C98A3E79-6C8F-4614-ABEE-E43C9DE97F24}" presName="text2" presStyleLbl="revTx" presStyleIdx="1" presStyleCnt="5">
        <dgm:presLayoutVars>
          <dgm:chPref val="3"/>
        </dgm:presLayoutVars>
      </dgm:prSet>
      <dgm:spPr/>
    </dgm:pt>
    <dgm:pt modelId="{127AD879-FF49-42F3-A8BE-3C931F280B8F}" type="pres">
      <dgm:prSet presAssocID="{C98A3E79-6C8F-4614-ABEE-E43C9DE97F24}" presName="hierChild3" presStyleCnt="0"/>
      <dgm:spPr/>
    </dgm:pt>
    <dgm:pt modelId="{AB94CA1F-B75C-4E23-86E6-4E80941BC6F8}" type="pres">
      <dgm:prSet presAssocID="{3B00B553-50FA-4E33-8582-823A0AE4F06D}" presName="Name17" presStyleLbl="parChTrans1D3" presStyleIdx="0" presStyleCnt="2"/>
      <dgm:spPr/>
    </dgm:pt>
    <dgm:pt modelId="{FB2D5422-30FA-4C91-944B-E10CD74535CD}" type="pres">
      <dgm:prSet presAssocID="{609EF554-2CB3-4488-840A-12EE97274509}" presName="hierRoot3" presStyleCnt="0"/>
      <dgm:spPr/>
    </dgm:pt>
    <dgm:pt modelId="{ED428392-94D3-4FDE-B580-D3F8CBE66482}" type="pres">
      <dgm:prSet presAssocID="{609EF554-2CB3-4488-840A-12EE97274509}" presName="composite3" presStyleCnt="0"/>
      <dgm:spPr/>
    </dgm:pt>
    <dgm:pt modelId="{0BE2E253-0017-40BD-9C8B-2742F9CAC256}" type="pres">
      <dgm:prSet presAssocID="{609EF554-2CB3-4488-840A-12EE97274509}" presName="image3" presStyleLbl="node3" presStyleIdx="0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od Delivery with solid fill"/>
        </a:ext>
      </dgm:extLst>
    </dgm:pt>
    <dgm:pt modelId="{695B01D2-96AA-4E16-B695-EE7B9555CDE1}" type="pres">
      <dgm:prSet presAssocID="{609EF554-2CB3-4488-840A-12EE97274509}" presName="text3" presStyleLbl="revTx" presStyleIdx="2" presStyleCnt="5">
        <dgm:presLayoutVars>
          <dgm:chPref val="3"/>
        </dgm:presLayoutVars>
      </dgm:prSet>
      <dgm:spPr/>
    </dgm:pt>
    <dgm:pt modelId="{1286C856-7EDA-42A2-B985-066ED974BB41}" type="pres">
      <dgm:prSet presAssocID="{609EF554-2CB3-4488-840A-12EE97274509}" presName="hierChild4" presStyleCnt="0"/>
      <dgm:spPr/>
    </dgm:pt>
    <dgm:pt modelId="{55D61DE0-05F1-4E89-BCB8-EF6CD04D66C8}" type="pres">
      <dgm:prSet presAssocID="{D661F973-8261-4BE7-BB20-94D86963C1F0}" presName="Name17" presStyleLbl="parChTrans1D3" presStyleIdx="1" presStyleCnt="2"/>
      <dgm:spPr/>
    </dgm:pt>
    <dgm:pt modelId="{C99870E4-1A4D-4BC3-A634-0FEE6B1D4E2E}" type="pres">
      <dgm:prSet presAssocID="{A546AB2A-A57C-476A-BF6D-B374706C5B52}" presName="hierRoot3" presStyleCnt="0"/>
      <dgm:spPr/>
    </dgm:pt>
    <dgm:pt modelId="{3E7BF2C0-D31E-45CD-99CD-30209FBE4887}" type="pres">
      <dgm:prSet presAssocID="{A546AB2A-A57C-476A-BF6D-B374706C5B52}" presName="composite3" presStyleCnt="0"/>
      <dgm:spPr/>
    </dgm:pt>
    <dgm:pt modelId="{4B3330BA-EF05-4DED-9DEE-6C717AEC2610}" type="pres">
      <dgm:prSet presAssocID="{A546AB2A-A57C-476A-BF6D-B374706C5B52}" presName="image3" presStyleLbl="node3" presStyleIdx="1" presStyleCnt="2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sket with solid fill"/>
        </a:ext>
      </dgm:extLst>
    </dgm:pt>
    <dgm:pt modelId="{2E3D393D-2374-4F9E-9360-FDA736BF9355}" type="pres">
      <dgm:prSet presAssocID="{A546AB2A-A57C-476A-BF6D-B374706C5B52}" presName="text3" presStyleLbl="revTx" presStyleIdx="3" presStyleCnt="5" custScaleX="230823" custLinFactX="57775" custLinFactY="47574" custLinFactNeighborX="100000" custLinFactNeighborY="100000">
        <dgm:presLayoutVars>
          <dgm:chPref val="3"/>
        </dgm:presLayoutVars>
      </dgm:prSet>
      <dgm:spPr/>
    </dgm:pt>
    <dgm:pt modelId="{9D4B20DB-17FF-44F0-8A04-E4945F289F97}" type="pres">
      <dgm:prSet presAssocID="{A546AB2A-A57C-476A-BF6D-B374706C5B52}" presName="hierChild4" presStyleCnt="0"/>
      <dgm:spPr/>
    </dgm:pt>
    <dgm:pt modelId="{5A7A5C1D-F1E6-4706-B61A-E1A1F87C42B8}" type="pres">
      <dgm:prSet presAssocID="{D15F8442-3C6B-49F6-8E65-157B8F61377A}" presName="Name10" presStyleLbl="parChTrans1D2" presStyleIdx="1" presStyleCnt="2"/>
      <dgm:spPr/>
    </dgm:pt>
    <dgm:pt modelId="{1860797C-E192-4CF9-9F9E-DABBEF216008}" type="pres">
      <dgm:prSet presAssocID="{435E0DD3-DE6B-48B1-9C47-044A6FD13E97}" presName="hierRoot2" presStyleCnt="0"/>
      <dgm:spPr/>
    </dgm:pt>
    <dgm:pt modelId="{98A51642-0A61-44CD-AE32-C0644E7566C0}" type="pres">
      <dgm:prSet presAssocID="{435E0DD3-DE6B-48B1-9C47-044A6FD13E97}" presName="composite2" presStyleCnt="0"/>
      <dgm:spPr/>
    </dgm:pt>
    <dgm:pt modelId="{E5305878-ACCA-4E78-8BF2-73E8D7D74C61}" type="pres">
      <dgm:prSet presAssocID="{435E0DD3-DE6B-48B1-9C47-044A6FD13E97}" presName="image2" presStyleLbl="node2" presStyleIdx="1" presStyleCnt="2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 l="-2000" r="-2000"/>
          </a:stretch>
        </a:blipFill>
      </dgm:spPr>
    </dgm:pt>
    <dgm:pt modelId="{30FF95C7-F961-4F32-B37B-8524D98D8571}" type="pres">
      <dgm:prSet presAssocID="{435E0DD3-DE6B-48B1-9C47-044A6FD13E97}" presName="text2" presStyleLbl="revTx" presStyleIdx="4" presStyleCnt="5">
        <dgm:presLayoutVars>
          <dgm:chPref val="3"/>
        </dgm:presLayoutVars>
      </dgm:prSet>
      <dgm:spPr/>
    </dgm:pt>
    <dgm:pt modelId="{B442FA46-3602-4C94-8BC8-581637327F95}" type="pres">
      <dgm:prSet presAssocID="{435E0DD3-DE6B-48B1-9C47-044A6FD13E97}" presName="hierChild3" presStyleCnt="0"/>
      <dgm:spPr/>
    </dgm:pt>
  </dgm:ptLst>
  <dgm:cxnLst>
    <dgm:cxn modelId="{54470020-EF48-4F8B-9D75-D601D292DE59}" srcId="{C98A3E79-6C8F-4614-ABEE-E43C9DE97F24}" destId="{A546AB2A-A57C-476A-BF6D-B374706C5B52}" srcOrd="1" destOrd="0" parTransId="{D661F973-8261-4BE7-BB20-94D86963C1F0}" sibTransId="{D134A04C-F846-47F7-A55D-713F24B28C11}"/>
    <dgm:cxn modelId="{DF377026-D4FE-40CF-A618-B0CEB2F8E2C7}" type="presOf" srcId="{C98A3E79-6C8F-4614-ABEE-E43C9DE97F24}" destId="{8159579E-2565-4C55-BE23-BF3B90DC184B}" srcOrd="0" destOrd="0" presId="urn:microsoft.com/office/officeart/2009/layout/CirclePictureHierarchy"/>
    <dgm:cxn modelId="{096A302B-21BB-4CF4-91AF-1AE11FA083E3}" type="presOf" srcId="{3B00B553-50FA-4E33-8582-823A0AE4F06D}" destId="{AB94CA1F-B75C-4E23-86E6-4E80941BC6F8}" srcOrd="0" destOrd="0" presId="urn:microsoft.com/office/officeart/2009/layout/CirclePictureHierarchy"/>
    <dgm:cxn modelId="{9B71DB3B-AE74-46D8-88FD-DB202D6981B9}" type="presOf" srcId="{44CE1567-049A-4A00-A709-1BDD0419A661}" destId="{3B0357AB-8CAA-483B-AA57-9AE6EDA07DB0}" srcOrd="0" destOrd="0" presId="urn:microsoft.com/office/officeart/2009/layout/CirclePictureHierarchy"/>
    <dgm:cxn modelId="{898E0F5C-E0DA-4FDC-93EF-C486A41C5A24}" srcId="{44CE1567-049A-4A00-A709-1BDD0419A661}" destId="{435E0DD3-DE6B-48B1-9C47-044A6FD13E97}" srcOrd="1" destOrd="0" parTransId="{D15F8442-3C6B-49F6-8E65-157B8F61377A}" sibTransId="{64C3F8D1-C0ED-4320-BD6C-AC32DEEF944E}"/>
    <dgm:cxn modelId="{3E694966-067C-4B47-846E-1934982C74C9}" srcId="{44CE1567-049A-4A00-A709-1BDD0419A661}" destId="{C98A3E79-6C8F-4614-ABEE-E43C9DE97F24}" srcOrd="0" destOrd="0" parTransId="{2DD3D197-806A-45A1-9340-0227B91608D1}" sibTransId="{69F970FD-7A65-44CE-A83F-5F37C4F20BB8}"/>
    <dgm:cxn modelId="{8109BD70-1953-4EE2-B249-2ABF9768F142}" type="presOf" srcId="{609EF554-2CB3-4488-840A-12EE97274509}" destId="{695B01D2-96AA-4E16-B695-EE7B9555CDE1}" srcOrd="0" destOrd="0" presId="urn:microsoft.com/office/officeart/2009/layout/CirclePictureHierarchy"/>
    <dgm:cxn modelId="{EF75BE52-5939-4D9F-BC89-B9CDD3226680}" type="presOf" srcId="{2DD3D197-806A-45A1-9340-0227B91608D1}" destId="{936738A1-92A4-4190-894D-741A57B7C8E8}" srcOrd="0" destOrd="0" presId="urn:microsoft.com/office/officeart/2009/layout/CirclePictureHierarchy"/>
    <dgm:cxn modelId="{DF8F207B-6B81-4A05-A261-5F8908F6900F}" type="presOf" srcId="{435E0DD3-DE6B-48B1-9C47-044A6FD13E97}" destId="{30FF95C7-F961-4F32-B37B-8524D98D8571}" srcOrd="0" destOrd="0" presId="urn:microsoft.com/office/officeart/2009/layout/CirclePictureHierarchy"/>
    <dgm:cxn modelId="{BC8E348D-8DAF-4642-9030-018FBC38DB11}" type="presOf" srcId="{D661F973-8261-4BE7-BB20-94D86963C1F0}" destId="{55D61DE0-05F1-4E89-BCB8-EF6CD04D66C8}" srcOrd="0" destOrd="0" presId="urn:microsoft.com/office/officeart/2009/layout/CirclePictureHierarchy"/>
    <dgm:cxn modelId="{1A5677A8-FEBD-4567-891F-6E779524F7D9}" srcId="{C98A3E79-6C8F-4614-ABEE-E43C9DE97F24}" destId="{609EF554-2CB3-4488-840A-12EE97274509}" srcOrd="0" destOrd="0" parTransId="{3B00B553-50FA-4E33-8582-823A0AE4F06D}" sibTransId="{DFA87CFA-1D62-4766-B017-F2E5D203473E}"/>
    <dgm:cxn modelId="{187297B0-5F0F-4F30-9157-0B069B10427B}" type="presOf" srcId="{D15F8442-3C6B-49F6-8E65-157B8F61377A}" destId="{5A7A5C1D-F1E6-4706-B61A-E1A1F87C42B8}" srcOrd="0" destOrd="0" presId="urn:microsoft.com/office/officeart/2009/layout/CirclePictureHierarchy"/>
    <dgm:cxn modelId="{18DEF9CA-3C3F-4663-B44C-F8A235477921}" srcId="{8CE3C18F-04FC-4041-B3FF-12351A6BF621}" destId="{44CE1567-049A-4A00-A709-1BDD0419A661}" srcOrd="0" destOrd="0" parTransId="{81DA01BF-6A52-4C95-AA3E-AD484815BB79}" sibTransId="{500F6AF5-5A9B-4713-B8E4-AED825E66D96}"/>
    <dgm:cxn modelId="{A1D166D2-F3CB-48ED-AF7E-A338C562E4C4}" type="presOf" srcId="{A546AB2A-A57C-476A-BF6D-B374706C5B52}" destId="{2E3D393D-2374-4F9E-9360-FDA736BF9355}" srcOrd="0" destOrd="0" presId="urn:microsoft.com/office/officeart/2009/layout/CirclePictureHierarchy"/>
    <dgm:cxn modelId="{D458D9DD-1DC8-4B88-AFC6-871ABF9DF63B}" type="presOf" srcId="{8CE3C18F-04FC-4041-B3FF-12351A6BF621}" destId="{37EF3CCD-BF4B-4565-ADB0-92C8E18E34C2}" srcOrd="0" destOrd="0" presId="urn:microsoft.com/office/officeart/2009/layout/CirclePictureHierarchy"/>
    <dgm:cxn modelId="{99F89D56-9053-4F5D-885F-9AAA62C3769B}" type="presParOf" srcId="{37EF3CCD-BF4B-4565-ADB0-92C8E18E34C2}" destId="{6F67D524-629D-4C54-B201-FC4663082224}" srcOrd="0" destOrd="0" presId="urn:microsoft.com/office/officeart/2009/layout/CirclePictureHierarchy"/>
    <dgm:cxn modelId="{D03B637F-D4B8-4542-9FDC-B9E5CC28799D}" type="presParOf" srcId="{6F67D524-629D-4C54-B201-FC4663082224}" destId="{740C0FC9-605F-4977-A906-F04F6C93F834}" srcOrd="0" destOrd="0" presId="urn:microsoft.com/office/officeart/2009/layout/CirclePictureHierarchy"/>
    <dgm:cxn modelId="{6C54F4AC-0620-417B-B829-9A6F10A76816}" type="presParOf" srcId="{740C0FC9-605F-4977-A906-F04F6C93F834}" destId="{B912C943-2F29-4162-A287-A931723D1683}" srcOrd="0" destOrd="0" presId="urn:microsoft.com/office/officeart/2009/layout/CirclePictureHierarchy"/>
    <dgm:cxn modelId="{024C890E-5D7A-45DD-AFC7-C441A646D35C}" type="presParOf" srcId="{740C0FC9-605F-4977-A906-F04F6C93F834}" destId="{3B0357AB-8CAA-483B-AA57-9AE6EDA07DB0}" srcOrd="1" destOrd="0" presId="urn:microsoft.com/office/officeart/2009/layout/CirclePictureHierarchy"/>
    <dgm:cxn modelId="{FC27B49F-5BFE-4814-9DDF-DA85D76C37D7}" type="presParOf" srcId="{6F67D524-629D-4C54-B201-FC4663082224}" destId="{12310797-C308-4B7C-890F-C524B303AE23}" srcOrd="1" destOrd="0" presId="urn:microsoft.com/office/officeart/2009/layout/CirclePictureHierarchy"/>
    <dgm:cxn modelId="{97DE31F7-D741-497C-9CE3-43485E4BAF29}" type="presParOf" srcId="{12310797-C308-4B7C-890F-C524B303AE23}" destId="{936738A1-92A4-4190-894D-741A57B7C8E8}" srcOrd="0" destOrd="0" presId="urn:microsoft.com/office/officeart/2009/layout/CirclePictureHierarchy"/>
    <dgm:cxn modelId="{A1284C75-E37A-4928-970F-8DEA6241A393}" type="presParOf" srcId="{12310797-C308-4B7C-890F-C524B303AE23}" destId="{D716C574-7BBC-4DCA-B40D-E023DFFA029B}" srcOrd="1" destOrd="0" presId="urn:microsoft.com/office/officeart/2009/layout/CirclePictureHierarchy"/>
    <dgm:cxn modelId="{7948FF35-3AB8-481B-BA3C-6B90A13EB414}" type="presParOf" srcId="{D716C574-7BBC-4DCA-B40D-E023DFFA029B}" destId="{CCA15636-779B-4F44-A6DB-28159A8536D8}" srcOrd="0" destOrd="0" presId="urn:microsoft.com/office/officeart/2009/layout/CirclePictureHierarchy"/>
    <dgm:cxn modelId="{E6F0D9ED-CECF-42D7-811D-AA3D2FD67640}" type="presParOf" srcId="{CCA15636-779B-4F44-A6DB-28159A8536D8}" destId="{47D65E94-21C3-476A-9B0A-F95829AC1D32}" srcOrd="0" destOrd="0" presId="urn:microsoft.com/office/officeart/2009/layout/CirclePictureHierarchy"/>
    <dgm:cxn modelId="{32CA7E41-4861-4308-9259-629B9C70A10F}" type="presParOf" srcId="{CCA15636-779B-4F44-A6DB-28159A8536D8}" destId="{8159579E-2565-4C55-BE23-BF3B90DC184B}" srcOrd="1" destOrd="0" presId="urn:microsoft.com/office/officeart/2009/layout/CirclePictureHierarchy"/>
    <dgm:cxn modelId="{9BE14D4C-245B-45D6-AD1F-268CAB09BC2B}" type="presParOf" srcId="{D716C574-7BBC-4DCA-B40D-E023DFFA029B}" destId="{127AD879-FF49-42F3-A8BE-3C931F280B8F}" srcOrd="1" destOrd="0" presId="urn:microsoft.com/office/officeart/2009/layout/CirclePictureHierarchy"/>
    <dgm:cxn modelId="{241F3510-934F-4BDC-A89D-3241DCB3C871}" type="presParOf" srcId="{127AD879-FF49-42F3-A8BE-3C931F280B8F}" destId="{AB94CA1F-B75C-4E23-86E6-4E80941BC6F8}" srcOrd="0" destOrd="0" presId="urn:microsoft.com/office/officeart/2009/layout/CirclePictureHierarchy"/>
    <dgm:cxn modelId="{EADBDC8A-0E98-4AF7-BE38-47E363411D1B}" type="presParOf" srcId="{127AD879-FF49-42F3-A8BE-3C931F280B8F}" destId="{FB2D5422-30FA-4C91-944B-E10CD74535CD}" srcOrd="1" destOrd="0" presId="urn:microsoft.com/office/officeart/2009/layout/CirclePictureHierarchy"/>
    <dgm:cxn modelId="{0556A54F-ACDD-4C4A-93BC-9EC43394C7BC}" type="presParOf" srcId="{FB2D5422-30FA-4C91-944B-E10CD74535CD}" destId="{ED428392-94D3-4FDE-B580-D3F8CBE66482}" srcOrd="0" destOrd="0" presId="urn:microsoft.com/office/officeart/2009/layout/CirclePictureHierarchy"/>
    <dgm:cxn modelId="{DFC079F2-E988-4E0D-9EBC-ABF9821ADFA0}" type="presParOf" srcId="{ED428392-94D3-4FDE-B580-D3F8CBE66482}" destId="{0BE2E253-0017-40BD-9C8B-2742F9CAC256}" srcOrd="0" destOrd="0" presId="urn:microsoft.com/office/officeart/2009/layout/CirclePictureHierarchy"/>
    <dgm:cxn modelId="{B7004EBE-8A44-4166-B653-46D94FE60F4C}" type="presParOf" srcId="{ED428392-94D3-4FDE-B580-D3F8CBE66482}" destId="{695B01D2-96AA-4E16-B695-EE7B9555CDE1}" srcOrd="1" destOrd="0" presId="urn:microsoft.com/office/officeart/2009/layout/CirclePictureHierarchy"/>
    <dgm:cxn modelId="{89D3640B-5B30-4486-BA0E-6C0F8EE151BF}" type="presParOf" srcId="{FB2D5422-30FA-4C91-944B-E10CD74535CD}" destId="{1286C856-7EDA-42A2-B985-066ED974BB41}" srcOrd="1" destOrd="0" presId="urn:microsoft.com/office/officeart/2009/layout/CirclePictureHierarchy"/>
    <dgm:cxn modelId="{C82A326E-B547-4954-9FE6-EF2A566055E5}" type="presParOf" srcId="{127AD879-FF49-42F3-A8BE-3C931F280B8F}" destId="{55D61DE0-05F1-4E89-BCB8-EF6CD04D66C8}" srcOrd="2" destOrd="0" presId="urn:microsoft.com/office/officeart/2009/layout/CirclePictureHierarchy"/>
    <dgm:cxn modelId="{5B2FF5CA-6F7D-429F-A92A-C60DEBF71D9D}" type="presParOf" srcId="{127AD879-FF49-42F3-A8BE-3C931F280B8F}" destId="{C99870E4-1A4D-4BC3-A634-0FEE6B1D4E2E}" srcOrd="3" destOrd="0" presId="urn:microsoft.com/office/officeart/2009/layout/CirclePictureHierarchy"/>
    <dgm:cxn modelId="{F5D7CFF4-C09A-4019-8086-DF3BDF263B21}" type="presParOf" srcId="{C99870E4-1A4D-4BC3-A634-0FEE6B1D4E2E}" destId="{3E7BF2C0-D31E-45CD-99CD-30209FBE4887}" srcOrd="0" destOrd="0" presId="urn:microsoft.com/office/officeart/2009/layout/CirclePictureHierarchy"/>
    <dgm:cxn modelId="{7A505CD5-9A6F-4BA3-97CC-52962C60AEF0}" type="presParOf" srcId="{3E7BF2C0-D31E-45CD-99CD-30209FBE4887}" destId="{4B3330BA-EF05-4DED-9DEE-6C717AEC2610}" srcOrd="0" destOrd="0" presId="urn:microsoft.com/office/officeart/2009/layout/CirclePictureHierarchy"/>
    <dgm:cxn modelId="{4ECB2CD4-B90F-462B-842F-8EF70EBC5007}" type="presParOf" srcId="{3E7BF2C0-D31E-45CD-99CD-30209FBE4887}" destId="{2E3D393D-2374-4F9E-9360-FDA736BF9355}" srcOrd="1" destOrd="0" presId="urn:microsoft.com/office/officeart/2009/layout/CirclePictureHierarchy"/>
    <dgm:cxn modelId="{6A58A743-0B0A-4C92-A7AB-97A4344575FF}" type="presParOf" srcId="{C99870E4-1A4D-4BC3-A634-0FEE6B1D4E2E}" destId="{9D4B20DB-17FF-44F0-8A04-E4945F289F97}" srcOrd="1" destOrd="0" presId="urn:microsoft.com/office/officeart/2009/layout/CirclePictureHierarchy"/>
    <dgm:cxn modelId="{F38038FE-7926-4C44-A8B8-438157EFF18B}" type="presParOf" srcId="{12310797-C308-4B7C-890F-C524B303AE23}" destId="{5A7A5C1D-F1E6-4706-B61A-E1A1F87C42B8}" srcOrd="2" destOrd="0" presId="urn:microsoft.com/office/officeart/2009/layout/CirclePictureHierarchy"/>
    <dgm:cxn modelId="{505C26EF-36F0-497E-A908-21A7CAA70093}" type="presParOf" srcId="{12310797-C308-4B7C-890F-C524B303AE23}" destId="{1860797C-E192-4CF9-9F9E-DABBEF216008}" srcOrd="3" destOrd="0" presId="urn:microsoft.com/office/officeart/2009/layout/CirclePictureHierarchy"/>
    <dgm:cxn modelId="{3E5964B4-87FE-454F-9849-9E4F2E3596CC}" type="presParOf" srcId="{1860797C-E192-4CF9-9F9E-DABBEF216008}" destId="{98A51642-0A61-44CD-AE32-C0644E7566C0}" srcOrd="0" destOrd="0" presId="urn:microsoft.com/office/officeart/2009/layout/CirclePictureHierarchy"/>
    <dgm:cxn modelId="{6D96CDAE-B22A-4E8B-AE41-8FF9F0ECBF6A}" type="presParOf" srcId="{98A51642-0A61-44CD-AE32-C0644E7566C0}" destId="{E5305878-ACCA-4E78-8BF2-73E8D7D74C61}" srcOrd="0" destOrd="0" presId="urn:microsoft.com/office/officeart/2009/layout/CirclePictureHierarchy"/>
    <dgm:cxn modelId="{EF0A0B4D-6DAE-4AA2-A050-DBCBBD10996C}" type="presParOf" srcId="{98A51642-0A61-44CD-AE32-C0644E7566C0}" destId="{30FF95C7-F961-4F32-B37B-8524D98D8571}" srcOrd="1" destOrd="0" presId="urn:microsoft.com/office/officeart/2009/layout/CirclePictureHierarchy"/>
    <dgm:cxn modelId="{CB3721BB-BDEE-4F7F-A76F-C253C4528893}" type="presParOf" srcId="{1860797C-E192-4CF9-9F9E-DABBEF216008}" destId="{B442FA46-3602-4C94-8BC8-581637327F95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24F2A7-DABF-4D7B-8BB6-90E96CA05303}" type="doc">
      <dgm:prSet loTypeId="urn:microsoft.com/office/officeart/2009/layout/CircleArrowProcess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23B243F-50CF-4791-8457-7B2C5C37A1AD}">
      <dgm:prSet phldrT="[Text]"/>
      <dgm:spPr/>
      <dgm:t>
        <a:bodyPr/>
        <a:lstStyle/>
        <a:p>
          <a:r>
            <a:rPr lang="en-US" dirty="0"/>
            <a:t>Suppliers</a:t>
          </a:r>
          <a:endParaRPr lang="en-IN" dirty="0"/>
        </a:p>
      </dgm:t>
    </dgm:pt>
    <dgm:pt modelId="{F56C49BC-28F8-425E-A926-6A2A1325B8AA}" type="parTrans" cxnId="{1A85C6DF-FE3D-4E75-9F1B-FB5257F49EB8}">
      <dgm:prSet/>
      <dgm:spPr/>
      <dgm:t>
        <a:bodyPr/>
        <a:lstStyle/>
        <a:p>
          <a:endParaRPr lang="en-IN"/>
        </a:p>
      </dgm:t>
    </dgm:pt>
    <dgm:pt modelId="{8C189332-4EF2-48DF-A084-CA7CCA7AD1F2}" type="sibTrans" cxnId="{1A85C6DF-FE3D-4E75-9F1B-FB5257F49EB8}">
      <dgm:prSet/>
      <dgm:spPr/>
      <dgm:t>
        <a:bodyPr/>
        <a:lstStyle/>
        <a:p>
          <a:endParaRPr lang="en-IN"/>
        </a:p>
      </dgm:t>
    </dgm:pt>
    <dgm:pt modelId="{E4CF7773-AF2E-41AC-8D3E-7872547DF137}">
      <dgm:prSet phldrT="[Text]"/>
      <dgm:spPr/>
      <dgm:t>
        <a:bodyPr/>
        <a:lstStyle/>
        <a:p>
          <a:r>
            <a:rPr lang="en-US" dirty="0"/>
            <a:t>EcoWrap</a:t>
          </a:r>
          <a:endParaRPr lang="en-IN" dirty="0"/>
        </a:p>
      </dgm:t>
    </dgm:pt>
    <dgm:pt modelId="{91F2EBC4-5D37-4876-A3B7-F32A903CBF64}" type="parTrans" cxnId="{C9DF7F5B-A8AC-463C-9934-007F2C2A01EC}">
      <dgm:prSet/>
      <dgm:spPr/>
      <dgm:t>
        <a:bodyPr/>
        <a:lstStyle/>
        <a:p>
          <a:endParaRPr lang="en-IN"/>
        </a:p>
      </dgm:t>
    </dgm:pt>
    <dgm:pt modelId="{80E77B8B-97EC-4463-B2CF-8DD417057D3A}" type="sibTrans" cxnId="{C9DF7F5B-A8AC-463C-9934-007F2C2A01EC}">
      <dgm:prSet/>
      <dgm:spPr/>
      <dgm:t>
        <a:bodyPr/>
        <a:lstStyle/>
        <a:p>
          <a:endParaRPr lang="en-IN"/>
        </a:p>
      </dgm:t>
    </dgm:pt>
    <dgm:pt modelId="{C24A6266-C2C8-4D2C-8A80-FAC88AF05766}">
      <dgm:prSet phldrT="[Text]"/>
      <dgm:spPr/>
      <dgm:t>
        <a:bodyPr/>
        <a:lstStyle/>
        <a:p>
          <a:r>
            <a:rPr lang="en-US" dirty="0"/>
            <a:t>Business</a:t>
          </a:r>
          <a:endParaRPr lang="en-IN" dirty="0"/>
        </a:p>
      </dgm:t>
    </dgm:pt>
    <dgm:pt modelId="{4AD1C1CF-0F34-4D4D-B60A-E38CA7ED3AAD}" type="parTrans" cxnId="{DB7C3F1B-1CFB-4BC2-AFB0-2CA1871FF6C6}">
      <dgm:prSet/>
      <dgm:spPr/>
      <dgm:t>
        <a:bodyPr/>
        <a:lstStyle/>
        <a:p>
          <a:endParaRPr lang="en-IN"/>
        </a:p>
      </dgm:t>
    </dgm:pt>
    <dgm:pt modelId="{0D317C4D-0522-4795-B266-6D1DB7E70095}" type="sibTrans" cxnId="{DB7C3F1B-1CFB-4BC2-AFB0-2CA1871FF6C6}">
      <dgm:prSet/>
      <dgm:spPr/>
      <dgm:t>
        <a:bodyPr/>
        <a:lstStyle/>
        <a:p>
          <a:endParaRPr lang="en-IN"/>
        </a:p>
      </dgm:t>
    </dgm:pt>
    <dgm:pt modelId="{A455E4BA-C6AD-42AC-9D11-832ABA812DEA}" type="pres">
      <dgm:prSet presAssocID="{CC24F2A7-DABF-4D7B-8BB6-90E96CA05303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CBE796BA-9FB7-4E20-B718-1C68AAE41C45}" type="pres">
      <dgm:prSet presAssocID="{B23B243F-50CF-4791-8457-7B2C5C37A1AD}" presName="Accent1" presStyleCnt="0"/>
      <dgm:spPr/>
    </dgm:pt>
    <dgm:pt modelId="{1F095844-C57B-4778-BEB7-C0223BF13022}" type="pres">
      <dgm:prSet presAssocID="{B23B243F-50CF-4791-8457-7B2C5C37A1AD}" presName="Accent" presStyleLbl="node1" presStyleIdx="0" presStyleCnt="3" custAng="1376237"/>
      <dgm:spPr/>
    </dgm:pt>
    <dgm:pt modelId="{9D0303C3-1C7E-4CEF-9677-D8315F85C3C8}" type="pres">
      <dgm:prSet presAssocID="{B23B243F-50CF-4791-8457-7B2C5C37A1AD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E20D4B7B-2A5C-491C-8DAF-4ABEC55EDC01}" type="pres">
      <dgm:prSet presAssocID="{E4CF7773-AF2E-41AC-8D3E-7872547DF137}" presName="Accent2" presStyleCnt="0"/>
      <dgm:spPr/>
    </dgm:pt>
    <dgm:pt modelId="{224F4D59-10D9-4CE8-973B-17DE4EBA1DDD}" type="pres">
      <dgm:prSet presAssocID="{E4CF7773-AF2E-41AC-8D3E-7872547DF137}" presName="Accent" presStyleLbl="node1" presStyleIdx="1" presStyleCnt="3"/>
      <dgm:spPr/>
    </dgm:pt>
    <dgm:pt modelId="{C319796A-253B-4F07-B20C-2F039ED51031}" type="pres">
      <dgm:prSet presAssocID="{E4CF7773-AF2E-41AC-8D3E-7872547DF137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95A79D42-F566-42FA-A3D2-F3699B970E8A}" type="pres">
      <dgm:prSet presAssocID="{C24A6266-C2C8-4D2C-8A80-FAC88AF05766}" presName="Accent3" presStyleCnt="0"/>
      <dgm:spPr/>
    </dgm:pt>
    <dgm:pt modelId="{42D4CB03-BB8A-4156-ACCD-D40CE7FB4F95}" type="pres">
      <dgm:prSet presAssocID="{C24A6266-C2C8-4D2C-8A80-FAC88AF05766}" presName="Accent" presStyleLbl="node1" presStyleIdx="2" presStyleCnt="3"/>
      <dgm:spPr/>
    </dgm:pt>
    <dgm:pt modelId="{13DD95B0-EEC2-43A1-A06C-409D0ECD19D6}" type="pres">
      <dgm:prSet presAssocID="{C24A6266-C2C8-4D2C-8A80-FAC88AF05766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DFB67B1A-BCF6-4233-BE93-9648094C1E14}" type="presOf" srcId="{CC24F2A7-DABF-4D7B-8BB6-90E96CA05303}" destId="{A455E4BA-C6AD-42AC-9D11-832ABA812DEA}" srcOrd="0" destOrd="0" presId="urn:microsoft.com/office/officeart/2009/layout/CircleArrowProcess"/>
    <dgm:cxn modelId="{DB7C3F1B-1CFB-4BC2-AFB0-2CA1871FF6C6}" srcId="{CC24F2A7-DABF-4D7B-8BB6-90E96CA05303}" destId="{C24A6266-C2C8-4D2C-8A80-FAC88AF05766}" srcOrd="2" destOrd="0" parTransId="{4AD1C1CF-0F34-4D4D-B60A-E38CA7ED3AAD}" sibTransId="{0D317C4D-0522-4795-B266-6D1DB7E70095}"/>
    <dgm:cxn modelId="{24F1E12A-251F-4E22-8607-3253CD0B476B}" type="presOf" srcId="{B23B243F-50CF-4791-8457-7B2C5C37A1AD}" destId="{9D0303C3-1C7E-4CEF-9677-D8315F85C3C8}" srcOrd="0" destOrd="0" presId="urn:microsoft.com/office/officeart/2009/layout/CircleArrowProcess"/>
    <dgm:cxn modelId="{C9DF7F5B-A8AC-463C-9934-007F2C2A01EC}" srcId="{CC24F2A7-DABF-4D7B-8BB6-90E96CA05303}" destId="{E4CF7773-AF2E-41AC-8D3E-7872547DF137}" srcOrd="1" destOrd="0" parTransId="{91F2EBC4-5D37-4876-A3B7-F32A903CBF64}" sibTransId="{80E77B8B-97EC-4463-B2CF-8DD417057D3A}"/>
    <dgm:cxn modelId="{9AECDC65-D668-433F-BD49-F347B9BC98F5}" type="presOf" srcId="{C24A6266-C2C8-4D2C-8A80-FAC88AF05766}" destId="{13DD95B0-EEC2-43A1-A06C-409D0ECD19D6}" srcOrd="0" destOrd="0" presId="urn:microsoft.com/office/officeart/2009/layout/CircleArrowProcess"/>
    <dgm:cxn modelId="{E410DF7A-EE33-4E28-993B-099FCE92136D}" type="presOf" srcId="{E4CF7773-AF2E-41AC-8D3E-7872547DF137}" destId="{C319796A-253B-4F07-B20C-2F039ED51031}" srcOrd="0" destOrd="0" presId="urn:microsoft.com/office/officeart/2009/layout/CircleArrowProcess"/>
    <dgm:cxn modelId="{1A85C6DF-FE3D-4E75-9F1B-FB5257F49EB8}" srcId="{CC24F2A7-DABF-4D7B-8BB6-90E96CA05303}" destId="{B23B243F-50CF-4791-8457-7B2C5C37A1AD}" srcOrd="0" destOrd="0" parTransId="{F56C49BC-28F8-425E-A926-6A2A1325B8AA}" sibTransId="{8C189332-4EF2-48DF-A084-CA7CCA7AD1F2}"/>
    <dgm:cxn modelId="{D23F8BB4-7A7C-4E13-ACDC-BD3257E3FA6F}" type="presParOf" srcId="{A455E4BA-C6AD-42AC-9D11-832ABA812DEA}" destId="{CBE796BA-9FB7-4E20-B718-1C68AAE41C45}" srcOrd="0" destOrd="0" presId="urn:microsoft.com/office/officeart/2009/layout/CircleArrowProcess"/>
    <dgm:cxn modelId="{5E40B747-8643-4571-9C6C-41F9307F6D5E}" type="presParOf" srcId="{CBE796BA-9FB7-4E20-B718-1C68AAE41C45}" destId="{1F095844-C57B-4778-BEB7-C0223BF13022}" srcOrd="0" destOrd="0" presId="urn:microsoft.com/office/officeart/2009/layout/CircleArrowProcess"/>
    <dgm:cxn modelId="{920AAEA7-A32F-42CE-9151-2F75DD53E064}" type="presParOf" srcId="{A455E4BA-C6AD-42AC-9D11-832ABA812DEA}" destId="{9D0303C3-1C7E-4CEF-9677-D8315F85C3C8}" srcOrd="1" destOrd="0" presId="urn:microsoft.com/office/officeart/2009/layout/CircleArrowProcess"/>
    <dgm:cxn modelId="{F3AAC3AA-4A94-4E65-8040-6C98D5CE52C1}" type="presParOf" srcId="{A455E4BA-C6AD-42AC-9D11-832ABA812DEA}" destId="{E20D4B7B-2A5C-491C-8DAF-4ABEC55EDC01}" srcOrd="2" destOrd="0" presId="urn:microsoft.com/office/officeart/2009/layout/CircleArrowProcess"/>
    <dgm:cxn modelId="{20A49913-D335-4DC5-9C12-37BD258475DE}" type="presParOf" srcId="{E20D4B7B-2A5C-491C-8DAF-4ABEC55EDC01}" destId="{224F4D59-10D9-4CE8-973B-17DE4EBA1DDD}" srcOrd="0" destOrd="0" presId="urn:microsoft.com/office/officeart/2009/layout/CircleArrowProcess"/>
    <dgm:cxn modelId="{B1C480E4-4E4F-4356-967D-41DD77B7797A}" type="presParOf" srcId="{A455E4BA-C6AD-42AC-9D11-832ABA812DEA}" destId="{C319796A-253B-4F07-B20C-2F039ED51031}" srcOrd="3" destOrd="0" presId="urn:microsoft.com/office/officeart/2009/layout/CircleArrowProcess"/>
    <dgm:cxn modelId="{107C2304-9D4F-4A52-8B97-C0AE56EEF41D}" type="presParOf" srcId="{A455E4BA-C6AD-42AC-9D11-832ABA812DEA}" destId="{95A79D42-F566-42FA-A3D2-F3699B970E8A}" srcOrd="4" destOrd="0" presId="urn:microsoft.com/office/officeart/2009/layout/CircleArrowProcess"/>
    <dgm:cxn modelId="{F4E56032-6184-4220-97F8-58A5CEEF98AE}" type="presParOf" srcId="{95A79D42-F566-42FA-A3D2-F3699B970E8A}" destId="{42D4CB03-BB8A-4156-ACCD-D40CE7FB4F95}" srcOrd="0" destOrd="0" presId="urn:microsoft.com/office/officeart/2009/layout/CircleArrowProcess"/>
    <dgm:cxn modelId="{46785BE5-DE98-44F4-B1C2-14835667D3BD}" type="presParOf" srcId="{A455E4BA-C6AD-42AC-9D11-832ABA812DEA}" destId="{13DD95B0-EEC2-43A1-A06C-409D0ECD19D6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129B42-756F-43A2-9160-B19B442B57E4}" type="doc">
      <dgm:prSet loTypeId="urn:microsoft.com/office/officeart/2008/layout/VerticalCurvedList" loCatId="list" qsTypeId="urn:microsoft.com/office/officeart/2005/8/quickstyle/simple5" qsCatId="simple" csTypeId="urn:microsoft.com/office/officeart/2005/8/colors/accent4_4" csCatId="accent4" phldr="1"/>
      <dgm:spPr/>
      <dgm:t>
        <a:bodyPr/>
        <a:lstStyle/>
        <a:p>
          <a:endParaRPr lang="en-IN"/>
        </a:p>
      </dgm:t>
    </dgm:pt>
    <dgm:pt modelId="{F348B879-B233-4D68-A028-9E2B66E914EC}">
      <dgm:prSet phldrT="[Text]" custT="1"/>
      <dgm:spPr/>
      <dgm:t>
        <a:bodyPr/>
        <a:lstStyle/>
        <a:p>
          <a:r>
            <a:rPr lang="en-IN" sz="1200" b="1" i="0" dirty="0"/>
            <a:t>Currency Diversification:</a:t>
          </a:r>
          <a:endParaRPr lang="en-IN" sz="1200" dirty="0"/>
        </a:p>
      </dgm:t>
    </dgm:pt>
    <dgm:pt modelId="{AD9CDF7B-C5BD-424D-8884-D13C1FF51F1A}" type="parTrans" cxnId="{4DD9ED31-C989-4A11-AF7B-3F20AF4A258B}">
      <dgm:prSet/>
      <dgm:spPr/>
      <dgm:t>
        <a:bodyPr/>
        <a:lstStyle/>
        <a:p>
          <a:endParaRPr lang="en-IN"/>
        </a:p>
      </dgm:t>
    </dgm:pt>
    <dgm:pt modelId="{AD1503C0-247F-4E32-8570-FDAEFD9FDEE5}" type="sibTrans" cxnId="{4DD9ED31-C989-4A11-AF7B-3F20AF4A258B}">
      <dgm:prSet/>
      <dgm:spPr/>
      <dgm:t>
        <a:bodyPr/>
        <a:lstStyle/>
        <a:p>
          <a:endParaRPr lang="en-IN"/>
        </a:p>
      </dgm:t>
    </dgm:pt>
    <dgm:pt modelId="{0BA8FC4C-6618-459C-8EC4-003671A83DF8}">
      <dgm:prSet custT="1"/>
      <dgm:spPr/>
      <dgm:t>
        <a:bodyPr/>
        <a:lstStyle/>
        <a:p>
          <a:r>
            <a:rPr lang="en-IN" sz="1200" b="1" i="0" dirty="0"/>
            <a:t>Natural Hedging:</a:t>
          </a:r>
          <a:endParaRPr lang="en-IN" sz="1200" dirty="0"/>
        </a:p>
      </dgm:t>
    </dgm:pt>
    <dgm:pt modelId="{1464EAAD-FB00-4959-BD3C-E1BE2E275B62}" type="parTrans" cxnId="{1FB00189-C829-423B-9909-FAD56155B787}">
      <dgm:prSet/>
      <dgm:spPr/>
      <dgm:t>
        <a:bodyPr/>
        <a:lstStyle/>
        <a:p>
          <a:endParaRPr lang="en-IN"/>
        </a:p>
      </dgm:t>
    </dgm:pt>
    <dgm:pt modelId="{919F679A-6BA7-49E6-846A-D7C8F21D1530}" type="sibTrans" cxnId="{1FB00189-C829-423B-9909-FAD56155B787}">
      <dgm:prSet/>
      <dgm:spPr/>
      <dgm:t>
        <a:bodyPr/>
        <a:lstStyle/>
        <a:p>
          <a:endParaRPr lang="en-IN"/>
        </a:p>
      </dgm:t>
    </dgm:pt>
    <dgm:pt modelId="{DCB17621-B750-4233-93D5-8DD471B9A52F}">
      <dgm:prSet custT="1"/>
      <dgm:spPr/>
      <dgm:t>
        <a:bodyPr/>
        <a:lstStyle/>
        <a:p>
          <a:r>
            <a:rPr lang="en-IN" sz="1200" b="1" i="0"/>
            <a:t>Forward Contracts:</a:t>
          </a:r>
          <a:endParaRPr lang="en-IN" sz="1200" b="0" i="0"/>
        </a:p>
      </dgm:t>
    </dgm:pt>
    <dgm:pt modelId="{CEEB39C6-9CB6-4FFB-A8EA-592C87EDF93B}" type="parTrans" cxnId="{3E583660-5F02-4C2C-AB47-3C0F5695B0C1}">
      <dgm:prSet/>
      <dgm:spPr/>
      <dgm:t>
        <a:bodyPr/>
        <a:lstStyle/>
        <a:p>
          <a:endParaRPr lang="en-IN"/>
        </a:p>
      </dgm:t>
    </dgm:pt>
    <dgm:pt modelId="{C782614A-7DE5-4A4C-B4A9-DB178DEEA4EB}" type="sibTrans" cxnId="{3E583660-5F02-4C2C-AB47-3C0F5695B0C1}">
      <dgm:prSet/>
      <dgm:spPr/>
      <dgm:t>
        <a:bodyPr/>
        <a:lstStyle/>
        <a:p>
          <a:endParaRPr lang="en-IN"/>
        </a:p>
      </dgm:t>
    </dgm:pt>
    <dgm:pt modelId="{FBDC56CF-4EE9-4574-9894-4CC0E9DB200A}" type="pres">
      <dgm:prSet presAssocID="{EC129B42-756F-43A2-9160-B19B442B57E4}" presName="Name0" presStyleCnt="0">
        <dgm:presLayoutVars>
          <dgm:chMax val="7"/>
          <dgm:chPref val="7"/>
          <dgm:dir/>
        </dgm:presLayoutVars>
      </dgm:prSet>
      <dgm:spPr/>
    </dgm:pt>
    <dgm:pt modelId="{040536B5-E70F-4F22-8F09-CEDC6F59AD31}" type="pres">
      <dgm:prSet presAssocID="{EC129B42-756F-43A2-9160-B19B442B57E4}" presName="Name1" presStyleCnt="0"/>
      <dgm:spPr/>
    </dgm:pt>
    <dgm:pt modelId="{D665C32B-131F-4BCF-980B-10EB44E880F1}" type="pres">
      <dgm:prSet presAssocID="{EC129B42-756F-43A2-9160-B19B442B57E4}" presName="cycle" presStyleCnt="0"/>
      <dgm:spPr/>
    </dgm:pt>
    <dgm:pt modelId="{23D1608B-236B-4060-AA11-BA0A14DE8D30}" type="pres">
      <dgm:prSet presAssocID="{EC129B42-756F-43A2-9160-B19B442B57E4}" presName="srcNode" presStyleLbl="node1" presStyleIdx="0" presStyleCnt="3"/>
      <dgm:spPr/>
    </dgm:pt>
    <dgm:pt modelId="{4CC039E6-A6BA-423C-80EC-162105A84248}" type="pres">
      <dgm:prSet presAssocID="{EC129B42-756F-43A2-9160-B19B442B57E4}" presName="conn" presStyleLbl="parChTrans1D2" presStyleIdx="0" presStyleCnt="1"/>
      <dgm:spPr/>
    </dgm:pt>
    <dgm:pt modelId="{34670B93-E0D5-48DD-B8B3-E39B9177C8CB}" type="pres">
      <dgm:prSet presAssocID="{EC129B42-756F-43A2-9160-B19B442B57E4}" presName="extraNode" presStyleLbl="node1" presStyleIdx="0" presStyleCnt="3"/>
      <dgm:spPr/>
    </dgm:pt>
    <dgm:pt modelId="{0ED1EFDB-9885-4BBE-8A9F-EE2F739F30F7}" type="pres">
      <dgm:prSet presAssocID="{EC129B42-756F-43A2-9160-B19B442B57E4}" presName="dstNode" presStyleLbl="node1" presStyleIdx="0" presStyleCnt="3"/>
      <dgm:spPr/>
    </dgm:pt>
    <dgm:pt modelId="{6C37BC06-A348-4128-9388-4667755D5A12}" type="pres">
      <dgm:prSet presAssocID="{F348B879-B233-4D68-A028-9E2B66E914EC}" presName="text_1" presStyleLbl="node1" presStyleIdx="0" presStyleCnt="3">
        <dgm:presLayoutVars>
          <dgm:bulletEnabled val="1"/>
        </dgm:presLayoutVars>
      </dgm:prSet>
      <dgm:spPr/>
    </dgm:pt>
    <dgm:pt modelId="{27D559AF-B170-4BF2-8304-B2398AB79BFF}" type="pres">
      <dgm:prSet presAssocID="{F348B879-B233-4D68-A028-9E2B66E914EC}" presName="accent_1" presStyleCnt="0"/>
      <dgm:spPr/>
    </dgm:pt>
    <dgm:pt modelId="{9C6863BE-597C-41E0-9606-0C41D03391F1}" type="pres">
      <dgm:prSet presAssocID="{F348B879-B233-4D68-A028-9E2B66E914EC}" presName="accentRepeatNode" presStyleLbl="solidFgAcc1" presStyleIdx="0" presStyleCnt="3"/>
      <dgm:spPr/>
    </dgm:pt>
    <dgm:pt modelId="{831B2A74-9B3F-4886-A231-A320505A56CB}" type="pres">
      <dgm:prSet presAssocID="{0BA8FC4C-6618-459C-8EC4-003671A83DF8}" presName="text_2" presStyleLbl="node1" presStyleIdx="1" presStyleCnt="3">
        <dgm:presLayoutVars>
          <dgm:bulletEnabled val="1"/>
        </dgm:presLayoutVars>
      </dgm:prSet>
      <dgm:spPr/>
    </dgm:pt>
    <dgm:pt modelId="{1D5CCAF9-0E3B-4B2A-923D-662ADD1DADE7}" type="pres">
      <dgm:prSet presAssocID="{0BA8FC4C-6618-459C-8EC4-003671A83DF8}" presName="accent_2" presStyleCnt="0"/>
      <dgm:spPr/>
    </dgm:pt>
    <dgm:pt modelId="{8FE84B77-AF00-4D83-873C-AEF1013B62CA}" type="pres">
      <dgm:prSet presAssocID="{0BA8FC4C-6618-459C-8EC4-003671A83DF8}" presName="accentRepeatNode" presStyleLbl="solidFgAcc1" presStyleIdx="1" presStyleCnt="3"/>
      <dgm:spPr/>
    </dgm:pt>
    <dgm:pt modelId="{DFA14DC3-24CB-463E-8060-99D1E0ACADD5}" type="pres">
      <dgm:prSet presAssocID="{DCB17621-B750-4233-93D5-8DD471B9A52F}" presName="text_3" presStyleLbl="node1" presStyleIdx="2" presStyleCnt="3">
        <dgm:presLayoutVars>
          <dgm:bulletEnabled val="1"/>
        </dgm:presLayoutVars>
      </dgm:prSet>
      <dgm:spPr/>
    </dgm:pt>
    <dgm:pt modelId="{145ACD22-8A64-45A1-82A5-658623B54452}" type="pres">
      <dgm:prSet presAssocID="{DCB17621-B750-4233-93D5-8DD471B9A52F}" presName="accent_3" presStyleCnt="0"/>
      <dgm:spPr/>
    </dgm:pt>
    <dgm:pt modelId="{F350CCB4-85CD-4C0B-A96A-4490F1A8679A}" type="pres">
      <dgm:prSet presAssocID="{DCB17621-B750-4233-93D5-8DD471B9A52F}" presName="accentRepeatNode" presStyleLbl="solidFgAcc1" presStyleIdx="2" presStyleCnt="3"/>
      <dgm:spPr/>
    </dgm:pt>
  </dgm:ptLst>
  <dgm:cxnLst>
    <dgm:cxn modelId="{D5432204-41C3-446F-8ED7-C82587DE3F16}" type="presOf" srcId="{AD1503C0-247F-4E32-8570-FDAEFD9FDEE5}" destId="{4CC039E6-A6BA-423C-80EC-162105A84248}" srcOrd="0" destOrd="0" presId="urn:microsoft.com/office/officeart/2008/layout/VerticalCurvedList"/>
    <dgm:cxn modelId="{D5EDA11B-D36C-4B80-87B0-14A2AB3C4232}" type="presOf" srcId="{0BA8FC4C-6618-459C-8EC4-003671A83DF8}" destId="{831B2A74-9B3F-4886-A231-A320505A56CB}" srcOrd="0" destOrd="0" presId="urn:microsoft.com/office/officeart/2008/layout/VerticalCurvedList"/>
    <dgm:cxn modelId="{4DD9ED31-C989-4A11-AF7B-3F20AF4A258B}" srcId="{EC129B42-756F-43A2-9160-B19B442B57E4}" destId="{F348B879-B233-4D68-A028-9E2B66E914EC}" srcOrd="0" destOrd="0" parTransId="{AD9CDF7B-C5BD-424D-8884-D13C1FF51F1A}" sibTransId="{AD1503C0-247F-4E32-8570-FDAEFD9FDEE5}"/>
    <dgm:cxn modelId="{3E583660-5F02-4C2C-AB47-3C0F5695B0C1}" srcId="{EC129B42-756F-43A2-9160-B19B442B57E4}" destId="{DCB17621-B750-4233-93D5-8DD471B9A52F}" srcOrd="2" destOrd="0" parTransId="{CEEB39C6-9CB6-4FFB-A8EA-592C87EDF93B}" sibTransId="{C782614A-7DE5-4A4C-B4A9-DB178DEEA4EB}"/>
    <dgm:cxn modelId="{C3F08977-4E90-4509-88E1-C949B20483A7}" type="presOf" srcId="{EC129B42-756F-43A2-9160-B19B442B57E4}" destId="{FBDC56CF-4EE9-4574-9894-4CC0E9DB200A}" srcOrd="0" destOrd="0" presId="urn:microsoft.com/office/officeart/2008/layout/VerticalCurvedList"/>
    <dgm:cxn modelId="{1FB00189-C829-423B-9909-FAD56155B787}" srcId="{EC129B42-756F-43A2-9160-B19B442B57E4}" destId="{0BA8FC4C-6618-459C-8EC4-003671A83DF8}" srcOrd="1" destOrd="0" parTransId="{1464EAAD-FB00-4959-BD3C-E1BE2E275B62}" sibTransId="{919F679A-6BA7-49E6-846A-D7C8F21D1530}"/>
    <dgm:cxn modelId="{3101D08D-B048-4D69-B00C-BC6C53BC8040}" type="presOf" srcId="{DCB17621-B750-4233-93D5-8DD471B9A52F}" destId="{DFA14DC3-24CB-463E-8060-99D1E0ACADD5}" srcOrd="0" destOrd="0" presId="urn:microsoft.com/office/officeart/2008/layout/VerticalCurvedList"/>
    <dgm:cxn modelId="{532FA7DB-0572-4367-9CC8-52733706D2BE}" type="presOf" srcId="{F348B879-B233-4D68-A028-9E2B66E914EC}" destId="{6C37BC06-A348-4128-9388-4667755D5A12}" srcOrd="0" destOrd="0" presId="urn:microsoft.com/office/officeart/2008/layout/VerticalCurvedList"/>
    <dgm:cxn modelId="{B7377D16-7011-4185-9654-D899978119E3}" type="presParOf" srcId="{FBDC56CF-4EE9-4574-9894-4CC0E9DB200A}" destId="{040536B5-E70F-4F22-8F09-CEDC6F59AD31}" srcOrd="0" destOrd="0" presId="urn:microsoft.com/office/officeart/2008/layout/VerticalCurvedList"/>
    <dgm:cxn modelId="{6BEB683A-AC06-4CAC-A2AB-B9D9945C33E9}" type="presParOf" srcId="{040536B5-E70F-4F22-8F09-CEDC6F59AD31}" destId="{D665C32B-131F-4BCF-980B-10EB44E880F1}" srcOrd="0" destOrd="0" presId="urn:microsoft.com/office/officeart/2008/layout/VerticalCurvedList"/>
    <dgm:cxn modelId="{595EA509-FFC5-462A-84DC-033D927DE1C6}" type="presParOf" srcId="{D665C32B-131F-4BCF-980B-10EB44E880F1}" destId="{23D1608B-236B-4060-AA11-BA0A14DE8D30}" srcOrd="0" destOrd="0" presId="urn:microsoft.com/office/officeart/2008/layout/VerticalCurvedList"/>
    <dgm:cxn modelId="{811CAB9A-FEEB-4916-A562-AED605E6C23F}" type="presParOf" srcId="{D665C32B-131F-4BCF-980B-10EB44E880F1}" destId="{4CC039E6-A6BA-423C-80EC-162105A84248}" srcOrd="1" destOrd="0" presId="urn:microsoft.com/office/officeart/2008/layout/VerticalCurvedList"/>
    <dgm:cxn modelId="{C2732798-AC6C-4FD4-BA1C-79EA13CD37DD}" type="presParOf" srcId="{D665C32B-131F-4BCF-980B-10EB44E880F1}" destId="{34670B93-E0D5-48DD-B8B3-E39B9177C8CB}" srcOrd="2" destOrd="0" presId="urn:microsoft.com/office/officeart/2008/layout/VerticalCurvedList"/>
    <dgm:cxn modelId="{71467CEA-C23C-462B-BF0B-ACB29A3FAD8B}" type="presParOf" srcId="{D665C32B-131F-4BCF-980B-10EB44E880F1}" destId="{0ED1EFDB-9885-4BBE-8A9F-EE2F739F30F7}" srcOrd="3" destOrd="0" presId="urn:microsoft.com/office/officeart/2008/layout/VerticalCurvedList"/>
    <dgm:cxn modelId="{99E9E2AA-05C9-4134-BE85-535326D96D70}" type="presParOf" srcId="{040536B5-E70F-4F22-8F09-CEDC6F59AD31}" destId="{6C37BC06-A348-4128-9388-4667755D5A12}" srcOrd="1" destOrd="0" presId="urn:microsoft.com/office/officeart/2008/layout/VerticalCurvedList"/>
    <dgm:cxn modelId="{DCC0C2D3-72ED-4A8C-8E8F-107334A61A53}" type="presParOf" srcId="{040536B5-E70F-4F22-8F09-CEDC6F59AD31}" destId="{27D559AF-B170-4BF2-8304-B2398AB79BFF}" srcOrd="2" destOrd="0" presId="urn:microsoft.com/office/officeart/2008/layout/VerticalCurvedList"/>
    <dgm:cxn modelId="{92F87E4A-3247-4ADC-85F1-3494FBC53AE5}" type="presParOf" srcId="{27D559AF-B170-4BF2-8304-B2398AB79BFF}" destId="{9C6863BE-597C-41E0-9606-0C41D03391F1}" srcOrd="0" destOrd="0" presId="urn:microsoft.com/office/officeart/2008/layout/VerticalCurvedList"/>
    <dgm:cxn modelId="{A5BB5488-6FED-4E63-B8F8-33B1076D0CDE}" type="presParOf" srcId="{040536B5-E70F-4F22-8F09-CEDC6F59AD31}" destId="{831B2A74-9B3F-4886-A231-A320505A56CB}" srcOrd="3" destOrd="0" presId="urn:microsoft.com/office/officeart/2008/layout/VerticalCurvedList"/>
    <dgm:cxn modelId="{89CD62E9-DD49-41E3-BA8A-4B0D606D6D2F}" type="presParOf" srcId="{040536B5-E70F-4F22-8F09-CEDC6F59AD31}" destId="{1D5CCAF9-0E3B-4B2A-923D-662ADD1DADE7}" srcOrd="4" destOrd="0" presId="urn:microsoft.com/office/officeart/2008/layout/VerticalCurvedList"/>
    <dgm:cxn modelId="{4C054EA4-C003-42EA-B321-88AECD36BDEE}" type="presParOf" srcId="{1D5CCAF9-0E3B-4B2A-923D-662ADD1DADE7}" destId="{8FE84B77-AF00-4D83-873C-AEF1013B62CA}" srcOrd="0" destOrd="0" presId="urn:microsoft.com/office/officeart/2008/layout/VerticalCurvedList"/>
    <dgm:cxn modelId="{CFF1B311-74A4-46CD-8BA3-6946EE45EE28}" type="presParOf" srcId="{040536B5-E70F-4F22-8F09-CEDC6F59AD31}" destId="{DFA14DC3-24CB-463E-8060-99D1E0ACADD5}" srcOrd="5" destOrd="0" presId="urn:microsoft.com/office/officeart/2008/layout/VerticalCurvedList"/>
    <dgm:cxn modelId="{D89DACF4-D9DF-46B2-A0E0-B02882CBDCAC}" type="presParOf" srcId="{040536B5-E70F-4F22-8F09-CEDC6F59AD31}" destId="{145ACD22-8A64-45A1-82A5-658623B54452}" srcOrd="6" destOrd="0" presId="urn:microsoft.com/office/officeart/2008/layout/VerticalCurvedList"/>
    <dgm:cxn modelId="{4B350AC7-F50B-4305-9F39-C5623C7A769B}" type="presParOf" srcId="{145ACD22-8A64-45A1-82A5-658623B54452}" destId="{F350CCB4-85CD-4C0B-A96A-4490F1A8679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7A5C1D-F1E6-4706-B61A-E1A1F87C42B8}">
      <dsp:nvSpPr>
        <dsp:cNvPr id="0" name=""/>
        <dsp:cNvSpPr/>
      </dsp:nvSpPr>
      <dsp:spPr>
        <a:xfrm>
          <a:off x="2057701" y="549856"/>
          <a:ext cx="728795" cy="1669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142"/>
              </a:lnTo>
              <a:lnTo>
                <a:pt x="728795" y="84142"/>
              </a:lnTo>
              <a:lnTo>
                <a:pt x="728795" y="1669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D61DE0-05F1-4E89-BCB8-EF6CD04D66C8}">
      <dsp:nvSpPr>
        <dsp:cNvPr id="0" name=""/>
        <dsp:cNvSpPr/>
      </dsp:nvSpPr>
      <dsp:spPr>
        <a:xfrm>
          <a:off x="1328906" y="1246849"/>
          <a:ext cx="468768" cy="1669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142"/>
              </a:lnTo>
              <a:lnTo>
                <a:pt x="468768" y="84142"/>
              </a:lnTo>
              <a:lnTo>
                <a:pt x="468768" y="1669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94CA1F-B75C-4E23-86E6-4E80941BC6F8}">
      <dsp:nvSpPr>
        <dsp:cNvPr id="0" name=""/>
        <dsp:cNvSpPr/>
      </dsp:nvSpPr>
      <dsp:spPr>
        <a:xfrm>
          <a:off x="340084" y="1246849"/>
          <a:ext cx="988821" cy="166960"/>
        </a:xfrm>
        <a:custGeom>
          <a:avLst/>
          <a:gdLst/>
          <a:ahLst/>
          <a:cxnLst/>
          <a:rect l="0" t="0" r="0" b="0"/>
          <a:pathLst>
            <a:path>
              <a:moveTo>
                <a:pt x="988821" y="0"/>
              </a:moveTo>
              <a:lnTo>
                <a:pt x="988821" y="84142"/>
              </a:lnTo>
              <a:lnTo>
                <a:pt x="0" y="84142"/>
              </a:lnTo>
              <a:lnTo>
                <a:pt x="0" y="16696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738A1-92A4-4190-894D-741A57B7C8E8}">
      <dsp:nvSpPr>
        <dsp:cNvPr id="0" name=""/>
        <dsp:cNvSpPr/>
      </dsp:nvSpPr>
      <dsp:spPr>
        <a:xfrm>
          <a:off x="1328906" y="549856"/>
          <a:ext cx="728795" cy="166960"/>
        </a:xfrm>
        <a:custGeom>
          <a:avLst/>
          <a:gdLst/>
          <a:ahLst/>
          <a:cxnLst/>
          <a:rect l="0" t="0" r="0" b="0"/>
          <a:pathLst>
            <a:path>
              <a:moveTo>
                <a:pt x="728795" y="0"/>
              </a:moveTo>
              <a:lnTo>
                <a:pt x="728795" y="84142"/>
              </a:lnTo>
              <a:lnTo>
                <a:pt x="0" y="84142"/>
              </a:lnTo>
              <a:lnTo>
                <a:pt x="0" y="1669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12C943-2F29-4162-A287-A931723D1683}">
      <dsp:nvSpPr>
        <dsp:cNvPr id="0" name=""/>
        <dsp:cNvSpPr/>
      </dsp:nvSpPr>
      <dsp:spPr>
        <a:xfrm>
          <a:off x="1792684" y="19824"/>
          <a:ext cx="530032" cy="53003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357AB-8CAA-483B-AA57-9AE6EDA07DB0}">
      <dsp:nvSpPr>
        <dsp:cNvPr id="0" name=""/>
        <dsp:cNvSpPr/>
      </dsp:nvSpPr>
      <dsp:spPr>
        <a:xfrm>
          <a:off x="2322717" y="18498"/>
          <a:ext cx="795049" cy="53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Clients</a:t>
          </a:r>
          <a:endParaRPr lang="en-IN" sz="1000" kern="1200" dirty="0"/>
        </a:p>
      </dsp:txBody>
      <dsp:txXfrm>
        <a:off x="2322717" y="18498"/>
        <a:ext cx="795049" cy="530032"/>
      </dsp:txXfrm>
    </dsp:sp>
    <dsp:sp modelId="{47D65E94-21C3-476A-9B0A-F95829AC1D32}">
      <dsp:nvSpPr>
        <dsp:cNvPr id="0" name=""/>
        <dsp:cNvSpPr/>
      </dsp:nvSpPr>
      <dsp:spPr>
        <a:xfrm>
          <a:off x="1063889" y="716817"/>
          <a:ext cx="530032" cy="53003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9579E-2565-4C55-BE23-BF3B90DC184B}">
      <dsp:nvSpPr>
        <dsp:cNvPr id="0" name=""/>
        <dsp:cNvSpPr/>
      </dsp:nvSpPr>
      <dsp:spPr>
        <a:xfrm>
          <a:off x="1593922" y="715492"/>
          <a:ext cx="795049" cy="53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Business</a:t>
          </a:r>
          <a:endParaRPr lang="en-IN" sz="1000" kern="1200" dirty="0"/>
        </a:p>
      </dsp:txBody>
      <dsp:txXfrm>
        <a:off x="1593922" y="715492"/>
        <a:ext cx="795049" cy="530032"/>
      </dsp:txXfrm>
    </dsp:sp>
    <dsp:sp modelId="{0BE2E253-0017-40BD-9C8B-2742F9CAC256}">
      <dsp:nvSpPr>
        <dsp:cNvPr id="0" name=""/>
        <dsp:cNvSpPr/>
      </dsp:nvSpPr>
      <dsp:spPr>
        <a:xfrm>
          <a:off x="75067" y="1413810"/>
          <a:ext cx="530032" cy="530032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B01D2-96AA-4E16-B695-EE7B9555CDE1}">
      <dsp:nvSpPr>
        <dsp:cNvPr id="0" name=""/>
        <dsp:cNvSpPr/>
      </dsp:nvSpPr>
      <dsp:spPr>
        <a:xfrm>
          <a:off x="605100" y="1412485"/>
          <a:ext cx="795049" cy="53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FMCG</a:t>
          </a:r>
          <a:endParaRPr lang="en-IN" sz="1000" kern="1200" dirty="0"/>
        </a:p>
      </dsp:txBody>
      <dsp:txXfrm>
        <a:off x="605100" y="1412485"/>
        <a:ext cx="795049" cy="530032"/>
      </dsp:txXfrm>
    </dsp:sp>
    <dsp:sp modelId="{4B3330BA-EF05-4DED-9DEE-6C717AEC2610}">
      <dsp:nvSpPr>
        <dsp:cNvPr id="0" name=""/>
        <dsp:cNvSpPr/>
      </dsp:nvSpPr>
      <dsp:spPr>
        <a:xfrm>
          <a:off x="1532658" y="1413810"/>
          <a:ext cx="530032" cy="530032"/>
        </a:xfrm>
        <a:prstGeom prst="ellipse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D393D-2374-4F9E-9360-FDA736BF9355}">
      <dsp:nvSpPr>
        <dsp:cNvPr id="0" name=""/>
        <dsp:cNvSpPr/>
      </dsp:nvSpPr>
      <dsp:spPr>
        <a:xfrm>
          <a:off x="2086473" y="1432309"/>
          <a:ext cx="1835156" cy="53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Logistics 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&amp; E-commerce</a:t>
          </a:r>
          <a:endParaRPr lang="en-IN" sz="1000" kern="1200" dirty="0"/>
        </a:p>
      </dsp:txBody>
      <dsp:txXfrm>
        <a:off x="2086473" y="1432309"/>
        <a:ext cx="1835156" cy="530032"/>
      </dsp:txXfrm>
    </dsp:sp>
    <dsp:sp modelId="{E5305878-ACCA-4E78-8BF2-73E8D7D74C61}">
      <dsp:nvSpPr>
        <dsp:cNvPr id="0" name=""/>
        <dsp:cNvSpPr/>
      </dsp:nvSpPr>
      <dsp:spPr>
        <a:xfrm>
          <a:off x="2521480" y="716817"/>
          <a:ext cx="530032" cy="530032"/>
        </a:xfrm>
        <a:prstGeom prst="ellipse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 l="-2000" r="-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F95C7-F961-4F32-B37B-8524D98D8571}">
      <dsp:nvSpPr>
        <dsp:cNvPr id="0" name=""/>
        <dsp:cNvSpPr/>
      </dsp:nvSpPr>
      <dsp:spPr>
        <a:xfrm>
          <a:off x="3051512" y="715492"/>
          <a:ext cx="795049" cy="53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Government </a:t>
          </a:r>
          <a:endParaRPr lang="en-IN" sz="1000" kern="1200" dirty="0"/>
        </a:p>
      </dsp:txBody>
      <dsp:txXfrm>
        <a:off x="3051512" y="715492"/>
        <a:ext cx="795049" cy="5300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095844-C57B-4778-BEB7-C0223BF13022}">
      <dsp:nvSpPr>
        <dsp:cNvPr id="0" name=""/>
        <dsp:cNvSpPr/>
      </dsp:nvSpPr>
      <dsp:spPr>
        <a:xfrm rot="1376237">
          <a:off x="459575" y="894921"/>
          <a:ext cx="795332" cy="79545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D0303C3-1C7E-4CEF-9677-D8315F85C3C8}">
      <dsp:nvSpPr>
        <dsp:cNvPr id="0" name=""/>
        <dsp:cNvSpPr/>
      </dsp:nvSpPr>
      <dsp:spPr>
        <a:xfrm>
          <a:off x="635370" y="1182104"/>
          <a:ext cx="441951" cy="220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Suppliers</a:t>
          </a:r>
          <a:endParaRPr lang="en-IN" sz="800" kern="1200" dirty="0"/>
        </a:p>
      </dsp:txBody>
      <dsp:txXfrm>
        <a:off x="635370" y="1182104"/>
        <a:ext cx="441951" cy="220922"/>
      </dsp:txXfrm>
    </dsp:sp>
    <dsp:sp modelId="{224F4D59-10D9-4CE8-973B-17DE4EBA1DDD}">
      <dsp:nvSpPr>
        <dsp:cNvPr id="0" name=""/>
        <dsp:cNvSpPr/>
      </dsp:nvSpPr>
      <dsp:spPr>
        <a:xfrm>
          <a:off x="238674" y="1351968"/>
          <a:ext cx="795332" cy="79545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319796A-253B-4F07-B20C-2F039ED51031}">
      <dsp:nvSpPr>
        <dsp:cNvPr id="0" name=""/>
        <dsp:cNvSpPr/>
      </dsp:nvSpPr>
      <dsp:spPr>
        <a:xfrm>
          <a:off x="415365" y="1641795"/>
          <a:ext cx="441951" cy="220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EcoWrap</a:t>
          </a:r>
          <a:endParaRPr lang="en-IN" sz="800" kern="1200" dirty="0"/>
        </a:p>
      </dsp:txBody>
      <dsp:txXfrm>
        <a:off x="415365" y="1641795"/>
        <a:ext cx="441951" cy="220922"/>
      </dsp:txXfrm>
    </dsp:sp>
    <dsp:sp modelId="{42D4CB03-BB8A-4156-ACCD-D40CE7FB4F95}">
      <dsp:nvSpPr>
        <dsp:cNvPr id="0" name=""/>
        <dsp:cNvSpPr/>
      </dsp:nvSpPr>
      <dsp:spPr>
        <a:xfrm>
          <a:off x="516182" y="1863709"/>
          <a:ext cx="683314" cy="68358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DD95B0-EEC2-43A1-A06C-409D0ECD19D6}">
      <dsp:nvSpPr>
        <dsp:cNvPr id="0" name=""/>
        <dsp:cNvSpPr/>
      </dsp:nvSpPr>
      <dsp:spPr>
        <a:xfrm>
          <a:off x="636415" y="2102147"/>
          <a:ext cx="441951" cy="220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Business</a:t>
          </a:r>
          <a:endParaRPr lang="en-IN" sz="800" kern="1200" dirty="0"/>
        </a:p>
      </dsp:txBody>
      <dsp:txXfrm>
        <a:off x="636415" y="2102147"/>
        <a:ext cx="441951" cy="2209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C039E6-A6BA-423C-80EC-162105A84248}">
      <dsp:nvSpPr>
        <dsp:cNvPr id="0" name=""/>
        <dsp:cNvSpPr/>
      </dsp:nvSpPr>
      <dsp:spPr>
        <a:xfrm>
          <a:off x="-2120985" y="-328393"/>
          <a:ext cx="2534654" cy="2534654"/>
        </a:xfrm>
        <a:prstGeom prst="blockArc">
          <a:avLst>
            <a:gd name="adj1" fmla="val 18900000"/>
            <a:gd name="adj2" fmla="val 2700000"/>
            <a:gd name="adj3" fmla="val 852"/>
          </a:avLst>
        </a:prstGeom>
        <a:noFill/>
        <a:ln w="1905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37BC06-A348-4128-9388-4667755D5A12}">
      <dsp:nvSpPr>
        <dsp:cNvPr id="0" name=""/>
        <dsp:cNvSpPr/>
      </dsp:nvSpPr>
      <dsp:spPr>
        <a:xfrm>
          <a:off x="265903" y="187786"/>
          <a:ext cx="2722600" cy="375573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9811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Currency Diversification:</a:t>
          </a:r>
          <a:endParaRPr lang="en-IN" sz="1200" kern="1200" dirty="0"/>
        </a:p>
      </dsp:txBody>
      <dsp:txXfrm>
        <a:off x="265903" y="187786"/>
        <a:ext cx="2722600" cy="375573"/>
      </dsp:txXfrm>
    </dsp:sp>
    <dsp:sp modelId="{9C6863BE-597C-41E0-9606-0C41D03391F1}">
      <dsp:nvSpPr>
        <dsp:cNvPr id="0" name=""/>
        <dsp:cNvSpPr/>
      </dsp:nvSpPr>
      <dsp:spPr>
        <a:xfrm>
          <a:off x="31170" y="140840"/>
          <a:ext cx="469467" cy="46946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1B2A74-9B3F-4886-A231-A320505A56CB}">
      <dsp:nvSpPr>
        <dsp:cNvPr id="0" name=""/>
        <dsp:cNvSpPr/>
      </dsp:nvSpPr>
      <dsp:spPr>
        <a:xfrm>
          <a:off x="402424" y="751147"/>
          <a:ext cx="2586079" cy="375573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406356"/>
                <a:satOff val="-23479"/>
                <a:lumOff val="324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shade val="50000"/>
                <a:hueOff val="406356"/>
                <a:satOff val="-23479"/>
                <a:lumOff val="324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50000"/>
                <a:hueOff val="406356"/>
                <a:satOff val="-23479"/>
                <a:lumOff val="324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9811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Natural Hedging:</a:t>
          </a:r>
          <a:endParaRPr lang="en-IN" sz="1200" kern="1200" dirty="0"/>
        </a:p>
      </dsp:txBody>
      <dsp:txXfrm>
        <a:off x="402424" y="751147"/>
        <a:ext cx="2586079" cy="375573"/>
      </dsp:txXfrm>
    </dsp:sp>
    <dsp:sp modelId="{8FE84B77-AF00-4D83-873C-AEF1013B62CA}">
      <dsp:nvSpPr>
        <dsp:cNvPr id="0" name=""/>
        <dsp:cNvSpPr/>
      </dsp:nvSpPr>
      <dsp:spPr>
        <a:xfrm>
          <a:off x="167691" y="704200"/>
          <a:ext cx="469467" cy="46946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406356"/>
              <a:satOff val="-23479"/>
              <a:lumOff val="3248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FA14DC3-24CB-463E-8060-99D1E0ACADD5}">
      <dsp:nvSpPr>
        <dsp:cNvPr id="0" name=""/>
        <dsp:cNvSpPr/>
      </dsp:nvSpPr>
      <dsp:spPr>
        <a:xfrm>
          <a:off x="265903" y="1314507"/>
          <a:ext cx="2722600" cy="375573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406356"/>
                <a:satOff val="-23479"/>
                <a:lumOff val="324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shade val="50000"/>
                <a:hueOff val="406356"/>
                <a:satOff val="-23479"/>
                <a:lumOff val="324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shade val="50000"/>
                <a:hueOff val="406356"/>
                <a:satOff val="-23479"/>
                <a:lumOff val="324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9811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Forward Contracts:</a:t>
          </a:r>
          <a:endParaRPr lang="en-IN" sz="1200" b="0" i="0" kern="1200"/>
        </a:p>
      </dsp:txBody>
      <dsp:txXfrm>
        <a:off x="265903" y="1314507"/>
        <a:ext cx="2722600" cy="375573"/>
      </dsp:txXfrm>
    </dsp:sp>
    <dsp:sp modelId="{F350CCB4-85CD-4C0B-A96A-4490F1A8679A}">
      <dsp:nvSpPr>
        <dsp:cNvPr id="0" name=""/>
        <dsp:cNvSpPr/>
      </dsp:nvSpPr>
      <dsp:spPr>
        <a:xfrm>
          <a:off x="31170" y="1267560"/>
          <a:ext cx="469467" cy="46946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406356"/>
              <a:satOff val="-23479"/>
              <a:lumOff val="3248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5C8B-05AB-A949-8F71-A56B5830C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B2F9B-AFA1-103B-4C1A-EFA96FBF4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7C8A3-292A-B3F6-7206-4B36EDD2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8B3E-DEC9-5C60-B6EB-BC9DA346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A9DC7-7DC4-4996-B8A0-50580256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916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821-BF52-0AAE-553D-B48348DA2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DFDFD-38E6-4C36-09EE-DD470B6D8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FA119-B8FB-7B7A-4F4E-C4C964E7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D4504-7E2F-7066-2C1C-3C45E420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79E7E-99C6-7EB3-D72C-4774F8E3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68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627F-35D6-DBC8-5861-87E2DBDB9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21AD3-9524-2552-CDCC-26F57F577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5BB34-D584-DE44-A9E2-58759917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778A8-984B-A916-2141-8E197493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CBA2E-7396-8B6C-6EC5-E80866C9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7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22AF-95F2-9CF6-1959-A8FA1021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CC50B-0289-A4C6-1135-A5B1D0131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58D50-5DA3-7FCC-C3E2-35E026FB7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E6E71-9FEF-6D4A-4836-6DBC37021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5F21C-959E-F3D9-CC3F-3259C5AEC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92CA8-EC0D-84B7-499C-B69B8729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06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7898F-A053-9A71-992D-0D7752542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2520F-04F8-82FC-7C48-A74F27AB2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27034-C7BE-E4BD-7E9E-2D3ABEAA2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529ED9-2C75-3B2A-D2C6-BDD0F83BC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7E1CA-5692-75EB-32B9-95D16979A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07F823-C47A-970F-F74C-DE6254AF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5A7AE-8C5B-E910-32F2-BB80A2D9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2D04B-EB89-4C9C-4EC0-10D5F4D9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80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4BCC-BC23-3F26-4299-D8A5FF22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9B583-AE16-54DA-CCBD-1159D363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EDF24-EF8B-6A49-F9E7-420125F3E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4378A-0D97-1753-6623-F683C68B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62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56CE2-DA90-EBEF-72F3-8B44A868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D5392-3337-8EC1-8A28-58B5044E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34024-866A-D4E1-D726-FF06E79C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380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C7C7-ACE0-AD41-EC6B-822D27C28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02B50-8E61-9D73-0C02-44C479044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5549F-4672-5B4F-1F9F-79AA969D5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DF6F6-D237-3216-195C-AA6EDBAE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FF1AC-52D4-1F4D-2E27-01F0174AF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3EDC4-48E0-3133-72CD-CCF71DAA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64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04E2-4B8A-B9B7-9968-425154C30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A59F-C43D-C354-085B-D1A88E49B9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3BDC5-6B68-8A49-E09B-3F7562F6A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D6A60-15DF-49AE-664B-4277A2FB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E63E5-9CE9-1815-3A05-8F060887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D50B0-61E3-8D89-AAC5-F565BA4B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296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A208-8888-4A3D-EB66-CE2B31F9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CB4E5-C24C-C372-32F3-D3E7FA6BE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3FCD4-CFE1-971D-B2F2-A3CCB105E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B0EAC-56F0-F86D-0E75-E2C90A53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95CF9-5F1B-3850-16DA-E39101D72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33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F8807-1EAB-E8EE-AF31-6F0B3ADB7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E8581-D4A8-F599-F068-4E816023E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F4935-6FA6-8E83-A690-A07648899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CF44D-00B4-DBD4-DAA4-44F9A8A0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3490C-D77F-062F-182D-59BE9EDB2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0912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EAE08-7331-6953-2B20-2BD7CAFB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1CF4E-CE5A-9CE7-8853-716111E77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382AD-1633-77D9-7383-6A3A7DC66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4274E-AB2C-49FE-83D6-8D3E3140A4CB}" type="datetimeFigureOut">
              <a:rPr lang="en-IN" smtClean="0"/>
              <a:t>25-04-2024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FFA07-30AE-27B9-9524-37FB98E3B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D0D7D-346F-C545-FACF-F314F033C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92911-5C4F-4BC7-9F1F-3DD4DDE136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www.vcbay.news/2021/07/12/indian-e-commerce-giant-flipkart-raises-pre-ipo-round-of-us-3-6-billion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0.pn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https://www.techstagram.com/2015/07/07/amazon-cloud-drive/" TargetMode="External"/><Relationship Id="rId5" Type="http://schemas.openxmlformats.org/officeDocument/2006/relationships/image" Target="../media/image4.svg"/><Relationship Id="rId1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hyperlink" Target="https://creativecommons.org/licenses/by-nc-nd/3.0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30.jpe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microsoft.com/office/2007/relationships/diagramDrawing" Target="../diagrams/drawing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diagramColors" Target="../diagrams/colors3.xml"/><Relationship Id="rId5" Type="http://schemas.openxmlformats.org/officeDocument/2006/relationships/image" Target="../media/image27.png"/><Relationship Id="rId10" Type="http://schemas.openxmlformats.org/officeDocument/2006/relationships/diagramQuickStyle" Target="../diagrams/quickStyle3.xml"/><Relationship Id="rId4" Type="http://schemas.openxmlformats.org/officeDocument/2006/relationships/image" Target="../media/image26.png"/><Relationship Id="rId9" Type="http://schemas.openxmlformats.org/officeDocument/2006/relationships/diagramLayout" Target="../diagrams/layout3.xml"/><Relationship Id="rId14" Type="http://schemas.openxmlformats.org/officeDocument/2006/relationships/hyperlink" Target="https://foto.wuestenigel.com/white-cubes-with-profit-letters-on-financial-docum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E17C14-0556-28DA-DFFF-6C5E27957591}"/>
              </a:ext>
            </a:extLst>
          </p:cNvPr>
          <p:cNvSpPr/>
          <p:nvPr/>
        </p:nvSpPr>
        <p:spPr>
          <a:xfrm>
            <a:off x="0" y="6466114"/>
            <a:ext cx="12192000" cy="391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CE3D9A-9008-B058-A715-BA862E0651A4}"/>
              </a:ext>
            </a:extLst>
          </p:cNvPr>
          <p:cNvGrpSpPr/>
          <p:nvPr/>
        </p:nvGrpSpPr>
        <p:grpSpPr>
          <a:xfrm>
            <a:off x="111323" y="1918445"/>
            <a:ext cx="1346552" cy="1200269"/>
            <a:chOff x="533281" y="1306243"/>
            <a:chExt cx="2331347" cy="2029297"/>
          </a:xfrm>
        </p:grpSpPr>
        <p:pic>
          <p:nvPicPr>
            <p:cNvPr id="6" name="Graphic 5" descr="North America with solid fill">
              <a:extLst>
                <a:ext uri="{FF2B5EF4-FFF2-40B4-BE49-F238E27FC236}">
                  <a16:creationId xmlns:a16="http://schemas.microsoft.com/office/drawing/2014/main" id="{5ACB000D-C1E1-BD7B-9604-8AB0DD5CE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3281" y="1306243"/>
              <a:ext cx="1919543" cy="1919543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C6B81F-D1BC-9234-0E2B-9E25BEC17314}"/>
                </a:ext>
              </a:extLst>
            </p:cNvPr>
            <p:cNvSpPr txBox="1"/>
            <p:nvPr/>
          </p:nvSpPr>
          <p:spPr>
            <a:xfrm>
              <a:off x="838065" y="2815181"/>
              <a:ext cx="2026563" cy="520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$ </a:t>
              </a:r>
              <a:r>
                <a:rPr lang="en-US" sz="1200" dirty="0"/>
                <a:t>208.3</a:t>
              </a:r>
              <a:r>
                <a:rPr lang="en-US" sz="1400" dirty="0"/>
                <a:t> </a:t>
              </a:r>
              <a:r>
                <a:rPr lang="en-US" sz="1200" dirty="0"/>
                <a:t>Million</a:t>
              </a:r>
              <a:endParaRPr lang="en-IN" sz="12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A5C9F05-6EA7-B6B1-EEF4-EAA210F7FDBA}"/>
              </a:ext>
            </a:extLst>
          </p:cNvPr>
          <p:cNvSpPr txBox="1"/>
          <p:nvPr/>
        </p:nvSpPr>
        <p:spPr>
          <a:xfrm>
            <a:off x="5109843" y="633746"/>
            <a:ext cx="2066400" cy="369332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63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Situation Analysis</a:t>
            </a:r>
            <a:endParaRPr lang="en-IN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9C4F5A-E8A4-61CA-2F6F-2A1BE0B3C48B}"/>
              </a:ext>
            </a:extLst>
          </p:cNvPr>
          <p:cNvCxnSpPr/>
          <p:nvPr/>
        </p:nvCxnSpPr>
        <p:spPr>
          <a:xfrm>
            <a:off x="3842657" y="1201175"/>
            <a:ext cx="0" cy="52649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55928B-57C1-283C-2578-BC9721ECDA41}"/>
              </a:ext>
            </a:extLst>
          </p:cNvPr>
          <p:cNvSpPr txBox="1"/>
          <p:nvPr/>
        </p:nvSpPr>
        <p:spPr>
          <a:xfrm>
            <a:off x="503477" y="1468901"/>
            <a:ext cx="3622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EcoWrap</a:t>
            </a:r>
            <a:r>
              <a:rPr lang="en-US" sz="1200" dirty="0"/>
              <a:t> is one of the leading sustainable packaging solution provider in North America.</a:t>
            </a:r>
            <a:endParaRPr lang="en-IN" sz="1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0C21CC1-C3B4-42DA-373A-423727F7CBA5}"/>
              </a:ext>
            </a:extLst>
          </p:cNvPr>
          <p:cNvGrpSpPr/>
          <p:nvPr/>
        </p:nvGrpSpPr>
        <p:grpSpPr>
          <a:xfrm>
            <a:off x="1396062" y="2148668"/>
            <a:ext cx="1413207" cy="961044"/>
            <a:chOff x="1395374" y="2126892"/>
            <a:chExt cx="1413207" cy="961044"/>
          </a:xfrm>
        </p:grpSpPr>
        <p:pic>
          <p:nvPicPr>
            <p:cNvPr id="18" name="Graphic 17" descr="Upward trend outline">
              <a:extLst>
                <a:ext uri="{FF2B5EF4-FFF2-40B4-BE49-F238E27FC236}">
                  <a16:creationId xmlns:a16="http://schemas.microsoft.com/office/drawing/2014/main" id="{65709DCA-DE23-EABE-0890-F9046ACE1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07385" y="2126892"/>
              <a:ext cx="718457" cy="718457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1B1401-808B-122C-AED8-9F35FFC24A83}"/>
                </a:ext>
              </a:extLst>
            </p:cNvPr>
            <p:cNvSpPr txBox="1"/>
            <p:nvPr/>
          </p:nvSpPr>
          <p:spPr>
            <a:xfrm>
              <a:off x="1395374" y="2810937"/>
              <a:ext cx="14132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12 % Market Share</a:t>
              </a:r>
              <a:endParaRPr lang="en-IN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81AA15E-E376-A032-8503-E8E188858885}"/>
              </a:ext>
            </a:extLst>
          </p:cNvPr>
          <p:cNvGrpSpPr/>
          <p:nvPr/>
        </p:nvGrpSpPr>
        <p:grpSpPr>
          <a:xfrm>
            <a:off x="2798960" y="2093044"/>
            <a:ext cx="1054006" cy="1025670"/>
            <a:chOff x="2712364" y="2089442"/>
            <a:chExt cx="1054006" cy="1025670"/>
          </a:xfrm>
        </p:grpSpPr>
        <p:pic>
          <p:nvPicPr>
            <p:cNvPr id="25" name="Graphic 24" descr="Podium with solid fill">
              <a:extLst>
                <a:ext uri="{FF2B5EF4-FFF2-40B4-BE49-F238E27FC236}">
                  <a16:creationId xmlns:a16="http://schemas.microsoft.com/office/drawing/2014/main" id="{8BEBD8B7-D232-F572-19C3-3F10E20E2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78772" y="2089442"/>
              <a:ext cx="814762" cy="814762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6A70CBF-707F-0D26-1FEA-B72B0B4A2733}"/>
                </a:ext>
              </a:extLst>
            </p:cNvPr>
            <p:cNvSpPr txBox="1"/>
            <p:nvPr/>
          </p:nvSpPr>
          <p:spPr>
            <a:xfrm>
              <a:off x="2712364" y="2838113"/>
              <a:ext cx="10540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Top 03 player</a:t>
              </a:r>
              <a:endParaRPr lang="en-IN" sz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B5BB8AD-0EED-679C-2146-B5B47238E08D}"/>
              </a:ext>
            </a:extLst>
          </p:cNvPr>
          <p:cNvGrpSpPr/>
          <p:nvPr/>
        </p:nvGrpSpPr>
        <p:grpSpPr>
          <a:xfrm>
            <a:off x="424543" y="3320902"/>
            <a:ext cx="3248312" cy="1142241"/>
            <a:chOff x="424543" y="3320902"/>
            <a:chExt cx="3248312" cy="11422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D3F78B-4480-0F56-32FD-5BE8316BBF0E}"/>
                </a:ext>
              </a:extLst>
            </p:cNvPr>
            <p:cNvSpPr txBox="1"/>
            <p:nvPr/>
          </p:nvSpPr>
          <p:spPr>
            <a:xfrm>
              <a:off x="1236622" y="3320902"/>
              <a:ext cx="13694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Product Portfolio</a:t>
              </a:r>
              <a:endParaRPr lang="en-IN" sz="1200" b="1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C368C23-0B79-D001-D5AF-CB9F9CEA5BB5}"/>
                </a:ext>
              </a:extLst>
            </p:cNvPr>
            <p:cNvGrpSpPr/>
            <p:nvPr/>
          </p:nvGrpSpPr>
          <p:grpSpPr>
            <a:xfrm>
              <a:off x="424543" y="3739287"/>
              <a:ext cx="3248312" cy="723856"/>
              <a:chOff x="424543" y="3739287"/>
              <a:chExt cx="3248312" cy="723856"/>
            </a:xfrm>
            <a:effectLst>
              <a:reflection blurRad="6350" stA="52000" endA="300" endPos="35000" dir="5400000" sy="-100000" algn="bl" rotWithShape="0"/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D0E8BC5-DAB3-1157-BE93-EFCE57A49FBE}"/>
                  </a:ext>
                </a:extLst>
              </p:cNvPr>
              <p:cNvSpPr/>
              <p:nvPr/>
            </p:nvSpPr>
            <p:spPr>
              <a:xfrm>
                <a:off x="424543" y="3748289"/>
                <a:ext cx="971515" cy="714854"/>
              </a:xfrm>
              <a:prstGeom prst="rect">
                <a:avLst/>
              </a:prstGeom>
              <a:ln>
                <a:noFill/>
              </a:ln>
              <a:effectLst/>
              <a:sp3d>
                <a:bevelT w="139700" h="139700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</a:rPr>
                  <a:t>Biodegradable</a:t>
                </a:r>
                <a:endParaRPr lang="en-IN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8B71459-A16F-3BB1-B1B5-519B79BA1B87}"/>
                  </a:ext>
                </a:extLst>
              </p:cNvPr>
              <p:cNvSpPr/>
              <p:nvPr/>
            </p:nvSpPr>
            <p:spPr>
              <a:xfrm>
                <a:off x="1558585" y="3748289"/>
                <a:ext cx="971515" cy="714854"/>
              </a:xfrm>
              <a:prstGeom prst="rect">
                <a:avLst/>
              </a:prstGeom>
              <a:ln>
                <a:noFill/>
              </a:ln>
              <a:effectLst/>
              <a:sp3d>
                <a:bevelT w="139700" h="139700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</a:rPr>
                  <a:t>Compostable</a:t>
                </a:r>
                <a:endParaRPr lang="en-IN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E2CCF69-65E6-D465-552F-745E864E95BF}"/>
                  </a:ext>
                </a:extLst>
              </p:cNvPr>
              <p:cNvSpPr/>
              <p:nvPr/>
            </p:nvSpPr>
            <p:spPr>
              <a:xfrm>
                <a:off x="2701340" y="3739287"/>
                <a:ext cx="971515" cy="714854"/>
              </a:xfrm>
              <a:prstGeom prst="rect">
                <a:avLst/>
              </a:prstGeom>
              <a:ln>
                <a:noFill/>
              </a:ln>
              <a:effectLst/>
              <a:sp3d>
                <a:bevelT w="139700" h="139700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</a:rPr>
                  <a:t>Recycle</a:t>
                </a:r>
                <a:endParaRPr lang="en-IN" sz="9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D34935B-0F04-A5A0-EAAA-CB514642A29E}"/>
              </a:ext>
            </a:extLst>
          </p:cNvPr>
          <p:cNvGrpSpPr/>
          <p:nvPr/>
        </p:nvGrpSpPr>
        <p:grpSpPr>
          <a:xfrm>
            <a:off x="416082" y="4924234"/>
            <a:ext cx="3248312" cy="1114679"/>
            <a:chOff x="424543" y="3348464"/>
            <a:chExt cx="3248312" cy="111467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DC8B7C-8525-0A54-4AD5-C045EFB32C09}"/>
                </a:ext>
              </a:extLst>
            </p:cNvPr>
            <p:cNvSpPr txBox="1"/>
            <p:nvPr/>
          </p:nvSpPr>
          <p:spPr>
            <a:xfrm>
              <a:off x="1428203" y="3348464"/>
              <a:ext cx="8951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Industries</a:t>
              </a:r>
              <a:endParaRPr lang="en-IN" sz="1200" b="1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DF3D1DE-1CC7-A703-97B9-E74E820F0E2B}"/>
                </a:ext>
              </a:extLst>
            </p:cNvPr>
            <p:cNvGrpSpPr/>
            <p:nvPr/>
          </p:nvGrpSpPr>
          <p:grpSpPr>
            <a:xfrm>
              <a:off x="424543" y="3739287"/>
              <a:ext cx="3248312" cy="723856"/>
              <a:chOff x="424543" y="3739287"/>
              <a:chExt cx="3248312" cy="723856"/>
            </a:xfrm>
            <a:effectLst>
              <a:reflection blurRad="6350" stA="52000" endA="300" endPos="35000" dir="5400000" sy="-100000" algn="bl" rotWithShape="0"/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331F245-4142-438C-F054-BBCF9237C554}"/>
                  </a:ext>
                </a:extLst>
              </p:cNvPr>
              <p:cNvSpPr/>
              <p:nvPr/>
            </p:nvSpPr>
            <p:spPr>
              <a:xfrm>
                <a:off x="424543" y="3748289"/>
                <a:ext cx="971515" cy="714854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</a:rPr>
                  <a:t>Food &amp; Beverage</a:t>
                </a:r>
                <a:endParaRPr lang="en-IN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A72A82C-1F36-7654-A9D9-0908E5862CBD}"/>
                  </a:ext>
                </a:extLst>
              </p:cNvPr>
              <p:cNvSpPr/>
              <p:nvPr/>
            </p:nvSpPr>
            <p:spPr>
              <a:xfrm>
                <a:off x="1558585" y="3748289"/>
                <a:ext cx="971515" cy="714854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</a:rPr>
                  <a:t>Pharma &amp; Consumer Goods</a:t>
                </a:r>
                <a:endParaRPr lang="en-IN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E5E32E6-B13A-610D-8C06-2905C69A4590}"/>
                  </a:ext>
                </a:extLst>
              </p:cNvPr>
              <p:cNvSpPr/>
              <p:nvPr/>
            </p:nvSpPr>
            <p:spPr>
              <a:xfrm>
                <a:off x="2701340" y="3739287"/>
                <a:ext cx="971515" cy="714854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</a:rPr>
                  <a:t>Cosmetics</a:t>
                </a:r>
                <a:endParaRPr lang="en-IN" sz="9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5EBDF0B-48BA-837D-76AD-6FFCE464D33D}"/>
              </a:ext>
            </a:extLst>
          </p:cNvPr>
          <p:cNvGrpSpPr/>
          <p:nvPr/>
        </p:nvGrpSpPr>
        <p:grpSpPr>
          <a:xfrm>
            <a:off x="3988541" y="1844413"/>
            <a:ext cx="3154337" cy="1542720"/>
            <a:chOff x="3988541" y="1844413"/>
            <a:chExt cx="3154337" cy="154272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6E4ABEC-5ED1-9DEE-453E-86162BCE4964}"/>
                </a:ext>
              </a:extLst>
            </p:cNvPr>
            <p:cNvGrpSpPr/>
            <p:nvPr/>
          </p:nvGrpSpPr>
          <p:grpSpPr>
            <a:xfrm>
              <a:off x="3988541" y="1844413"/>
              <a:ext cx="3154337" cy="1312023"/>
              <a:chOff x="4143806" y="1850899"/>
              <a:chExt cx="3154337" cy="1312023"/>
            </a:xfrm>
          </p:grpSpPr>
          <p:pic>
            <p:nvPicPr>
              <p:cNvPr id="1026" name="Picture 2" descr="Image">
                <a:extLst>
                  <a:ext uri="{FF2B5EF4-FFF2-40B4-BE49-F238E27FC236}">
                    <a16:creationId xmlns:a16="http://schemas.microsoft.com/office/drawing/2014/main" id="{9D43A044-19BC-B204-D07E-FFADB8CA8F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43806" y="1850899"/>
                <a:ext cx="1299052" cy="12990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Southern &amp; Southeastern Asia map">
                <a:extLst>
                  <a:ext uri="{FF2B5EF4-FFF2-40B4-BE49-F238E27FC236}">
                    <a16:creationId xmlns:a16="http://schemas.microsoft.com/office/drawing/2014/main" id="{DB09961B-8AB9-22AB-3299-2CFBC3B407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47340" y="1850899"/>
                <a:ext cx="1850803" cy="13120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ED68249-43B3-05C0-74D5-BFE28E4E034D}"/>
                </a:ext>
              </a:extLst>
            </p:cNvPr>
            <p:cNvSpPr txBox="1"/>
            <p:nvPr/>
          </p:nvSpPr>
          <p:spPr>
            <a:xfrm>
              <a:off x="4411881" y="3110134"/>
              <a:ext cx="17407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South &amp; Southeast Asia</a:t>
              </a:r>
              <a:endParaRPr lang="en-IN" sz="1200" dirty="0"/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163639B-6E03-BC98-814C-45C960AA8C12}"/>
              </a:ext>
            </a:extLst>
          </p:cNvPr>
          <p:cNvCxnSpPr>
            <a:cxnSpLocks/>
          </p:cNvCxnSpPr>
          <p:nvPr/>
        </p:nvCxnSpPr>
        <p:spPr>
          <a:xfrm flipH="1">
            <a:off x="3851118" y="3621124"/>
            <a:ext cx="8340882" cy="1938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E6109112-99BF-90A1-0019-D0DDD1609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474090"/>
              </p:ext>
            </p:extLst>
          </p:nvPr>
        </p:nvGraphicFramePr>
        <p:xfrm>
          <a:off x="6871251" y="3217939"/>
          <a:ext cx="3725976" cy="274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62988">
                  <a:extLst>
                    <a:ext uri="{9D8B030D-6E8A-4147-A177-3AD203B41FA5}">
                      <a16:colId xmlns:a16="http://schemas.microsoft.com/office/drawing/2014/main" val="3986502195"/>
                    </a:ext>
                  </a:extLst>
                </a:gridCol>
                <a:gridCol w="1862988">
                  <a:extLst>
                    <a:ext uri="{9D8B030D-6E8A-4147-A177-3AD203B41FA5}">
                      <a16:colId xmlns:a16="http://schemas.microsoft.com/office/drawing/2014/main" val="3368660326"/>
                    </a:ext>
                  </a:extLst>
                </a:gridCol>
              </a:tblGrid>
              <a:tr h="191977">
                <a:tc>
                  <a:txBody>
                    <a:bodyPr/>
                    <a:lstStyle/>
                    <a:p>
                      <a:r>
                        <a:rPr lang="en-US" sz="1200" b="0" dirty="0"/>
                        <a:t>Favorable Regulations  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 Consumer Preferences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18507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6C45086E-4E5F-6FEA-B40D-D7162FE8104C}"/>
              </a:ext>
            </a:extLst>
          </p:cNvPr>
          <p:cNvGrpSpPr/>
          <p:nvPr/>
        </p:nvGrpSpPr>
        <p:grpSpPr>
          <a:xfrm>
            <a:off x="7759731" y="1908038"/>
            <a:ext cx="1638673" cy="1271347"/>
            <a:chOff x="7759731" y="1908038"/>
            <a:chExt cx="1638673" cy="1271347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8D31D3-6740-C182-F62A-569A0AEF389A}"/>
                </a:ext>
              </a:extLst>
            </p:cNvPr>
            <p:cNvSpPr/>
            <p:nvPr/>
          </p:nvSpPr>
          <p:spPr>
            <a:xfrm>
              <a:off x="7759732" y="1908038"/>
              <a:ext cx="1638672" cy="72371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Market Characteristics</a:t>
              </a:r>
              <a:endParaRPr lang="en-IN" sz="1200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FF35814-8CAF-3566-AD1B-0108128DD19F}"/>
                </a:ext>
              </a:extLst>
            </p:cNvPr>
            <p:cNvSpPr/>
            <p:nvPr/>
          </p:nvSpPr>
          <p:spPr>
            <a:xfrm>
              <a:off x="7759731" y="2647489"/>
              <a:ext cx="1633309" cy="531896"/>
            </a:xfrm>
            <a:custGeom>
              <a:avLst/>
              <a:gdLst>
                <a:gd name="connsiteX0" fmla="*/ 0 w 1643743"/>
                <a:gd name="connsiteY0" fmla="*/ 359228 h 359228"/>
                <a:gd name="connsiteX1" fmla="*/ 859972 w 1643743"/>
                <a:gd name="connsiteY1" fmla="*/ 0 h 359228"/>
                <a:gd name="connsiteX2" fmla="*/ 859972 w 1643743"/>
                <a:gd name="connsiteY2" fmla="*/ 0 h 359228"/>
                <a:gd name="connsiteX3" fmla="*/ 1643743 w 1643743"/>
                <a:gd name="connsiteY3" fmla="*/ 326571 h 359228"/>
                <a:gd name="connsiteX4" fmla="*/ 1643743 w 1643743"/>
                <a:gd name="connsiteY4" fmla="*/ 326571 h 359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3743" h="359228">
                  <a:moveTo>
                    <a:pt x="0" y="359228"/>
                  </a:moveTo>
                  <a:lnTo>
                    <a:pt x="859972" y="0"/>
                  </a:lnTo>
                  <a:lnTo>
                    <a:pt x="859972" y="0"/>
                  </a:lnTo>
                  <a:lnTo>
                    <a:pt x="1643743" y="326571"/>
                  </a:lnTo>
                  <a:lnTo>
                    <a:pt x="1643743" y="326571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99B93E6-1EA5-E4BE-BF8F-52AE94FF7401}"/>
              </a:ext>
            </a:extLst>
          </p:cNvPr>
          <p:cNvGrpSpPr/>
          <p:nvPr/>
        </p:nvGrpSpPr>
        <p:grpSpPr>
          <a:xfrm>
            <a:off x="9615016" y="1259459"/>
            <a:ext cx="2576985" cy="2351604"/>
            <a:chOff x="9818238" y="1468901"/>
            <a:chExt cx="2373763" cy="214216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9B17D53-A72E-6985-1B34-8F2ED87021FC}"/>
                </a:ext>
              </a:extLst>
            </p:cNvPr>
            <p:cNvSpPr/>
            <p:nvPr/>
          </p:nvSpPr>
          <p:spPr>
            <a:xfrm>
              <a:off x="9818238" y="1468901"/>
              <a:ext cx="1055097" cy="1162852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INDIA</a:t>
              </a:r>
              <a:endParaRPr lang="en-IN" sz="1200" b="1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F500963-DC8D-247C-0864-F1F8B8044837}"/>
                </a:ext>
              </a:extLst>
            </p:cNvPr>
            <p:cNvSpPr/>
            <p:nvPr/>
          </p:nvSpPr>
          <p:spPr>
            <a:xfrm>
              <a:off x="10791299" y="2110345"/>
              <a:ext cx="882230" cy="957611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900" b="1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34923D0-D888-E7BD-B2C4-A5A361C2F03D}"/>
                </a:ext>
              </a:extLst>
            </p:cNvPr>
            <p:cNvSpPr/>
            <p:nvPr/>
          </p:nvSpPr>
          <p:spPr>
            <a:xfrm>
              <a:off x="11430007" y="2867124"/>
              <a:ext cx="761994" cy="74393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2DF4FD50-FAC3-A22C-3C9A-5A2111B94EA0}"/>
              </a:ext>
            </a:extLst>
          </p:cNvPr>
          <p:cNvSpPr txBox="1"/>
          <p:nvPr/>
        </p:nvSpPr>
        <p:spPr>
          <a:xfrm>
            <a:off x="10760442" y="2385286"/>
            <a:ext cx="7922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INDONESIA</a:t>
            </a:r>
            <a:endParaRPr lang="en-IN" sz="9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2A11E8-2B9F-0949-3C4A-C55AF2649DC7}"/>
              </a:ext>
            </a:extLst>
          </p:cNvPr>
          <p:cNvSpPr txBox="1"/>
          <p:nvPr/>
        </p:nvSpPr>
        <p:spPr>
          <a:xfrm>
            <a:off x="11468680" y="3123677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VIETNAM</a:t>
            </a:r>
            <a:endParaRPr lang="en-IN" sz="9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BACF37-DA3B-1665-FBB2-90BC7077D49C}"/>
              </a:ext>
            </a:extLst>
          </p:cNvPr>
          <p:cNvSpPr txBox="1"/>
          <p:nvPr/>
        </p:nvSpPr>
        <p:spPr>
          <a:xfrm>
            <a:off x="10909103" y="1622754"/>
            <a:ext cx="1221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Top 03 Markets</a:t>
            </a:r>
            <a:endParaRPr lang="en-IN" sz="1200" b="1" u="sng" dirty="0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0ADB99EB-BE70-583D-B5D1-3348AAE08BD3}"/>
              </a:ext>
            </a:extLst>
          </p:cNvPr>
          <p:cNvSpPr txBox="1"/>
          <p:nvPr/>
        </p:nvSpPr>
        <p:spPr>
          <a:xfrm>
            <a:off x="3835382" y="3704900"/>
            <a:ext cx="8517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India, Indonesia and Vietnam are selected on basis of highest annual use of plastics among all nations in the target market.</a:t>
            </a:r>
            <a:endParaRPr lang="en-IN" sz="1200" dirty="0"/>
          </a:p>
        </p:txBody>
      </p:sp>
      <p:sp>
        <p:nvSpPr>
          <p:cNvPr id="1025" name="Rectangle: Diagonal Corners Rounded 1024">
            <a:extLst>
              <a:ext uri="{FF2B5EF4-FFF2-40B4-BE49-F238E27FC236}">
                <a16:creationId xmlns:a16="http://schemas.microsoft.com/office/drawing/2014/main" id="{B446E9C1-12D9-5FFA-BBEE-0F1A7CD78F3C}"/>
              </a:ext>
            </a:extLst>
          </p:cNvPr>
          <p:cNvSpPr/>
          <p:nvPr/>
        </p:nvSpPr>
        <p:spPr>
          <a:xfrm>
            <a:off x="3988541" y="4106917"/>
            <a:ext cx="1371045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Growth Drivers</a:t>
            </a:r>
            <a:endParaRPr lang="en-IN" sz="1200" b="1" dirty="0">
              <a:solidFill>
                <a:schemeClr val="tx1"/>
              </a:solidFill>
            </a:endParaRPr>
          </a:p>
        </p:txBody>
      </p: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8C4E31F4-D538-3078-717E-A5810592B3C4}"/>
              </a:ext>
            </a:extLst>
          </p:cNvPr>
          <p:cNvCxnSpPr>
            <a:cxnSpLocks/>
          </p:cNvCxnSpPr>
          <p:nvPr/>
        </p:nvCxnSpPr>
        <p:spPr>
          <a:xfrm>
            <a:off x="8032445" y="4105716"/>
            <a:ext cx="0" cy="231331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57BB39BD-2672-868C-39E0-1572BDF7880C}"/>
              </a:ext>
            </a:extLst>
          </p:cNvPr>
          <p:cNvGrpSpPr/>
          <p:nvPr/>
        </p:nvGrpSpPr>
        <p:grpSpPr>
          <a:xfrm>
            <a:off x="5946622" y="4500944"/>
            <a:ext cx="2029722" cy="549347"/>
            <a:chOff x="5946622" y="4500944"/>
            <a:chExt cx="2029722" cy="549347"/>
          </a:xfrm>
        </p:grpSpPr>
        <p:pic>
          <p:nvPicPr>
            <p:cNvPr id="1033" name="Picture 1032" descr="A close up of a logo&#10;&#10;Description automatically generated">
              <a:extLst>
                <a:ext uri="{FF2B5EF4-FFF2-40B4-BE49-F238E27FC236}">
                  <a16:creationId xmlns:a16="http://schemas.microsoft.com/office/drawing/2014/main" id="{6FC7F9C9-A82B-117B-1B99-DCB704C8D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1"/>
                </a:ext>
              </a:extLst>
            </a:blip>
            <a:stretch>
              <a:fillRect/>
            </a:stretch>
          </p:blipFill>
          <p:spPr>
            <a:xfrm>
              <a:off x="7004828" y="4500944"/>
              <a:ext cx="971516" cy="54799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036" name="Picture 1035" descr="A logo of a bag&#10;&#10;Description automatically generated">
              <a:extLst>
                <a:ext uri="{FF2B5EF4-FFF2-40B4-BE49-F238E27FC236}">
                  <a16:creationId xmlns:a16="http://schemas.microsoft.com/office/drawing/2014/main" id="{6A1B1790-30E2-8176-3A84-876094411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3"/>
                </a:ext>
              </a:extLst>
            </a:blip>
            <a:stretch>
              <a:fillRect/>
            </a:stretch>
          </p:blipFill>
          <p:spPr>
            <a:xfrm>
              <a:off x="5946622" y="4503091"/>
              <a:ext cx="972800" cy="547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1037" name="TextBox 1036">
            <a:extLst>
              <a:ext uri="{FF2B5EF4-FFF2-40B4-BE49-F238E27FC236}">
                <a16:creationId xmlns:a16="http://schemas.microsoft.com/office/drawing/2014/main" id="{8C1D04C5-BE9C-8F85-F472-78D38B35A0F6}"/>
              </a:ext>
            </a:extLst>
          </p:cNvPr>
          <p:cNvSpPr txBox="1"/>
          <p:nvPr/>
        </p:nvSpPr>
        <p:spPr>
          <a:xfrm>
            <a:off x="0" y="7033066"/>
            <a:ext cx="2121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hlinkClick r:id="rId13" tooltip="https://www.vcbay.news/2021/07/12/indian-e-commerce-giant-flipkart-raises-pre-ipo-round-of-us-3-6-billion/"/>
              </a:rPr>
              <a:t>This Photo</a:t>
            </a:r>
            <a:r>
              <a:rPr lang="en-IN" sz="900" dirty="0"/>
              <a:t> by Unknown Author is licensed under </a:t>
            </a:r>
            <a:r>
              <a:rPr lang="en-IN" sz="900" dirty="0">
                <a:hlinkClick r:id="rId14" tooltip="https://creativecommons.org/licenses/by-nc-nd/3.0/"/>
              </a:rPr>
              <a:t>CC BY-NC-ND</a:t>
            </a:r>
            <a:endParaRPr lang="en-IN" sz="900" dirty="0"/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EC7B13A3-D625-CEC0-A917-6E48112B86C2}"/>
              </a:ext>
            </a:extLst>
          </p:cNvPr>
          <p:cNvSpPr txBox="1"/>
          <p:nvPr/>
        </p:nvSpPr>
        <p:spPr>
          <a:xfrm>
            <a:off x="3988541" y="4660279"/>
            <a:ext cx="1901980" cy="276999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Growing E-Commerce </a:t>
            </a:r>
            <a:endParaRPr lang="en-IN" sz="1200" dirty="0"/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E1171D2-96D9-C692-60B9-3A3F16D1A9A3}"/>
              </a:ext>
            </a:extLst>
          </p:cNvPr>
          <p:cNvSpPr txBox="1"/>
          <p:nvPr/>
        </p:nvSpPr>
        <p:spPr>
          <a:xfrm>
            <a:off x="3977821" y="5085343"/>
            <a:ext cx="3529227" cy="276999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Regulatory Pressure and Policy: Net Zero 2070</a:t>
            </a:r>
            <a:endParaRPr lang="en-IN" sz="1200" dirty="0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C1EE38DA-1594-B757-0784-41F15DA23C39}"/>
              </a:ext>
            </a:extLst>
          </p:cNvPr>
          <p:cNvSpPr txBox="1"/>
          <p:nvPr/>
        </p:nvSpPr>
        <p:spPr>
          <a:xfrm>
            <a:off x="3988541" y="5574455"/>
            <a:ext cx="3529227" cy="276999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Increasing Environmental Awareness</a:t>
            </a:r>
            <a:endParaRPr lang="en-IN" sz="1200" dirty="0"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BA25701D-F8B8-29F5-E48D-A5212C3C59D8}"/>
              </a:ext>
            </a:extLst>
          </p:cNvPr>
          <p:cNvSpPr txBox="1"/>
          <p:nvPr/>
        </p:nvSpPr>
        <p:spPr>
          <a:xfrm>
            <a:off x="3977527" y="6010658"/>
            <a:ext cx="3529227" cy="276999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Rapid Urbanization and Changing Lifestyle</a:t>
            </a:r>
            <a:endParaRPr lang="en-IN" sz="1200" dirty="0"/>
          </a:p>
        </p:txBody>
      </p:sp>
      <p:pic>
        <p:nvPicPr>
          <p:cNvPr id="1045" name="Graphic 1044" descr="Building Brick Wall with solid fill">
            <a:extLst>
              <a:ext uri="{FF2B5EF4-FFF2-40B4-BE49-F238E27FC236}">
                <a16:creationId xmlns:a16="http://schemas.microsoft.com/office/drawing/2014/main" id="{07936335-783D-6846-F726-6B94A94630C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76243" y="5643481"/>
            <a:ext cx="756061" cy="756061"/>
          </a:xfrm>
          <a:prstGeom prst="rect">
            <a:avLst/>
          </a:prstGeom>
        </p:spPr>
      </p:pic>
      <p:pic>
        <p:nvPicPr>
          <p:cNvPr id="1046" name="Picture 1045">
            <a:extLst>
              <a:ext uri="{FF2B5EF4-FFF2-40B4-BE49-F238E27FC236}">
                <a16:creationId xmlns:a16="http://schemas.microsoft.com/office/drawing/2014/main" id="{97923E34-F99E-547F-2EB1-583A0EBB8B12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b="38689"/>
          <a:stretch/>
        </p:blipFill>
        <p:spPr>
          <a:xfrm>
            <a:off x="8144510" y="4036372"/>
            <a:ext cx="4021621" cy="241599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47" name="Rectangle: Diagonal Corners Rounded 1046">
            <a:extLst>
              <a:ext uri="{FF2B5EF4-FFF2-40B4-BE49-F238E27FC236}">
                <a16:creationId xmlns:a16="http://schemas.microsoft.com/office/drawing/2014/main" id="{9AEEA078-9AAB-05E1-093F-502D70F76716}"/>
              </a:ext>
            </a:extLst>
          </p:cNvPr>
          <p:cNvSpPr/>
          <p:nvPr/>
        </p:nvSpPr>
        <p:spPr>
          <a:xfrm>
            <a:off x="4012046" y="1395132"/>
            <a:ext cx="1371045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Target Market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048" name="Rectangle: Diagonal Corners Rounded 1047">
            <a:extLst>
              <a:ext uri="{FF2B5EF4-FFF2-40B4-BE49-F238E27FC236}">
                <a16:creationId xmlns:a16="http://schemas.microsoft.com/office/drawing/2014/main" id="{70A7F7A3-2246-8315-8CE8-6C3D359D5580}"/>
              </a:ext>
            </a:extLst>
          </p:cNvPr>
          <p:cNvSpPr/>
          <p:nvPr/>
        </p:nvSpPr>
        <p:spPr>
          <a:xfrm>
            <a:off x="1519293" y="1059009"/>
            <a:ext cx="1371045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EcoWrap</a:t>
            </a:r>
            <a:endParaRPr lang="en-IN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106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E17C14-0556-28DA-DFFF-6C5E27957591}"/>
              </a:ext>
            </a:extLst>
          </p:cNvPr>
          <p:cNvSpPr/>
          <p:nvPr/>
        </p:nvSpPr>
        <p:spPr>
          <a:xfrm>
            <a:off x="0" y="6466114"/>
            <a:ext cx="12192000" cy="391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597B867-2B9C-D455-D4F9-81BFFF10AD8E}"/>
              </a:ext>
            </a:extLst>
          </p:cNvPr>
          <p:cNvCxnSpPr/>
          <p:nvPr/>
        </p:nvCxnSpPr>
        <p:spPr>
          <a:xfrm>
            <a:off x="6901542" y="1201175"/>
            <a:ext cx="0" cy="52649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FD41673-A811-3FC4-601D-3435700EC923}"/>
              </a:ext>
            </a:extLst>
          </p:cNvPr>
          <p:cNvSpPr txBox="1"/>
          <p:nvPr/>
        </p:nvSpPr>
        <p:spPr>
          <a:xfrm>
            <a:off x="4304300" y="328093"/>
            <a:ext cx="4017703" cy="369332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63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Expansion and Market Entry Strategy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797E1-7ADC-33E6-3B7B-5AF61B56101A}"/>
              </a:ext>
            </a:extLst>
          </p:cNvPr>
          <p:cNvSpPr txBox="1"/>
          <p:nvPr/>
        </p:nvSpPr>
        <p:spPr>
          <a:xfrm>
            <a:off x="67100" y="1579894"/>
            <a:ext cx="294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EcoWrap </a:t>
            </a:r>
            <a:r>
              <a:rPr lang="en-US" sz="1200" dirty="0"/>
              <a:t> should target these three countries to enter. Here’s the reason why?</a:t>
            </a:r>
            <a:endParaRPr lang="en-IN" sz="120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A8674B6-5E7E-7257-C355-1939425506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3877762"/>
              </p:ext>
            </p:extLst>
          </p:nvPr>
        </p:nvGraphicFramePr>
        <p:xfrm>
          <a:off x="0" y="1986033"/>
          <a:ext cx="2812142" cy="1874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CCBF66-0790-0920-A98A-67E6EB4F52B4}"/>
              </a:ext>
            </a:extLst>
          </p:cNvPr>
          <p:cNvCxnSpPr/>
          <p:nvPr/>
        </p:nvCxnSpPr>
        <p:spPr>
          <a:xfrm>
            <a:off x="3013461" y="1201175"/>
            <a:ext cx="0" cy="52649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615E23-A6B2-56B3-E55D-8724F61DD3DB}"/>
              </a:ext>
            </a:extLst>
          </p:cNvPr>
          <p:cNvCxnSpPr>
            <a:cxnSpLocks/>
          </p:cNvCxnSpPr>
          <p:nvPr/>
        </p:nvCxnSpPr>
        <p:spPr>
          <a:xfrm flipH="1">
            <a:off x="0" y="3905224"/>
            <a:ext cx="3013461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441010A-EEA6-DFA5-3FA0-0F91D7768838}"/>
              </a:ext>
            </a:extLst>
          </p:cNvPr>
          <p:cNvSpPr txBox="1"/>
          <p:nvPr/>
        </p:nvSpPr>
        <p:spPr>
          <a:xfrm>
            <a:off x="33550" y="3918196"/>
            <a:ext cx="294636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Factors to consider while entering these markets:</a:t>
            </a:r>
          </a:p>
          <a:p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060"/>
                </a:solidFill>
              </a:rPr>
              <a:t>They are developing nation hence their purchasing power would be different from western world.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060"/>
                </a:solidFill>
              </a:rPr>
              <a:t>We need to balance Cost Vs Benefit, as cost is a vital factor in their purchasing decision.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060"/>
                </a:solidFill>
              </a:rPr>
              <a:t>Language barriers and Cultural mismatch.</a:t>
            </a:r>
            <a:endParaRPr lang="en-IN" sz="1200" dirty="0">
              <a:solidFill>
                <a:srgbClr val="002060"/>
              </a:solidFill>
            </a:endParaRP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7D4ADC39-6BC8-5B38-401C-386EFF07DA17}"/>
              </a:ext>
            </a:extLst>
          </p:cNvPr>
          <p:cNvSpPr/>
          <p:nvPr/>
        </p:nvSpPr>
        <p:spPr>
          <a:xfrm>
            <a:off x="4271979" y="1140099"/>
            <a:ext cx="1371045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Entry Mode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2598EC-3362-F100-90D1-EF7561A1D60F}"/>
              </a:ext>
            </a:extLst>
          </p:cNvPr>
          <p:cNvSpPr txBox="1"/>
          <p:nvPr/>
        </p:nvSpPr>
        <p:spPr>
          <a:xfrm>
            <a:off x="3201120" y="1579894"/>
            <a:ext cx="3700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Joint Venture with 51% share: </a:t>
            </a:r>
            <a:r>
              <a:rPr lang="en-US" sz="1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Forming a partnership with a local company in the target market to share resources, risks, and profits. Joint ventures allow it to leverage the local partner's knowledge of the market, distribution networks, and regulatory environment.</a:t>
            </a:r>
            <a:endParaRPr lang="en-IN" sz="12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F36F6CE-4CE5-ECC8-CF4B-061760CF765C}"/>
              </a:ext>
            </a:extLst>
          </p:cNvPr>
          <p:cNvCxnSpPr>
            <a:cxnSpLocks/>
          </p:cNvCxnSpPr>
          <p:nvPr/>
        </p:nvCxnSpPr>
        <p:spPr>
          <a:xfrm flipH="1" flipV="1">
            <a:off x="3013461" y="2647977"/>
            <a:ext cx="3921629" cy="2103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977F8525-69B4-79C8-CEE3-8794512DAB2F}"/>
              </a:ext>
            </a:extLst>
          </p:cNvPr>
          <p:cNvSpPr/>
          <p:nvPr/>
        </p:nvSpPr>
        <p:spPr>
          <a:xfrm>
            <a:off x="8723600" y="1201175"/>
            <a:ext cx="1635489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Marketing Strategy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B14903E3-24A0-0C4C-5306-CD997BB4092D}"/>
              </a:ext>
            </a:extLst>
          </p:cNvPr>
          <p:cNvSpPr/>
          <p:nvPr/>
        </p:nvSpPr>
        <p:spPr>
          <a:xfrm>
            <a:off x="4190114" y="2790485"/>
            <a:ext cx="1635489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Product Strategy</a:t>
            </a:r>
            <a:endParaRPr lang="en-IN" sz="1200" b="1" dirty="0">
              <a:solidFill>
                <a:schemeClr val="tx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AA79C1-7853-E1F3-FBE9-0EDE5C51220B}"/>
              </a:ext>
            </a:extLst>
          </p:cNvPr>
          <p:cNvGrpSpPr/>
          <p:nvPr/>
        </p:nvGrpSpPr>
        <p:grpSpPr>
          <a:xfrm>
            <a:off x="3201120" y="3277302"/>
            <a:ext cx="3458765" cy="1635637"/>
            <a:chOff x="3211344" y="3180871"/>
            <a:chExt cx="3458765" cy="1635637"/>
          </a:xfrm>
        </p:grpSpPr>
        <p:sp>
          <p:nvSpPr>
            <p:cNvPr id="29" name="Speech Bubble: Oval 28">
              <a:extLst>
                <a:ext uri="{FF2B5EF4-FFF2-40B4-BE49-F238E27FC236}">
                  <a16:creationId xmlns:a16="http://schemas.microsoft.com/office/drawing/2014/main" id="{3EA374E8-ECE7-6C64-1FEF-E6D6BD132069}"/>
                </a:ext>
              </a:extLst>
            </p:cNvPr>
            <p:cNvSpPr/>
            <p:nvPr/>
          </p:nvSpPr>
          <p:spPr>
            <a:xfrm>
              <a:off x="4264953" y="3180871"/>
              <a:ext cx="1338220" cy="540799"/>
            </a:xfrm>
            <a:prstGeom prst="wedgeEllipseCallou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Biodegradable</a:t>
              </a:r>
              <a:endParaRPr lang="en-IN" sz="900" b="1" dirty="0"/>
            </a:p>
          </p:txBody>
        </p:sp>
        <p:sp>
          <p:nvSpPr>
            <p:cNvPr id="30" name="Speech Bubble: Oval 29">
              <a:extLst>
                <a:ext uri="{FF2B5EF4-FFF2-40B4-BE49-F238E27FC236}">
                  <a16:creationId xmlns:a16="http://schemas.microsoft.com/office/drawing/2014/main" id="{6E90C806-872C-B0DF-166D-C5A01CC9E334}"/>
                </a:ext>
              </a:extLst>
            </p:cNvPr>
            <p:cNvSpPr/>
            <p:nvPr/>
          </p:nvSpPr>
          <p:spPr>
            <a:xfrm>
              <a:off x="5331889" y="3647205"/>
              <a:ext cx="1338220" cy="540799"/>
            </a:xfrm>
            <a:prstGeom prst="wedgeEllipseCallou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Compostable</a:t>
              </a:r>
              <a:endParaRPr lang="en-IN" sz="900" b="1" dirty="0"/>
            </a:p>
          </p:txBody>
        </p:sp>
        <p:sp>
          <p:nvSpPr>
            <p:cNvPr id="31" name="Speech Bubble: Oval 30">
              <a:extLst>
                <a:ext uri="{FF2B5EF4-FFF2-40B4-BE49-F238E27FC236}">
                  <a16:creationId xmlns:a16="http://schemas.microsoft.com/office/drawing/2014/main" id="{97149178-EF3A-A70A-0DA0-B88A5DCF63C9}"/>
                </a:ext>
              </a:extLst>
            </p:cNvPr>
            <p:cNvSpPr/>
            <p:nvPr/>
          </p:nvSpPr>
          <p:spPr>
            <a:xfrm>
              <a:off x="3211344" y="3703128"/>
              <a:ext cx="1338220" cy="540799"/>
            </a:xfrm>
            <a:prstGeom prst="wedgeEllipseCallou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Cellulose</a:t>
              </a:r>
              <a:endParaRPr lang="en-IN" sz="900" b="1" dirty="0"/>
            </a:p>
          </p:txBody>
        </p:sp>
        <p:sp>
          <p:nvSpPr>
            <p:cNvPr id="32" name="Speech Bubble: Oval 31">
              <a:extLst>
                <a:ext uri="{FF2B5EF4-FFF2-40B4-BE49-F238E27FC236}">
                  <a16:creationId xmlns:a16="http://schemas.microsoft.com/office/drawing/2014/main" id="{00019C63-3F1C-E8D2-FACC-0E8DDC2D0121}"/>
                </a:ext>
              </a:extLst>
            </p:cNvPr>
            <p:cNvSpPr/>
            <p:nvPr/>
          </p:nvSpPr>
          <p:spPr>
            <a:xfrm>
              <a:off x="4247160" y="4275709"/>
              <a:ext cx="1338220" cy="540799"/>
            </a:xfrm>
            <a:prstGeom prst="wedgeEllipseCallou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Cornstarch</a:t>
              </a:r>
              <a:endParaRPr lang="en-IN" sz="900" b="1" dirty="0"/>
            </a:p>
          </p:txBody>
        </p:sp>
      </p:grpSp>
      <p:pic>
        <p:nvPicPr>
          <p:cNvPr id="1026" name="Picture 2" descr="Gugal Dhoop Packaging Box, Digital printing (CMYK) at Rs 1/piece in Ludhiana">
            <a:extLst>
              <a:ext uri="{FF2B5EF4-FFF2-40B4-BE49-F238E27FC236}">
                <a16:creationId xmlns:a16="http://schemas.microsoft.com/office/drawing/2014/main" id="{3E1175DE-38B4-5474-7A06-4E43DD839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459" y="5054172"/>
            <a:ext cx="1575710" cy="13330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AC0871D-7462-A729-7087-73802B0D615D}"/>
              </a:ext>
            </a:extLst>
          </p:cNvPr>
          <p:cNvSpPr txBox="1"/>
          <p:nvPr/>
        </p:nvSpPr>
        <p:spPr>
          <a:xfrm>
            <a:off x="3069873" y="5411005"/>
            <a:ext cx="22751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Product Localization </a:t>
            </a:r>
            <a:r>
              <a:rPr lang="en-US" sz="1200" dirty="0"/>
              <a:t> is important step in gaining market share. Leverage language and culture of the host country in your products.</a:t>
            </a:r>
            <a:endParaRPr lang="en-IN" sz="1200" dirty="0"/>
          </a:p>
        </p:txBody>
      </p:sp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0BE8DD44-97C2-CF9C-9A06-67D9DD9577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1225466"/>
              </p:ext>
            </p:extLst>
          </p:nvPr>
        </p:nvGraphicFramePr>
        <p:xfrm>
          <a:off x="7448054" y="1559728"/>
          <a:ext cx="3921630" cy="1962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B33A2A72-EBA8-9A43-C6D0-5E630E4851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847944"/>
              </p:ext>
            </p:extLst>
          </p:nvPr>
        </p:nvGraphicFramePr>
        <p:xfrm>
          <a:off x="8185155" y="3117292"/>
          <a:ext cx="1493583" cy="3442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FCE2022-B9A0-50CA-9879-FC5A919F1C2B}"/>
              </a:ext>
            </a:extLst>
          </p:cNvPr>
          <p:cNvCxnSpPr>
            <a:cxnSpLocks/>
          </p:cNvCxnSpPr>
          <p:nvPr/>
        </p:nvCxnSpPr>
        <p:spPr>
          <a:xfrm>
            <a:off x="9546801" y="3429000"/>
            <a:ext cx="0" cy="302414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3" name="Rectangle: Diagonal Corners Rounded 42">
            <a:extLst>
              <a:ext uri="{FF2B5EF4-FFF2-40B4-BE49-F238E27FC236}">
                <a16:creationId xmlns:a16="http://schemas.microsoft.com/office/drawing/2014/main" id="{50E46C5D-8901-9DC3-9265-E05126E56669}"/>
              </a:ext>
            </a:extLst>
          </p:cNvPr>
          <p:cNvSpPr/>
          <p:nvPr/>
        </p:nvSpPr>
        <p:spPr>
          <a:xfrm>
            <a:off x="10189713" y="3501764"/>
            <a:ext cx="1635489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44" name="Rectangle: Diagonal Corners Rounded 43">
            <a:extLst>
              <a:ext uri="{FF2B5EF4-FFF2-40B4-BE49-F238E27FC236}">
                <a16:creationId xmlns:a16="http://schemas.microsoft.com/office/drawing/2014/main" id="{B94790EC-DD57-0643-6885-7B997491BB9C}"/>
              </a:ext>
            </a:extLst>
          </p:cNvPr>
          <p:cNvSpPr/>
          <p:nvPr/>
        </p:nvSpPr>
        <p:spPr>
          <a:xfrm>
            <a:off x="7158599" y="3522070"/>
            <a:ext cx="1635489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Distribution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F8D1E-0D9B-D1A1-A3E4-61CD0BE1B957}"/>
              </a:ext>
            </a:extLst>
          </p:cNvPr>
          <p:cNvSpPr txBox="1"/>
          <p:nvPr/>
        </p:nvSpPr>
        <p:spPr>
          <a:xfrm>
            <a:off x="9597046" y="4143967"/>
            <a:ext cx="25173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Söhne"/>
              </a:rPr>
              <a:t>S</a:t>
            </a:r>
            <a:r>
              <a:rPr lang="en-US" sz="1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ourced, manufactured, transported, and recycled using renewable energy.</a:t>
            </a:r>
          </a:p>
          <a:p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Söhne"/>
              </a:rPr>
              <a:t>Is beneficial, safe &amp; healthy for individuals and communities throughout its lifecycle.</a:t>
            </a:r>
          </a:p>
          <a:p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Söhne"/>
              </a:rPr>
              <a:t>Is manufactured using clean production technologies and best practices.</a:t>
            </a:r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Söhne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EFBF3F-7807-2EE8-280E-C83CEE8FC5EE}"/>
              </a:ext>
            </a:extLst>
          </p:cNvPr>
          <p:cNvSpPr txBox="1"/>
          <p:nvPr/>
        </p:nvSpPr>
        <p:spPr>
          <a:xfrm>
            <a:off x="6882597" y="4204357"/>
            <a:ext cx="2143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Diversified Supplier Base</a:t>
            </a:r>
            <a:endParaRPr lang="en-IN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6997AA-7D2B-1DFD-EADF-F834AAC7C182}"/>
              </a:ext>
            </a:extLst>
          </p:cNvPr>
          <p:cNvSpPr txBox="1"/>
          <p:nvPr/>
        </p:nvSpPr>
        <p:spPr>
          <a:xfrm>
            <a:off x="6894415" y="5359949"/>
            <a:ext cx="2143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Customized Solutions </a:t>
            </a:r>
            <a:endParaRPr lang="en-IN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44C2FC-715D-9159-C639-83DAA81904CA}"/>
              </a:ext>
            </a:extLst>
          </p:cNvPr>
          <p:cNvSpPr txBox="1"/>
          <p:nvPr/>
        </p:nvSpPr>
        <p:spPr>
          <a:xfrm>
            <a:off x="6868525" y="4662286"/>
            <a:ext cx="1752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EPR ( Extended Producer Responsibility )</a:t>
            </a:r>
            <a:endParaRPr lang="en-IN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4356C9-2434-E6F8-C4E2-0B7714F7CF8B}"/>
              </a:ext>
            </a:extLst>
          </p:cNvPr>
          <p:cNvSpPr txBox="1"/>
          <p:nvPr/>
        </p:nvSpPr>
        <p:spPr>
          <a:xfrm>
            <a:off x="6894415" y="5697591"/>
            <a:ext cx="2143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Cost – Effective solutions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10433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E17C14-0556-28DA-DFFF-6C5E27957591}"/>
              </a:ext>
            </a:extLst>
          </p:cNvPr>
          <p:cNvSpPr/>
          <p:nvPr/>
        </p:nvSpPr>
        <p:spPr>
          <a:xfrm>
            <a:off x="0" y="6466114"/>
            <a:ext cx="12192000" cy="391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41673-A811-3FC4-601D-3435700EC923}"/>
              </a:ext>
            </a:extLst>
          </p:cNvPr>
          <p:cNvSpPr txBox="1"/>
          <p:nvPr/>
        </p:nvSpPr>
        <p:spPr>
          <a:xfrm>
            <a:off x="4304300" y="328093"/>
            <a:ext cx="3901324" cy="369332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63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Financial Planning &amp; Risk Mitigation</a:t>
            </a:r>
            <a:endParaRPr lang="en-IN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CCBF66-0790-0920-A98A-67E6EB4F52B4}"/>
              </a:ext>
            </a:extLst>
          </p:cNvPr>
          <p:cNvCxnSpPr/>
          <p:nvPr/>
        </p:nvCxnSpPr>
        <p:spPr>
          <a:xfrm>
            <a:off x="3198519" y="1181966"/>
            <a:ext cx="0" cy="52649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615E23-A6B2-56B3-E55D-8724F61DD3DB}"/>
              </a:ext>
            </a:extLst>
          </p:cNvPr>
          <p:cNvCxnSpPr>
            <a:cxnSpLocks/>
          </p:cNvCxnSpPr>
          <p:nvPr/>
        </p:nvCxnSpPr>
        <p:spPr>
          <a:xfrm flipH="1">
            <a:off x="-3298371" y="1858710"/>
            <a:ext cx="3013461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441010A-EEA6-DFA5-3FA0-0F91D7768838}"/>
              </a:ext>
            </a:extLst>
          </p:cNvPr>
          <p:cNvSpPr txBox="1"/>
          <p:nvPr/>
        </p:nvSpPr>
        <p:spPr>
          <a:xfrm>
            <a:off x="0" y="2164511"/>
            <a:ext cx="30588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This partnership has been laid on common vision, to become the market leader in the sustainable packaging industry in the south and southeast Asia.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We want to capture 33.33% of the market in five years down the line, and during this journey we want to help 100 clients achieve their carbon emission target.</a:t>
            </a:r>
            <a:endParaRPr lang="en-IN" sz="1200" dirty="0"/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7D4ADC39-6BC8-5B38-401C-386EFF07DA17}"/>
              </a:ext>
            </a:extLst>
          </p:cNvPr>
          <p:cNvSpPr/>
          <p:nvPr/>
        </p:nvSpPr>
        <p:spPr>
          <a:xfrm>
            <a:off x="64357" y="1883207"/>
            <a:ext cx="1778114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Purpose and Goal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C5A9BEC4-0F93-FCB8-33DF-4FDA2CE44E19}"/>
              </a:ext>
            </a:extLst>
          </p:cNvPr>
          <p:cNvSpPr/>
          <p:nvPr/>
        </p:nvSpPr>
        <p:spPr>
          <a:xfrm>
            <a:off x="72457" y="4115109"/>
            <a:ext cx="1778114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Organization Structure</a:t>
            </a:r>
            <a:endParaRPr lang="en-IN" sz="1200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A6536D-1877-9DFC-2DB0-6E7744619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7" y="4440694"/>
            <a:ext cx="3025525" cy="200621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AA73F7-4842-60E4-370A-7478A7E6428D}"/>
              </a:ext>
            </a:extLst>
          </p:cNvPr>
          <p:cNvCxnSpPr/>
          <p:nvPr/>
        </p:nvCxnSpPr>
        <p:spPr>
          <a:xfrm>
            <a:off x="7576710" y="1181965"/>
            <a:ext cx="0" cy="52649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03C40752-9C7D-FD59-9401-1B1BD7B5B08D}"/>
              </a:ext>
            </a:extLst>
          </p:cNvPr>
          <p:cNvSpPr/>
          <p:nvPr/>
        </p:nvSpPr>
        <p:spPr>
          <a:xfrm>
            <a:off x="3415243" y="1025518"/>
            <a:ext cx="1778114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Resource Sharing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B2F3E6-F03A-54CB-43BD-9D9D6E48AFC0}"/>
              </a:ext>
            </a:extLst>
          </p:cNvPr>
          <p:cNvSpPr txBox="1"/>
          <p:nvPr/>
        </p:nvSpPr>
        <p:spPr>
          <a:xfrm>
            <a:off x="3326149" y="1613862"/>
            <a:ext cx="42505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EcoWrap will invest in capital infrastructure, its years expertise in the market, network with global players, and its strong R&amp;D capabilities. 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The other partner will bring its distribution network, market knowledge and talented human resources. </a:t>
            </a:r>
            <a:endParaRPr lang="en-IN" sz="12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962B878-C674-8D6C-B5A3-F7956909448F}"/>
              </a:ext>
            </a:extLst>
          </p:cNvPr>
          <p:cNvGrpSpPr/>
          <p:nvPr/>
        </p:nvGrpSpPr>
        <p:grpSpPr>
          <a:xfrm>
            <a:off x="3549227" y="2845642"/>
            <a:ext cx="3761832" cy="2086877"/>
            <a:chOff x="3415243" y="3254829"/>
            <a:chExt cx="3097153" cy="1646239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4AD9EB0-33E3-9598-C36B-B4F4464532A9}"/>
                </a:ext>
              </a:extLst>
            </p:cNvPr>
            <p:cNvSpPr/>
            <p:nvPr/>
          </p:nvSpPr>
          <p:spPr>
            <a:xfrm>
              <a:off x="3415243" y="3254829"/>
              <a:ext cx="1450671" cy="136071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$208 M</a:t>
              </a:r>
              <a:endParaRPr lang="en-IN" b="1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B9A1291-4D99-1115-380B-3D16D797693B}"/>
                </a:ext>
              </a:extLst>
            </p:cNvPr>
            <p:cNvSpPr/>
            <p:nvPr/>
          </p:nvSpPr>
          <p:spPr>
            <a:xfrm>
              <a:off x="5193357" y="3548743"/>
              <a:ext cx="902643" cy="832369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/>
                <a:t>$13.2 M</a:t>
              </a:r>
              <a:endParaRPr lang="en-IN" sz="10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7887A70-2785-6D3F-98E6-AC991DCCFC0D}"/>
                </a:ext>
              </a:extLst>
            </p:cNvPr>
            <p:cNvSpPr txBox="1"/>
            <p:nvPr/>
          </p:nvSpPr>
          <p:spPr>
            <a:xfrm>
              <a:off x="3662587" y="4670236"/>
              <a:ext cx="9076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accent2"/>
                  </a:solidFill>
                </a:rPr>
                <a:t>North America</a:t>
              </a:r>
              <a:endParaRPr lang="en-IN" sz="900" dirty="0">
                <a:solidFill>
                  <a:schemeClr val="accent2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971686B-291C-EDC9-CCEE-8A1918D95ACE}"/>
                </a:ext>
              </a:extLst>
            </p:cNvPr>
            <p:cNvSpPr txBox="1"/>
            <p:nvPr/>
          </p:nvSpPr>
          <p:spPr>
            <a:xfrm>
              <a:off x="5165552" y="4656007"/>
              <a:ext cx="13468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accent2"/>
                  </a:solidFill>
                </a:rPr>
                <a:t>South &amp; Southeast Asia</a:t>
              </a:r>
              <a:endParaRPr lang="en-IN" sz="9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A86258D-C509-67AD-A536-6D72EDBCC41E}"/>
              </a:ext>
            </a:extLst>
          </p:cNvPr>
          <p:cNvSpPr txBox="1"/>
          <p:nvPr/>
        </p:nvSpPr>
        <p:spPr>
          <a:xfrm>
            <a:off x="3250472" y="4914039"/>
            <a:ext cx="42505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Please note that this is not the actual data, due to fictional nature of the problem, however we have taken the market on the same proportion as the real market.</a:t>
            </a:r>
            <a:endParaRPr lang="en-IN" sz="1000" dirty="0">
              <a:solidFill>
                <a:srgbClr val="FF0000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2BF0C35-C851-22FD-38EB-A5AEC45EF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657" y="5879498"/>
            <a:ext cx="902643" cy="4903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79C5E77-F398-0435-253D-F65134147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832" y="5876769"/>
            <a:ext cx="420755" cy="4587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C76F38A-3C18-DE4F-7608-97F6AB341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0055" y="6035266"/>
            <a:ext cx="1094905" cy="25514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D8B5CA3-0494-4991-7B27-7C8247542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1367" y="6002180"/>
            <a:ext cx="1281048" cy="3213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9BC93CB-58F7-9568-0518-FA9F2E97E3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4960" y="5694197"/>
            <a:ext cx="1060505" cy="365144"/>
          </a:xfrm>
          <a:prstGeom prst="rect">
            <a:avLst/>
          </a:prstGeom>
        </p:spPr>
      </p:pic>
      <p:sp>
        <p:nvSpPr>
          <p:cNvPr id="37" name="Rectangle: Diagonal Corners Rounded 36">
            <a:extLst>
              <a:ext uri="{FF2B5EF4-FFF2-40B4-BE49-F238E27FC236}">
                <a16:creationId xmlns:a16="http://schemas.microsoft.com/office/drawing/2014/main" id="{096D672C-3200-77A3-3EDA-26859D0F1CB3}"/>
              </a:ext>
            </a:extLst>
          </p:cNvPr>
          <p:cNvSpPr/>
          <p:nvPr/>
        </p:nvSpPr>
        <p:spPr>
          <a:xfrm>
            <a:off x="4422169" y="5446356"/>
            <a:ext cx="1778114" cy="26600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Potential Partners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2DAD49-15CA-D5FA-E0B7-A3A019EEBB1B}"/>
              </a:ext>
            </a:extLst>
          </p:cNvPr>
          <p:cNvSpPr txBox="1"/>
          <p:nvPr/>
        </p:nvSpPr>
        <p:spPr>
          <a:xfrm>
            <a:off x="7604080" y="1564346"/>
            <a:ext cx="4587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Market is highly segmented in the three target countries. We will partner with  a firm and form a JV with keeping at least 51% share. </a:t>
            </a:r>
            <a:endParaRPr lang="en-IN" sz="12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3657123-3FB3-9B8D-C4D9-DAC663131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332886"/>
              </p:ext>
            </p:extLst>
          </p:nvPr>
        </p:nvGraphicFramePr>
        <p:xfrm>
          <a:off x="8851511" y="2317494"/>
          <a:ext cx="2030550" cy="1793519"/>
        </p:xfrm>
        <a:graphic>
          <a:graphicData uri="http://schemas.openxmlformats.org/drawingml/2006/table">
            <a:tbl>
              <a:tblPr/>
              <a:tblGrid>
                <a:gridCol w="1286532">
                  <a:extLst>
                    <a:ext uri="{9D8B030D-6E8A-4147-A177-3AD203B41FA5}">
                      <a16:colId xmlns:a16="http://schemas.microsoft.com/office/drawing/2014/main" val="419779662"/>
                    </a:ext>
                  </a:extLst>
                </a:gridCol>
                <a:gridCol w="744018">
                  <a:extLst>
                    <a:ext uri="{9D8B030D-6E8A-4147-A177-3AD203B41FA5}">
                      <a16:colId xmlns:a16="http://schemas.microsoft.com/office/drawing/2014/main" val="3266661974"/>
                    </a:ext>
                  </a:extLst>
                </a:gridCol>
              </a:tblGrid>
              <a:tr h="25621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Aptos Narrow" panose="020B0004020202020204" pitchFamily="34" charset="0"/>
                        </a:rPr>
                        <a:t>In $ 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78388"/>
                  </a:ext>
                </a:extLst>
              </a:tr>
              <a:tr h="25621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Aptos Narrow" panose="020B0004020202020204" pitchFamily="34" charset="0"/>
                        </a:rPr>
                        <a:t>Initial Investment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882881"/>
                  </a:ext>
                </a:extLst>
              </a:tr>
              <a:tr h="25621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Aptos Narrow" panose="020B0004020202020204" pitchFamily="34" charset="0"/>
                        </a:rPr>
                        <a:t>Revenue-Year1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572996"/>
                  </a:ext>
                </a:extLst>
              </a:tr>
              <a:tr h="25621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Aptos Narrow" panose="020B0004020202020204" pitchFamily="34" charset="0"/>
                        </a:rPr>
                        <a:t>Revenue-Year2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396318"/>
                  </a:ext>
                </a:extLst>
              </a:tr>
              <a:tr h="25621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Aptos Narrow" panose="020B0004020202020204" pitchFamily="34" charset="0"/>
                        </a:rPr>
                        <a:t>Revenue-Year3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058845"/>
                  </a:ext>
                </a:extLst>
              </a:tr>
              <a:tr h="25621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Aptos Narrow" panose="020B0004020202020204" pitchFamily="34" charset="0"/>
                        </a:rPr>
                        <a:t>COGS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50-80%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075637"/>
                  </a:ext>
                </a:extLst>
              </a:tr>
              <a:tr h="25621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Aptos Narrow" panose="020B0004020202020204" pitchFamily="34" charset="0"/>
                        </a:rPr>
                        <a:t>SG&amp;A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10-30%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31650"/>
                  </a:ext>
                </a:extLst>
              </a:tr>
            </a:tbl>
          </a:graphicData>
        </a:graphic>
      </p:graphicFrame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5B4E4F4B-A19A-CCC9-F707-074E8957E3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724474"/>
              </p:ext>
            </p:extLst>
          </p:nvPr>
        </p:nvGraphicFramePr>
        <p:xfrm>
          <a:off x="9110380" y="4318147"/>
          <a:ext cx="3009163" cy="1877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44" name="Picture 43" descr="A close-up of dice on a dollar bill&#10;&#10;Description automatically generated">
            <a:extLst>
              <a:ext uri="{FF2B5EF4-FFF2-40B4-BE49-F238E27FC236}">
                <a16:creationId xmlns:a16="http://schemas.microsoft.com/office/drawing/2014/main" id="{3687B3B4-89D4-3046-C995-4082BB1B71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7587529" y="4831990"/>
            <a:ext cx="1582899" cy="104032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8285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541</Words>
  <Application>Microsoft Office PowerPoint</Application>
  <PresentationFormat>Widescreen</PresentationFormat>
  <Paragraphs>102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Aptos Narrow</vt:lpstr>
      <vt:lpstr>Arial</vt:lpstr>
      <vt:lpstr>Söhne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Deepanshu Rawat</dc:creator>
  <cp:lastModifiedBy>Deepanshu Rawat</cp:lastModifiedBy>
  <cp:revision>10</cp:revision>
  <dcterms:created xsi:type="dcterms:W3CDTF">2024-04-19T14:05:53Z</dcterms:created>
  <dcterms:modified xsi:type="dcterms:W3CDTF">2024-04-25T16:19:50Z</dcterms:modified>
</cp:coreProperties>
</file>