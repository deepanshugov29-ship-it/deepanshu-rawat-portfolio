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64C3-4E3E-922F-9DAB-39BBAC3C5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48C66-B8AA-FE74-EC4F-951B48BBC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2F066-4AB4-EDF9-85D9-8178172C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B2BCA-0F51-560B-A96E-2CC70576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75DF3-8ADE-C8FE-9953-6FBA9B48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77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7E8F-35B9-1107-EFD5-4D827544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1EF57-E38A-7F84-F439-714B07299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3A6F-1B07-B552-FEFB-53018CB7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AD8AC-E89C-F953-FD39-E1B2978F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0F638-47C0-EC8A-9548-2E6C0E2B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3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D903-202E-AC18-3D56-F5664572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5EDD1-8E64-83D3-BFB9-00910B1EC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3CD8A-27B8-6794-053C-78546EEC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8BB00-E935-4FA7-44D1-37FB274F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0FD95-25DC-9130-1E7D-865EC69A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5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9F54-F608-B863-863F-8BEB8A7A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D4ED1-5A8C-BCB9-C81D-C9B67012D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1BD4F-193A-4142-D6D3-B7EAA5496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C4413-21A6-2928-BC8B-27EEC740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65F02-F54D-BA8D-5346-E6F64F88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D2E26-2EF3-3703-CC19-5A3C3470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4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24E5-D227-D33F-0D44-4387667F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CC35B-7A59-087D-59C5-040E1C999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5C0CC-839C-7EE9-5838-9D8EE17D1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F8BE6-8A39-76F4-C2F6-1E7248DE3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4106F-916B-DADA-B15F-D27B0E8D9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6BB01-6F2B-DE6F-BE7A-858DF5A8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B2A2C-D6E8-FA17-ACDE-A93683CC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D8388-0B24-3C7C-0F43-4B5255B7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92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1B4C-DE1B-5770-E96A-062606BB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FF37D-B59E-51E0-5A54-10213F54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983DA-9A20-B154-61BF-0F251427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97B5D-2921-5591-615E-231E96A3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63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599A2-E5C4-5418-3102-6CAF9095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241D3-4831-88EB-32EC-BADE4B48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9D117-3EBB-930E-203D-C3575318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25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3B9B-60CC-D940-267D-ED417750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1962D-D324-2EB0-B4FA-B2B19062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CE1F8-32D2-842A-2BFC-494C85166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63FCF-FA4D-1FCD-ACEA-0185AA9B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84B6D-C087-F4B9-480E-026309B8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E58C6-20C0-8973-141D-F4ACAEAD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2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1389-B811-31CA-6639-1F64B029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2000C-74DC-AE42-739D-8FB4A439B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00F61-5B08-C444-47CF-483FB25A5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E5D27-CB96-BDF2-67CD-70E64BDD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DE02F-44B2-D048-5090-988FB766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CE86E-7099-8598-9AF6-64C2301F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E473-90DA-F417-E3D9-E9ACB629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44FA4-CC00-B94B-B3BA-C7C45D6D9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6E484-BEFF-E268-EABC-912F5665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1AC34-B003-1978-7AA2-19523C76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0FD50-20F7-C479-4CC0-7E12F4D2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22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CBE13-8096-A51C-A1D2-143320B04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DF5B2-E1A5-4EE1-6A85-6EAEF5F0B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D8402-EB6A-D4FF-6F93-675CFAA5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3C89C-06BD-2980-F728-5F4C3BC6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36685-16CD-D960-5E7C-A628C34B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52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2031B-F9EE-3742-8DAE-FC0FA3E8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62DC1-A3E8-65D7-24F4-EF09B8922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E72A7-0129-7CD7-4509-39BCFFA81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D8CDE-4A96-448C-87F6-9C290CA5F4D6}" type="datetimeFigureOut">
              <a:rPr lang="en-IN" smtClean="0"/>
              <a:t>30-03-2024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5B2-9297-9B70-2AFB-E411BF670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ADBAF-4715-0EA0-D1DB-5912DFB69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D26ED-AA47-4B7F-8B2C-5F326CD6F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192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18" Type="http://schemas.openxmlformats.org/officeDocument/2006/relationships/image" Target="../media/image19.jpeg"/><Relationship Id="rId3" Type="http://schemas.openxmlformats.org/officeDocument/2006/relationships/image" Target="../media/image4.png"/><Relationship Id="rId21" Type="http://schemas.openxmlformats.org/officeDocument/2006/relationships/image" Target="../media/image22.jp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Relationship Id="rId22" Type="http://schemas.openxmlformats.org/officeDocument/2006/relationships/image" Target="../media/image2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F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34504-CAA4-13DD-57EE-E7C1E777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Arial Black" panose="020B0A04020102020204" pitchFamily="34" charset="0"/>
              </a:rPr>
              <a:t>ROUND 02</a:t>
            </a:r>
          </a:p>
        </p:txBody>
      </p:sp>
      <p:pic>
        <p:nvPicPr>
          <p:cNvPr id="5" name="Content Placeholder 4" descr="A collage of a person in a suit&#10;&#10;Description automatically generated">
            <a:extLst>
              <a:ext uri="{FF2B5EF4-FFF2-40B4-BE49-F238E27FC236}">
                <a16:creationId xmlns:a16="http://schemas.microsoft.com/office/drawing/2014/main" id="{C4BCD4CF-98DC-0BD2-6F2C-69BC92116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795" y="4783638"/>
            <a:ext cx="3115508" cy="1633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852D08-F16A-DD8A-A107-1C15EFADBE2C}"/>
              </a:ext>
            </a:extLst>
          </p:cNvPr>
          <p:cNvSpPr txBox="1"/>
          <p:nvPr/>
        </p:nvSpPr>
        <p:spPr>
          <a:xfrm>
            <a:off x="2374395" y="683239"/>
            <a:ext cx="98176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1200" dirty="0">
                <a:latin typeface="Arial Black" panose="020B0A04020102020204" pitchFamily="34" charset="0"/>
                <a:ea typeface="+mj-ea"/>
                <a:cs typeface="+mj-cs"/>
              </a:rPr>
              <a:t>BAZAAR</a:t>
            </a:r>
          </a:p>
          <a:p>
            <a:pPr algn="ctr"/>
            <a:r>
              <a:rPr lang="en-US" sz="4000" b="1" kern="1200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+mj-cs"/>
              </a:rPr>
              <a:t>REVIVE AND THRIVE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28255-06DC-36A7-1C71-30963294DBCA}"/>
              </a:ext>
            </a:extLst>
          </p:cNvPr>
          <p:cNvSpPr txBox="1"/>
          <p:nvPr/>
        </p:nvSpPr>
        <p:spPr>
          <a:xfrm>
            <a:off x="8799568" y="4435443"/>
            <a:ext cx="193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Team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83900-4DD5-1871-46A5-7EA079C5E7BE}"/>
              </a:ext>
            </a:extLst>
          </p:cNvPr>
          <p:cNvSpPr txBox="1"/>
          <p:nvPr/>
        </p:nvSpPr>
        <p:spPr>
          <a:xfrm>
            <a:off x="2579571" y="5733986"/>
            <a:ext cx="2752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To: KMC, Delhi University</a:t>
            </a:r>
          </a:p>
          <a:p>
            <a:r>
              <a:rPr lang="en-US" b="1" dirty="0">
                <a:latin typeface="Arial Black" panose="020B0A04020102020204" pitchFamily="34" charset="0"/>
              </a:rPr>
              <a:t>From: IIM Udaipur</a:t>
            </a:r>
            <a:endParaRPr lang="en-IN" b="1" dirty="0">
              <a:latin typeface="Arial Black" panose="020B0A04020102020204" pitchFamily="34" charset="0"/>
            </a:endParaRPr>
          </a:p>
        </p:txBody>
      </p:sp>
      <p:pic>
        <p:nvPicPr>
          <p:cNvPr id="20" name="Picture 19" descr="A logo on a brick wall&#10;&#10;Description automatically generated">
            <a:extLst>
              <a:ext uri="{FF2B5EF4-FFF2-40B4-BE49-F238E27FC236}">
                <a16:creationId xmlns:a16="http://schemas.microsoft.com/office/drawing/2014/main" id="{B0548DA6-9EC8-8707-5C26-A7810C0D1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900" y="2390633"/>
            <a:ext cx="3830611" cy="239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4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A0C49-DD5F-0FD3-6BA0-C788208D377E}"/>
              </a:ext>
            </a:extLst>
          </p:cNvPr>
          <p:cNvSpPr txBox="1"/>
          <p:nvPr/>
        </p:nvSpPr>
        <p:spPr>
          <a:xfrm>
            <a:off x="44753" y="738264"/>
            <a:ext cx="4045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solidFill>
                  <a:srgbClr val="0F2741"/>
                </a:solidFill>
                <a:effectLst/>
                <a:latin typeface="Open Sans" panose="020B0606030504020204" pitchFamily="34" charset="0"/>
              </a:rPr>
              <a:t>Bicycle market size in the U.S. in 2021, with a forecast from 2022 to 2027</a:t>
            </a:r>
            <a:endParaRPr lang="en-IN" sz="1000" b="1" dirty="0">
              <a:latin typeface="Arial Black" panose="020B0A0402010202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441431C2-1124-40F6-EE3E-676F5A72529F}"/>
              </a:ext>
            </a:extLst>
          </p:cNvPr>
          <p:cNvSpPr/>
          <p:nvPr/>
        </p:nvSpPr>
        <p:spPr>
          <a:xfrm>
            <a:off x="28228" y="87893"/>
            <a:ext cx="3943520" cy="540231"/>
          </a:xfrm>
          <a:prstGeom prst="chevron">
            <a:avLst/>
          </a:prstGeom>
          <a:solidFill>
            <a:srgbClr val="FFFF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Arial Black" panose="020B0A04020102020204" pitchFamily="34" charset="0"/>
              </a:rPr>
              <a:t>Market analysis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F58EC1C-BB5B-6563-0C40-FC44D922F64A}"/>
              </a:ext>
            </a:extLst>
          </p:cNvPr>
          <p:cNvSpPr/>
          <p:nvPr/>
        </p:nvSpPr>
        <p:spPr>
          <a:xfrm>
            <a:off x="4353464" y="258792"/>
            <a:ext cx="3295291" cy="369332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 Black" panose="020B0A04020102020204" pitchFamily="34" charset="0"/>
              </a:rPr>
              <a:t>Trends</a:t>
            </a:r>
            <a:endParaRPr lang="en-IN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85D981E8-EB0F-5908-57BF-5226ABC81C60}"/>
              </a:ext>
            </a:extLst>
          </p:cNvPr>
          <p:cNvSpPr/>
          <p:nvPr/>
        </p:nvSpPr>
        <p:spPr>
          <a:xfrm>
            <a:off x="8387751" y="258792"/>
            <a:ext cx="3295291" cy="369332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i="0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Professional Cycling Market</a:t>
            </a:r>
            <a:endParaRPr lang="en-IN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82CED-B983-0B6C-12D0-6F2629A4A9B5}"/>
              </a:ext>
            </a:extLst>
          </p:cNvPr>
          <p:cNvCxnSpPr/>
          <p:nvPr/>
        </p:nvCxnSpPr>
        <p:spPr>
          <a:xfrm>
            <a:off x="4002657" y="0"/>
            <a:ext cx="0" cy="68580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322C7A-D706-2E10-89E8-F1DED3ACA3FA}"/>
              </a:ext>
            </a:extLst>
          </p:cNvPr>
          <p:cNvCxnSpPr/>
          <p:nvPr/>
        </p:nvCxnSpPr>
        <p:spPr>
          <a:xfrm>
            <a:off x="7976559" y="0"/>
            <a:ext cx="0" cy="68580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43D0A5-4BBD-9633-1A12-5BC22ECD20A2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5258AB-AD02-CD4A-97A3-756D249D31D8}"/>
              </a:ext>
            </a:extLst>
          </p:cNvPr>
          <p:cNvCxnSpPr/>
          <p:nvPr/>
        </p:nvCxnSpPr>
        <p:spPr>
          <a:xfrm>
            <a:off x="0" y="698740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4B36A638-6599-3CB9-EB9B-DF7AE1ABE0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1851782" y="3688870"/>
            <a:ext cx="2192555" cy="1900962"/>
          </a:xfrm>
          <a:prstGeom prst="rect">
            <a:avLst/>
          </a:prstGeom>
          <a:effectLst>
            <a:softEdge rad="1143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540B0A-5154-26FF-18A1-DF701C4D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130" y="3185005"/>
            <a:ext cx="1156716" cy="199079"/>
          </a:xfrm>
          <a:prstGeom prst="rect">
            <a:avLst/>
          </a:prstGeom>
        </p:spPr>
      </p:pic>
      <p:sp>
        <p:nvSpPr>
          <p:cNvPr id="46" name="Arrow: Down 45">
            <a:extLst>
              <a:ext uri="{FF2B5EF4-FFF2-40B4-BE49-F238E27FC236}">
                <a16:creationId xmlns:a16="http://schemas.microsoft.com/office/drawing/2014/main" id="{1F1DC396-0D25-558F-1279-FABA1E4FF9E5}"/>
              </a:ext>
            </a:extLst>
          </p:cNvPr>
          <p:cNvSpPr/>
          <p:nvPr/>
        </p:nvSpPr>
        <p:spPr>
          <a:xfrm>
            <a:off x="8163434" y="1933348"/>
            <a:ext cx="126553" cy="324398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DCF99523-0F9C-183A-55AB-7DC4112E2D57}"/>
              </a:ext>
            </a:extLst>
          </p:cNvPr>
          <p:cNvSpPr/>
          <p:nvPr/>
        </p:nvSpPr>
        <p:spPr>
          <a:xfrm rot="16200000">
            <a:off x="9834191" y="1117166"/>
            <a:ext cx="126553" cy="32439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63E9847A-91D3-D3CC-3C97-ACD50F6D5423}"/>
              </a:ext>
            </a:extLst>
          </p:cNvPr>
          <p:cNvSpPr/>
          <p:nvPr/>
        </p:nvSpPr>
        <p:spPr>
          <a:xfrm>
            <a:off x="1955896" y="1416172"/>
            <a:ext cx="223117" cy="65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388E1F8-404D-AA92-94C7-98F800CE2976}"/>
              </a:ext>
            </a:extLst>
          </p:cNvPr>
          <p:cNvSpPr/>
          <p:nvPr/>
        </p:nvSpPr>
        <p:spPr>
          <a:xfrm>
            <a:off x="1949675" y="1676043"/>
            <a:ext cx="223117" cy="65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8142556-2409-07C9-9891-0D82D10C85E7}"/>
              </a:ext>
            </a:extLst>
          </p:cNvPr>
          <p:cNvSpPr/>
          <p:nvPr/>
        </p:nvSpPr>
        <p:spPr>
          <a:xfrm>
            <a:off x="1949675" y="1968736"/>
            <a:ext cx="223117" cy="656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751B4E-3D86-E8E9-1966-D8F62DB83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9" y="1272031"/>
            <a:ext cx="1733428" cy="9065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4B3713-C749-05BE-4CDF-3D8F945B374B}"/>
              </a:ext>
            </a:extLst>
          </p:cNvPr>
          <p:cNvSpPr txBox="1"/>
          <p:nvPr/>
        </p:nvSpPr>
        <p:spPr>
          <a:xfrm>
            <a:off x="2325454" y="1051933"/>
            <a:ext cx="1623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>
                <a:highlight>
                  <a:srgbClr val="00FFFF"/>
                </a:highlight>
              </a:rPr>
              <a:t>Major competitors in cycling industry providing cycling shoes and appraisal 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3FBC576-DCB3-F200-F84F-CDF7C94C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152" y="1359710"/>
            <a:ext cx="813324" cy="45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Image result for trek bicycle corporation">
            <a:extLst>
              <a:ext uri="{FF2B5EF4-FFF2-40B4-BE49-F238E27FC236}">
                <a16:creationId xmlns:a16="http://schemas.microsoft.com/office/drawing/2014/main" id="{9971FB7A-E6A0-6F4C-C586-6D087842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379" y="1632288"/>
            <a:ext cx="647013" cy="48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ike Logo PNG vector in SVG, PDF, AI, CDR format">
            <a:extLst>
              <a:ext uri="{FF2B5EF4-FFF2-40B4-BE49-F238E27FC236}">
                <a16:creationId xmlns:a16="http://schemas.microsoft.com/office/drawing/2014/main" id="{24D1E42A-420E-EE5A-7217-26FF48156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702" y="1999209"/>
            <a:ext cx="552276" cy="41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ant Bicycles logo and symbol, meaning, history, PNG">
            <a:extLst>
              <a:ext uri="{FF2B5EF4-FFF2-40B4-BE49-F238E27FC236}">
                <a16:creationId xmlns:a16="http://schemas.microsoft.com/office/drawing/2014/main" id="{8C57B65C-2B7B-16AC-F8EC-12EF420F5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200" y="2278916"/>
            <a:ext cx="543980" cy="33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cott Sports">
            <a:extLst>
              <a:ext uri="{FF2B5EF4-FFF2-40B4-BE49-F238E27FC236}">
                <a16:creationId xmlns:a16="http://schemas.microsoft.com/office/drawing/2014/main" id="{6A76A18D-6925-8BDF-4523-655B91C9B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429" y="2587571"/>
            <a:ext cx="755942" cy="41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F1EF4B-3FF8-E61E-0D24-B2FAE5EC3DB5}"/>
              </a:ext>
            </a:extLst>
          </p:cNvPr>
          <p:cNvSpPr txBox="1"/>
          <p:nvPr/>
        </p:nvSpPr>
        <p:spPr>
          <a:xfrm>
            <a:off x="101239" y="2278916"/>
            <a:ext cx="15379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highlight>
                  <a:srgbClr val="FFFF00"/>
                </a:highlight>
              </a:rPr>
              <a:t>Guesstimate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CFEDF6-108D-27A2-424E-70C4BF8E1C0D}"/>
              </a:ext>
            </a:extLst>
          </p:cNvPr>
          <p:cNvSpPr txBox="1"/>
          <p:nvPr/>
        </p:nvSpPr>
        <p:spPr>
          <a:xfrm>
            <a:off x="23223" y="2471252"/>
            <a:ext cx="270600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Cycling Shoes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Market Range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: Basic cycling shoes can cost anywhere from </a:t>
            </a: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$50 to $100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, while high-performance models can reach </a:t>
            </a: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$300 or more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Assumption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: Let’s take a conservative approach and assume an average expenditure of </a:t>
            </a: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$80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 per year for cycling shoes.</a:t>
            </a:r>
          </a:p>
          <a:p>
            <a:pPr algn="l">
              <a:buFont typeface="+mj-lt"/>
              <a:buAutoNum type="arabicPeriod"/>
            </a:pP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Bicycle Appraisal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Industry Norms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: While direct data is scarce, let’s consider a range of </a:t>
            </a: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$70 to $120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 for bicycle appraisal services.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Assumption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: We’ll take the midpoint of this range, which is </a:t>
            </a:r>
            <a:r>
              <a:rPr lang="en-US" sz="500" b="1" i="0" dirty="0">
                <a:solidFill>
                  <a:srgbClr val="111111"/>
                </a:solidFill>
                <a:effectLst/>
                <a:latin typeface="-apple-system"/>
              </a:rPr>
              <a:t>$95</a:t>
            </a:r>
            <a:r>
              <a:rPr lang="en-US" sz="5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A635BC2-0D51-CCDF-0A4C-3DCBF44ABDE9}"/>
              </a:ext>
            </a:extLst>
          </p:cNvPr>
          <p:cNvSpPr/>
          <p:nvPr/>
        </p:nvSpPr>
        <p:spPr>
          <a:xfrm>
            <a:off x="2178871" y="1397945"/>
            <a:ext cx="931758" cy="675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" b="1" dirty="0">
                <a:solidFill>
                  <a:schemeClr val="bg1"/>
                </a:solidFill>
              </a:rPr>
              <a:t>Average expenditure on accessories by an USA customer on their cycle = $24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A2784F-5027-C80F-B23F-EDDA6C5AF328}"/>
              </a:ext>
            </a:extLst>
          </p:cNvPr>
          <p:cNvSpPr txBox="1"/>
          <p:nvPr/>
        </p:nvSpPr>
        <p:spPr>
          <a:xfrm>
            <a:off x="3240520" y="3237589"/>
            <a:ext cx="10225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/>
              <a:t>Source : Statista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1BC838-82BB-8262-AD9F-FA01BA8B52E8}"/>
              </a:ext>
            </a:extLst>
          </p:cNvPr>
          <p:cNvSpPr txBox="1"/>
          <p:nvPr/>
        </p:nvSpPr>
        <p:spPr>
          <a:xfrm>
            <a:off x="3960978" y="703946"/>
            <a:ext cx="24521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Trends Towards Cycling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1802B4E-98FC-6538-91BE-28A79D9DAA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7390" y="1015263"/>
            <a:ext cx="1680510" cy="8520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6C280B7-EA7F-16ED-EC93-6BD5D1530B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6917" y="987689"/>
            <a:ext cx="1591132" cy="82386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FE0F0FA-4891-BA79-9C14-B6DEAE5B6393}"/>
              </a:ext>
            </a:extLst>
          </p:cNvPr>
          <p:cNvSpPr txBox="1"/>
          <p:nvPr/>
        </p:nvSpPr>
        <p:spPr>
          <a:xfrm>
            <a:off x="3980374" y="1910696"/>
            <a:ext cx="264902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Increased Popularity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Cycling became more popular during the pandemic.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Approximately </a:t>
            </a: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one in three Americans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 now ride bikes.</a:t>
            </a:r>
          </a:p>
          <a:p>
            <a:pPr algn="l">
              <a:buFont typeface="+mj-lt"/>
              <a:buAutoNum type="arabicPeriod"/>
            </a:pP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E-Bikes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Electric bikes (e-bikes) are gaining traction for urban commuting.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They have potent motors and extended battery life.</a:t>
            </a:r>
          </a:p>
          <a:p>
            <a:pPr algn="l">
              <a:buFont typeface="+mj-lt"/>
              <a:buAutoNum type="arabicPeriod"/>
            </a:pP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Safety and Infrastructure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Bike lanes reduce accidents.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Unfortunately, </a:t>
            </a: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857 cyclists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 were killed in traffic accidents in 2023.</a:t>
            </a:r>
          </a:p>
          <a:p>
            <a:pPr algn="l">
              <a:buFont typeface="+mj-lt"/>
              <a:buAutoNum type="arabicPeriod"/>
            </a:pP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Industry Outlook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The global cycling industry is worth </a:t>
            </a: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$81 billion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It’s expected to create over </a:t>
            </a:r>
            <a:r>
              <a:rPr lang="en-US" sz="600" b="1" i="0" dirty="0">
                <a:solidFill>
                  <a:srgbClr val="111111"/>
                </a:solidFill>
                <a:effectLst/>
                <a:latin typeface="-apple-system"/>
              </a:rPr>
              <a:t>800,000 jobs</a:t>
            </a:r>
            <a:r>
              <a:rPr lang="en-US" sz="600" b="0" i="0" dirty="0">
                <a:solidFill>
                  <a:srgbClr val="111111"/>
                </a:solidFill>
                <a:effectLst/>
                <a:latin typeface="-apple-system"/>
              </a:rPr>
              <a:t> worldwide.</a:t>
            </a:r>
          </a:p>
        </p:txBody>
      </p:sp>
      <p:pic>
        <p:nvPicPr>
          <p:cNvPr id="1036" name="Picture 12" descr="Cycling in the USA: A Comprehensive Look at Bicycle Usage Statistics">
            <a:extLst>
              <a:ext uri="{FF2B5EF4-FFF2-40B4-BE49-F238E27FC236}">
                <a16:creationId xmlns:a16="http://schemas.microsoft.com/office/drawing/2014/main" id="{8E156D8D-F184-AC60-0606-CC672C289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658" y="1888547"/>
            <a:ext cx="875723" cy="46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SA Cycling Announces 2022 Club of the Year | USA Cycling">
            <a:extLst>
              <a:ext uri="{FF2B5EF4-FFF2-40B4-BE49-F238E27FC236}">
                <a16:creationId xmlns:a16="http://schemas.microsoft.com/office/drawing/2014/main" id="{2DF67A06-C6E4-F04E-B094-18582ADE3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659" y="2471252"/>
            <a:ext cx="867425" cy="46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ADB12E-FC5A-32D5-0F45-CE21A24D70DC}"/>
              </a:ext>
            </a:extLst>
          </p:cNvPr>
          <p:cNvSpPr txBox="1"/>
          <p:nvPr/>
        </p:nvSpPr>
        <p:spPr>
          <a:xfrm>
            <a:off x="8015898" y="1018543"/>
            <a:ext cx="1748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/>
            <a:r>
              <a:rPr lang="en-US" sz="800" b="0" i="0" dirty="0">
                <a:effectLst/>
                <a:latin typeface="-apple-system"/>
              </a:rPr>
              <a:t>The </a:t>
            </a:r>
            <a:r>
              <a:rPr lang="en-US" sz="800" dirty="0">
                <a:latin typeface="-apple-system"/>
              </a:rPr>
              <a:t>USA</a:t>
            </a:r>
            <a:r>
              <a:rPr lang="en-US" sz="800" b="0" i="0" dirty="0">
                <a:effectLst/>
                <a:latin typeface="-apple-system"/>
              </a:rPr>
              <a:t> Professional Cycling  market is projected to grow from 35467 Million in 2022 USD to 47240 USD million by 2030, at a Compound Annual Growth Rate (CAGR) of 5.3% during the forecast period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1B052E-D237-2682-1611-D74F7B4FCF8C}"/>
              </a:ext>
            </a:extLst>
          </p:cNvPr>
          <p:cNvSpPr txBox="1"/>
          <p:nvPr/>
        </p:nvSpPr>
        <p:spPr>
          <a:xfrm>
            <a:off x="10053161" y="1040259"/>
            <a:ext cx="16972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/>
            <a:r>
              <a:rPr lang="en-US" sz="600" b="1" i="0" dirty="0">
                <a:effectLst/>
                <a:latin typeface="-apple-system"/>
              </a:rPr>
              <a:t>Based on TYPE, the Professional Cycling Apparel market from 2024 to 2030 is primarily split into:</a:t>
            </a:r>
            <a:endParaRPr lang="en-US" sz="600" b="0" i="0" dirty="0">
              <a:effectLst/>
              <a:latin typeface="-apple-system"/>
            </a:endParaRPr>
          </a:p>
          <a:p>
            <a:pPr fontAlgn="auto">
              <a:buFont typeface="Arial" panose="020B0604020202020204" pitchFamily="34" charset="0"/>
              <a:buChar char="•"/>
            </a:pPr>
            <a:r>
              <a:rPr lang="en-US" sz="600" dirty="0">
                <a:effectLst/>
              </a:rPr>
              <a:t>Waterproof</a:t>
            </a:r>
          </a:p>
          <a:p>
            <a:pPr fontAlgn="auto">
              <a:buFont typeface="Arial" panose="020B0604020202020204" pitchFamily="34" charset="0"/>
              <a:buChar char="•"/>
            </a:pPr>
            <a:r>
              <a:rPr lang="en-US" sz="600" dirty="0">
                <a:effectLst/>
              </a:rPr>
              <a:t>Non-waterproof</a:t>
            </a:r>
          </a:p>
        </p:txBody>
      </p:sp>
      <p:pic>
        <p:nvPicPr>
          <p:cNvPr id="23" name="Picture 2" descr="USA Pro Cycling Challenge pacing to turn a profit — in year five. – The  Denver Post">
            <a:extLst>
              <a:ext uri="{FF2B5EF4-FFF2-40B4-BE49-F238E27FC236}">
                <a16:creationId xmlns:a16="http://schemas.microsoft.com/office/drawing/2014/main" id="{2831C1A6-9E0C-B853-52B9-15C5E6F66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366" y="1342642"/>
            <a:ext cx="800451" cy="60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B1A6202-8EBB-627E-6484-EC208DC61AEE}"/>
              </a:ext>
            </a:extLst>
          </p:cNvPr>
          <p:cNvSpPr txBox="1"/>
          <p:nvPr/>
        </p:nvSpPr>
        <p:spPr>
          <a:xfrm>
            <a:off x="7974408" y="2212152"/>
            <a:ext cx="191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>
                <a:effectLst/>
                <a:latin typeface="Google Sans"/>
              </a:rPr>
              <a:t>In the professional cycling market within the USA, cycling shoes are primarily divided into two categories based on their function:</a:t>
            </a:r>
            <a:endParaRPr lang="en-IN" sz="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7989E1-7612-3584-C11B-DDF5765FE1A6}"/>
              </a:ext>
            </a:extLst>
          </p:cNvPr>
          <p:cNvSpPr txBox="1"/>
          <p:nvPr/>
        </p:nvSpPr>
        <p:spPr>
          <a:xfrm>
            <a:off x="8015898" y="2554687"/>
            <a:ext cx="91239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b="1" i="0" dirty="0">
                <a:effectLst/>
                <a:latin typeface="Google Sans"/>
              </a:rPr>
              <a:t>Road Cycling Shoes</a:t>
            </a:r>
            <a:endParaRPr lang="en-IN" sz="600" dirty="0"/>
          </a:p>
        </p:txBody>
      </p:sp>
      <p:pic>
        <p:nvPicPr>
          <p:cNvPr id="43" name="Picture 4" descr="Image of Road cycling shoes">
            <a:extLst>
              <a:ext uri="{FF2B5EF4-FFF2-40B4-BE49-F238E27FC236}">
                <a16:creationId xmlns:a16="http://schemas.microsoft.com/office/drawing/2014/main" id="{201119DE-4F51-3645-BB02-3CE310BAF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035" y="2727860"/>
            <a:ext cx="620195" cy="49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E9AC48C-196F-5ACB-8409-09B217B906D2}"/>
              </a:ext>
            </a:extLst>
          </p:cNvPr>
          <p:cNvSpPr txBox="1"/>
          <p:nvPr/>
        </p:nvSpPr>
        <p:spPr>
          <a:xfrm>
            <a:off x="9007479" y="2564771"/>
            <a:ext cx="91239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b="1" i="0" dirty="0">
                <a:effectLst/>
                <a:latin typeface="Google Sans"/>
              </a:rPr>
              <a:t>Mountain Bike Shoes</a:t>
            </a:r>
            <a:endParaRPr lang="en-IN" sz="600" dirty="0"/>
          </a:p>
        </p:txBody>
      </p:sp>
      <p:pic>
        <p:nvPicPr>
          <p:cNvPr id="53" name="Picture 6" descr="Image of Mountain bike shoes">
            <a:extLst>
              <a:ext uri="{FF2B5EF4-FFF2-40B4-BE49-F238E27FC236}">
                <a16:creationId xmlns:a16="http://schemas.microsoft.com/office/drawing/2014/main" id="{BBBF396F-5E28-B94D-B745-FB8C86F50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553" y="2735900"/>
            <a:ext cx="574715" cy="45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8" descr="Cycling Wear Market Size &amp; Share Report, 2020-2027">
            <a:extLst>
              <a:ext uri="{FF2B5EF4-FFF2-40B4-BE49-F238E27FC236}">
                <a16:creationId xmlns:a16="http://schemas.microsoft.com/office/drawing/2014/main" id="{3515AB72-F4BC-D951-2B13-4D94E620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164" y="2330067"/>
            <a:ext cx="1811212" cy="905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0" descr="Top 23 Bicycles Brands in 2024 | Marketing91">
            <a:extLst>
              <a:ext uri="{FF2B5EF4-FFF2-40B4-BE49-F238E27FC236}">
                <a16:creationId xmlns:a16="http://schemas.microsoft.com/office/drawing/2014/main" id="{AE8EEB56-3604-D545-CC3A-4C8D6F826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64" y="3819628"/>
            <a:ext cx="1659364" cy="132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704168F-C3AD-A1A6-6B3E-44E71AC4E20B}"/>
              </a:ext>
            </a:extLst>
          </p:cNvPr>
          <p:cNvSpPr txBox="1"/>
          <p:nvPr/>
        </p:nvSpPr>
        <p:spPr>
          <a:xfrm>
            <a:off x="15154" y="3486721"/>
            <a:ext cx="3727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Arial Black" panose="020B0A04020102020204" pitchFamily="34" charset="0"/>
              </a:rPr>
              <a:t>Top Market Brands In Professional Cycling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D2E046-9451-C5EC-4BAF-FBD359ED11AF}"/>
              </a:ext>
            </a:extLst>
          </p:cNvPr>
          <p:cNvSpPr txBox="1"/>
          <p:nvPr/>
        </p:nvSpPr>
        <p:spPr>
          <a:xfrm>
            <a:off x="8028933" y="710341"/>
            <a:ext cx="340702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latin typeface="Arial Black" panose="020B0A04020102020204" pitchFamily="34" charset="0"/>
              </a:rPr>
              <a:t>Professional Cycling Market </a:t>
            </a:r>
          </a:p>
        </p:txBody>
      </p:sp>
      <p:pic>
        <p:nvPicPr>
          <p:cNvPr id="60" name="Picture 12" descr="Market share of major bicycle brands - U.S. 2011 | Statista">
            <a:extLst>
              <a:ext uri="{FF2B5EF4-FFF2-40B4-BE49-F238E27FC236}">
                <a16:creationId xmlns:a16="http://schemas.microsoft.com/office/drawing/2014/main" id="{51BD9CAF-D3E6-1BFC-F267-46AFDE9D7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12" y="5605570"/>
            <a:ext cx="2111998" cy="116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ompetition concept. Business Cartoon Concept Illustration. Idea Concept.  640343 Vector Art at Vecteezy">
            <a:extLst>
              <a:ext uri="{FF2B5EF4-FFF2-40B4-BE49-F238E27FC236}">
                <a16:creationId xmlns:a16="http://schemas.microsoft.com/office/drawing/2014/main" id="{DCE1824B-488F-A675-883B-8BD4368B2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28" y="5415801"/>
            <a:ext cx="1346198" cy="1327491"/>
          </a:xfrm>
          <a:prstGeom prst="rect">
            <a:avLst/>
          </a:prstGeom>
          <a:noFill/>
          <a:effectLst>
            <a:softEdge rad="165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529850E4-90B1-70C5-0BDF-32C30E782E7F}"/>
              </a:ext>
            </a:extLst>
          </p:cNvPr>
          <p:cNvSpPr txBox="1"/>
          <p:nvPr/>
        </p:nvSpPr>
        <p:spPr>
          <a:xfrm>
            <a:off x="1973803" y="4844539"/>
            <a:ext cx="176365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dirty="0">
                <a:highlight>
                  <a:srgbClr val="FFFF00"/>
                </a:highlight>
                <a:latin typeface="Arial Black" panose="020B0A04020102020204" pitchFamily="34" charset="0"/>
              </a:rPr>
              <a:t>Market share of brands in USA market</a:t>
            </a:r>
          </a:p>
        </p:txBody>
      </p:sp>
      <p:sp>
        <p:nvSpPr>
          <p:cNvPr id="1024" name="Arrow: Bent-Up 1023">
            <a:extLst>
              <a:ext uri="{FF2B5EF4-FFF2-40B4-BE49-F238E27FC236}">
                <a16:creationId xmlns:a16="http://schemas.microsoft.com/office/drawing/2014/main" id="{F651CAF1-1F54-E0A3-A107-6B58825DE352}"/>
              </a:ext>
            </a:extLst>
          </p:cNvPr>
          <p:cNvSpPr/>
          <p:nvPr/>
        </p:nvSpPr>
        <p:spPr>
          <a:xfrm rot="10800000" flipH="1">
            <a:off x="1937509" y="4055507"/>
            <a:ext cx="1063457" cy="620819"/>
          </a:xfrm>
          <a:prstGeom prst="bentUp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6FF8F-B857-BAB1-0BB3-8D05AC63192A}"/>
              </a:ext>
            </a:extLst>
          </p:cNvPr>
          <p:cNvSpPr/>
          <p:nvPr/>
        </p:nvSpPr>
        <p:spPr>
          <a:xfrm>
            <a:off x="4044615" y="3439239"/>
            <a:ext cx="2703382" cy="13157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Söhne"/>
              </a:rPr>
              <a:t>Name: </a:t>
            </a:r>
            <a:r>
              <a:rPr lang="en-US" sz="1000" dirty="0">
                <a:solidFill>
                  <a:schemeClr val="tx1"/>
                </a:solidFill>
                <a:latin typeface="Söhne"/>
              </a:rPr>
              <a:t>Alex Thompson</a:t>
            </a:r>
          </a:p>
          <a:p>
            <a:pPr algn="l"/>
            <a:r>
              <a:rPr lang="en-US" sz="1000" b="1" i="0" dirty="0">
                <a:solidFill>
                  <a:schemeClr val="tx1"/>
                </a:solidFill>
                <a:effectLst/>
                <a:latin typeface="Söhne"/>
              </a:rPr>
              <a:t>Age</a:t>
            </a:r>
            <a:r>
              <a:rPr lang="en-US" sz="1000" b="1" dirty="0">
                <a:solidFill>
                  <a:schemeClr val="tx1"/>
                </a:solidFill>
                <a:latin typeface="Söhne"/>
              </a:rPr>
              <a:t>: </a:t>
            </a:r>
            <a:r>
              <a:rPr lang="en-US" sz="1000" dirty="0">
                <a:solidFill>
                  <a:schemeClr val="tx1"/>
                </a:solidFill>
                <a:latin typeface="Söhne"/>
              </a:rPr>
              <a:t>35</a:t>
            </a:r>
          </a:p>
          <a:p>
            <a:pPr algn="l"/>
            <a:r>
              <a:rPr lang="en-US" sz="1000" b="1" i="0" dirty="0">
                <a:solidFill>
                  <a:schemeClr val="tx1"/>
                </a:solidFill>
                <a:effectLst/>
                <a:latin typeface="Söhne"/>
              </a:rPr>
              <a:t>Occupation: </a:t>
            </a:r>
            <a:r>
              <a:rPr lang="en-US" sz="1000" i="0" dirty="0">
                <a:solidFill>
                  <a:schemeClr val="tx1"/>
                </a:solidFill>
                <a:effectLst/>
                <a:latin typeface="Söhne"/>
              </a:rPr>
              <a:t>Marketing</a:t>
            </a:r>
            <a:r>
              <a:rPr lang="en-US" sz="1000" b="1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sz="1000" i="0" dirty="0">
                <a:solidFill>
                  <a:schemeClr val="tx1"/>
                </a:solidFill>
                <a:effectLst/>
                <a:latin typeface="Söhne"/>
              </a:rPr>
              <a:t>Manager</a:t>
            </a:r>
          </a:p>
          <a:p>
            <a:pPr algn="l"/>
            <a:r>
              <a:rPr lang="en-US" sz="1000" b="1" dirty="0">
                <a:solidFill>
                  <a:schemeClr val="tx1"/>
                </a:solidFill>
                <a:latin typeface="Söhne"/>
              </a:rPr>
              <a:t>Cycling Experience: </a:t>
            </a:r>
            <a:r>
              <a:rPr lang="en-US" sz="1000" dirty="0">
                <a:solidFill>
                  <a:schemeClr val="tx1"/>
                </a:solidFill>
                <a:latin typeface="Söhne"/>
              </a:rPr>
              <a:t>Intermediate</a:t>
            </a:r>
          </a:p>
          <a:p>
            <a:pPr algn="l"/>
            <a:r>
              <a:rPr lang="en-US" sz="1000" b="1" i="0" dirty="0">
                <a:solidFill>
                  <a:schemeClr val="tx1"/>
                </a:solidFill>
                <a:effectLst/>
                <a:latin typeface="Söhne"/>
              </a:rPr>
              <a:t>Uses Cycling for following purposes</a:t>
            </a:r>
            <a:r>
              <a:rPr lang="en-US" sz="1000" b="1" dirty="0">
                <a:solidFill>
                  <a:schemeClr val="tx1"/>
                </a:solidFill>
                <a:latin typeface="Söhne"/>
              </a:rPr>
              <a:t>:</a:t>
            </a:r>
          </a:p>
          <a:p>
            <a:pPr algn="l"/>
            <a:r>
              <a:rPr lang="en-US" sz="1000" i="0" dirty="0">
                <a:solidFill>
                  <a:schemeClr val="tx1"/>
                </a:solidFill>
                <a:effectLst/>
                <a:latin typeface="Söhne"/>
              </a:rPr>
              <a:t>Fitness and Health</a:t>
            </a:r>
            <a:r>
              <a:rPr lang="en-US" sz="1000" dirty="0">
                <a:solidFill>
                  <a:schemeClr val="tx1"/>
                </a:solidFill>
                <a:latin typeface="Söhne"/>
              </a:rPr>
              <a:t>, Stress Relief, Exploration and Adventure, Eco Friendly Lifestyle.</a:t>
            </a:r>
            <a:endParaRPr lang="en-US" sz="1000" i="0" dirty="0"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D9C49B-4FFF-F652-6470-9F67A8BB10C0}"/>
              </a:ext>
            </a:extLst>
          </p:cNvPr>
          <p:cNvSpPr/>
          <p:nvPr/>
        </p:nvSpPr>
        <p:spPr>
          <a:xfrm>
            <a:off x="5832679" y="4991838"/>
            <a:ext cx="2162983" cy="1777499"/>
          </a:xfrm>
          <a:prstGeom prst="rect">
            <a:avLst/>
          </a:prstGeom>
          <a:solidFill>
            <a:srgbClr val="85D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Name:</a:t>
            </a:r>
            <a:r>
              <a:rPr lang="en-US" sz="1000" dirty="0">
                <a:solidFill>
                  <a:schemeClr val="tx1"/>
                </a:solidFill>
              </a:rPr>
              <a:t> Jay Watson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Age: </a:t>
            </a:r>
            <a:r>
              <a:rPr lang="en-US" sz="1000" dirty="0">
                <a:solidFill>
                  <a:schemeClr val="tx1"/>
                </a:solidFill>
              </a:rPr>
              <a:t>28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Occupation: </a:t>
            </a:r>
            <a:r>
              <a:rPr lang="en-US" sz="1000" dirty="0">
                <a:solidFill>
                  <a:schemeClr val="tx1"/>
                </a:solidFill>
              </a:rPr>
              <a:t>Professional Cyclist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Cycling Experience: </a:t>
            </a:r>
            <a:r>
              <a:rPr lang="en-US" sz="1000" dirty="0">
                <a:solidFill>
                  <a:schemeClr val="tx1"/>
                </a:solidFill>
              </a:rPr>
              <a:t>Advanced </a:t>
            </a:r>
          </a:p>
          <a:p>
            <a:r>
              <a:rPr lang="en-US" sz="1000" dirty="0">
                <a:solidFill>
                  <a:schemeClr val="tx1"/>
                </a:solidFill>
              </a:rPr>
              <a:t>Using Cycling for high level competitions.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Lifestyle</a:t>
            </a:r>
            <a:r>
              <a:rPr lang="en-US" sz="1000" dirty="0">
                <a:solidFill>
                  <a:schemeClr val="tx1"/>
                </a:solidFill>
              </a:rPr>
              <a:t>: Competitive, Driven</a:t>
            </a:r>
          </a:p>
          <a:p>
            <a:r>
              <a:rPr lang="en-US" sz="1000" dirty="0">
                <a:solidFill>
                  <a:schemeClr val="tx1"/>
                </a:solidFill>
              </a:rPr>
              <a:t>Disciplined, Ambitious, Media-savvy</a:t>
            </a:r>
          </a:p>
          <a:p>
            <a:endParaRPr lang="en-IN" sz="1000" dirty="0">
              <a:solidFill>
                <a:schemeClr val="tx1"/>
              </a:solidFill>
            </a:endParaRPr>
          </a:p>
        </p:txBody>
      </p:sp>
      <p:pic>
        <p:nvPicPr>
          <p:cNvPr id="24" name="Picture 23" descr="A person riding a bicycle&#10;&#10;Description automatically generated">
            <a:extLst>
              <a:ext uri="{FF2B5EF4-FFF2-40B4-BE49-F238E27FC236}">
                <a16:creationId xmlns:a16="http://schemas.microsoft.com/office/drawing/2014/main" id="{3967E2F3-B871-B866-35D6-7C88326ABC1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042" y="3445985"/>
            <a:ext cx="1260622" cy="1308056"/>
          </a:xfrm>
          <a:prstGeom prst="rect">
            <a:avLst/>
          </a:prstGeom>
        </p:spPr>
      </p:pic>
      <p:pic>
        <p:nvPicPr>
          <p:cNvPr id="26" name="Picture 25" descr="A person riding a bike&#10;&#10;Description automatically generated">
            <a:extLst>
              <a:ext uri="{FF2B5EF4-FFF2-40B4-BE49-F238E27FC236}">
                <a16:creationId xmlns:a16="http://schemas.microsoft.com/office/drawing/2014/main" id="{9BA0ADCA-7240-86F4-BC53-CB2323C829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702" y="4991838"/>
            <a:ext cx="1853828" cy="17775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E8BA386-4604-B58F-9296-D77AD3E873B1}"/>
              </a:ext>
            </a:extLst>
          </p:cNvPr>
          <p:cNvSpPr txBox="1"/>
          <p:nvPr/>
        </p:nvSpPr>
        <p:spPr>
          <a:xfrm>
            <a:off x="5043317" y="4683150"/>
            <a:ext cx="2222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Consumer Persona</a:t>
            </a:r>
            <a:endParaRPr lang="en-IN" sz="14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AB21D0-C61F-4475-89C6-8C63DA5266C9}"/>
              </a:ext>
            </a:extLst>
          </p:cNvPr>
          <p:cNvSpPr/>
          <p:nvPr/>
        </p:nvSpPr>
        <p:spPr>
          <a:xfrm>
            <a:off x="8021843" y="3449930"/>
            <a:ext cx="4162653" cy="1315713"/>
          </a:xfrm>
          <a:prstGeom prst="rect">
            <a:avLst/>
          </a:prstGeom>
          <a:solidFill>
            <a:srgbClr val="85D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tx1"/>
                </a:solidFill>
                <a:effectLst/>
                <a:latin typeface="Söhne"/>
              </a:rPr>
              <a:t>Visibility &amp; Safety </a:t>
            </a:r>
            <a:r>
              <a:rPr lang="en-US" sz="1000" i="0" dirty="0">
                <a:solidFill>
                  <a:schemeClr val="tx1"/>
                </a:solidFill>
                <a:effectLst/>
                <a:latin typeface="Söhne"/>
              </a:rPr>
              <a:t>is a significant concern, especially when riding in low-light conditions or busy urban areas.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  <a:latin typeface="Söhne"/>
              </a:rPr>
              <a:t>Affordability</a:t>
            </a:r>
            <a:r>
              <a:rPr lang="en-US" sz="1000" dirty="0">
                <a:solidFill>
                  <a:schemeClr val="tx1"/>
                </a:solidFill>
                <a:latin typeface="Söhne"/>
              </a:rPr>
              <a:t> is a barrier to them. Consumers are budget conscious.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tx1"/>
                </a:solidFill>
                <a:effectLst/>
                <a:latin typeface="Söhne"/>
              </a:rPr>
              <a:t>Convenience &amp; Versatility</a:t>
            </a:r>
            <a:r>
              <a:rPr lang="en-US" sz="1000" b="1" dirty="0">
                <a:solidFill>
                  <a:schemeClr val="tx1"/>
                </a:solidFill>
                <a:latin typeface="Söhne"/>
              </a:rPr>
              <a:t>: </a:t>
            </a:r>
            <a:r>
              <a:rPr lang="en-US" sz="1000" dirty="0">
                <a:solidFill>
                  <a:schemeClr val="tx1"/>
                </a:solidFill>
                <a:latin typeface="Söhne"/>
              </a:rPr>
              <a:t>They want outfits that can be utilized elsewhere as well</a:t>
            </a:r>
            <a:endParaRPr lang="en-US" sz="1000" b="1" i="0" dirty="0"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CD355F-FA8F-28F1-BBFA-127D98ABF846}"/>
              </a:ext>
            </a:extLst>
          </p:cNvPr>
          <p:cNvSpPr txBox="1"/>
          <p:nvPr/>
        </p:nvSpPr>
        <p:spPr>
          <a:xfrm>
            <a:off x="9082296" y="4697200"/>
            <a:ext cx="2222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Customer Pain Points</a:t>
            </a:r>
            <a:endParaRPr lang="en-IN" sz="140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DFAB65-BB62-8349-D498-BF7D0DBDCFA4}"/>
              </a:ext>
            </a:extLst>
          </p:cNvPr>
          <p:cNvSpPr/>
          <p:nvPr/>
        </p:nvSpPr>
        <p:spPr>
          <a:xfrm>
            <a:off x="8021843" y="4990926"/>
            <a:ext cx="4162652" cy="1777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Performance and Durability: </a:t>
            </a:r>
            <a:r>
              <a:rPr lang="en-US" sz="1000" dirty="0">
                <a:solidFill>
                  <a:schemeClr val="tx1"/>
                </a:solidFill>
              </a:rPr>
              <a:t>Professional cyclists demand gear that delivers top-notch performance and durability.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Customization and Personalization: </a:t>
            </a:r>
            <a:r>
              <a:rPr lang="en-US" sz="1000" dirty="0">
                <a:solidFill>
                  <a:schemeClr val="tx1"/>
                </a:solidFill>
              </a:rPr>
              <a:t>They seek customized gear tailored to their unique preferences and needs.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Sponsorship and Endorsements: </a:t>
            </a:r>
            <a:r>
              <a:rPr lang="en-US" sz="1000" dirty="0">
                <a:solidFill>
                  <a:schemeClr val="tx1"/>
                </a:solidFill>
              </a:rPr>
              <a:t>They prioritize partnerships with brands offering lucrative sponsorships.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Technical Innovation: </a:t>
            </a:r>
            <a:r>
              <a:rPr lang="en-US" sz="1000" dirty="0">
                <a:solidFill>
                  <a:schemeClr val="tx1"/>
                </a:solidFill>
              </a:rPr>
              <a:t>They embrace lightweight materials and </a:t>
            </a:r>
            <a:r>
              <a:rPr lang="en-US" sz="1000" b="1" dirty="0">
                <a:solidFill>
                  <a:schemeClr val="tx1"/>
                </a:solidFill>
              </a:rPr>
              <a:t>aerodynamic designs </a:t>
            </a:r>
            <a:r>
              <a:rPr lang="en-US" sz="1000" dirty="0">
                <a:solidFill>
                  <a:schemeClr val="tx1"/>
                </a:solidFill>
              </a:rPr>
              <a:t>to excel in competition.</a:t>
            </a:r>
            <a:endParaRPr lang="en-IN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3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E3B01-71D8-07AF-DDFB-EB8D99375E6D}"/>
              </a:ext>
            </a:extLst>
          </p:cNvPr>
          <p:cNvSpPr txBox="1"/>
          <p:nvPr/>
        </p:nvSpPr>
        <p:spPr>
          <a:xfrm>
            <a:off x="6411411" y="832624"/>
            <a:ext cx="433722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GUESSTIMATES_FINANCIALS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14D83-7C0E-284B-CBBF-244A41DEB50C}"/>
              </a:ext>
            </a:extLst>
          </p:cNvPr>
          <p:cNvSpPr txBox="1"/>
          <p:nvPr/>
        </p:nvSpPr>
        <p:spPr>
          <a:xfrm>
            <a:off x="6411411" y="1201956"/>
            <a:ext cx="5692655" cy="4770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800" b="1" i="0" dirty="0">
                <a:effectLst/>
                <a:latin typeface="Söhne"/>
              </a:rPr>
              <a:t>Manufacturing In-House</a:t>
            </a:r>
            <a:endParaRPr lang="en-US" sz="28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Cost of Manufacturing In-House</a:t>
            </a:r>
            <a:r>
              <a:rPr lang="en-US" sz="1200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200" b="0" i="0" dirty="0">
                <a:effectLst/>
                <a:latin typeface="Söhne"/>
              </a:rPr>
              <a:t>Cycling Shoes: Reebok might aim for higher quality and brand recognition, so let's estimate the cost of manufacturing cycling shoes at $60 per pair.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200" b="0" i="0" dirty="0">
                <a:effectLst/>
                <a:latin typeface="Söhne"/>
              </a:rPr>
              <a:t>Cycling Apparel: Reebok's reputation for quality and style might drive up costs compared to generic brands. Let's estimate the cost of manufacturing cycling apparel at $40 per set.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Market Size for Cycling Shoes and Apparel in 2022</a:t>
            </a:r>
            <a:r>
              <a:rPr lang="en-US" sz="1200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200" b="0" i="0" dirty="0">
                <a:effectLst/>
                <a:latin typeface="Söhne"/>
              </a:rPr>
              <a:t>Professional Cycling Market Size in 2022: $35,467 million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200" b="0" i="0" dirty="0">
                <a:effectLst/>
                <a:latin typeface="Söhne"/>
              </a:rPr>
              <a:t>Market Share for Cycling Shoes and Apparel: Assume the combined market share remains at 5%.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effectLst/>
                <a:latin typeface="Söhne"/>
              </a:rPr>
              <a:t>Market Size for Cycling Shoes and Apparel ≈ $35,467 million * 0.05 ≈ $1,773.35 million</a:t>
            </a:r>
          </a:p>
          <a:p>
            <a:pPr algn="l">
              <a:buFont typeface="+mj-lt"/>
              <a:buAutoNum type="arabicPeriod"/>
            </a:pPr>
            <a:endParaRPr lang="en-US" sz="1200" b="0" i="0" dirty="0">
              <a:effectLst/>
              <a:latin typeface="Söhne"/>
            </a:endParaRPr>
          </a:p>
          <a:p>
            <a:pPr marL="228600" indent="-228600" algn="l">
              <a:buFont typeface="+mj-lt"/>
              <a:buAutoNum type="arabicPeriod"/>
            </a:pPr>
            <a:endParaRPr lang="en-US" sz="12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Number of Pairs of Cycling Shoes Sold in 2022</a:t>
            </a:r>
            <a:r>
              <a:rPr lang="en-US" sz="1200" b="0" i="0" dirty="0">
                <a:effectLst/>
                <a:latin typeface="Söhne"/>
              </a:rPr>
              <a:t> (Same as before): ≈ 39,407,778 pairs</a:t>
            </a:r>
          </a:p>
          <a:p>
            <a:pPr algn="l">
              <a:buFont typeface="+mj-lt"/>
              <a:buAutoNum type="arabicPeriod"/>
            </a:pPr>
            <a:endParaRPr lang="en-US" sz="12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Revenue for Cycling Shoes in 2022</a:t>
            </a:r>
            <a:r>
              <a:rPr lang="en-US" sz="1200" b="0" i="0" dirty="0">
                <a:effectLst/>
                <a:latin typeface="Söhne"/>
              </a:rPr>
              <a:t>: Total Revenue = Number of Pairs of Cycling Shoes Sold * Cost per Pair Total Revenue ≈ 39,407,778 pairs * $60 ≈ $2,364,466,680</a:t>
            </a:r>
          </a:p>
          <a:p>
            <a:pPr algn="l">
              <a:buFont typeface="+mj-lt"/>
              <a:buAutoNum type="arabicPeriod"/>
            </a:pPr>
            <a:endParaRPr lang="en-US" sz="12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Number of Sets of Cycling Apparel Sold in 2022</a:t>
            </a:r>
            <a:r>
              <a:rPr lang="en-US" sz="1200" b="0" i="0" dirty="0">
                <a:effectLst/>
                <a:latin typeface="Söhne"/>
              </a:rPr>
              <a:t>: Number of Sets of Cycling Apparel Sold ≈ $1,773.35 million / $40 ≈ 44,333,750 sets</a:t>
            </a:r>
          </a:p>
          <a:p>
            <a:pPr algn="l">
              <a:buFont typeface="+mj-lt"/>
              <a:buAutoNum type="arabicPeriod"/>
            </a:pPr>
            <a:endParaRPr lang="en-US" sz="12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Revenue for Cycling Apparel in 2022</a:t>
            </a:r>
            <a:r>
              <a:rPr lang="en-US" sz="1200" b="0" i="0" dirty="0">
                <a:effectLst/>
                <a:latin typeface="Söhne"/>
              </a:rPr>
              <a:t>: Total Revenue ≈ 44,333,750 sets * $40 ≈ $1,773,350,000</a:t>
            </a:r>
          </a:p>
        </p:txBody>
      </p:sp>
      <p:pic>
        <p:nvPicPr>
          <p:cNvPr id="3" name="Picture 2" descr="A diagram of a jacket&#10;&#10;Description automatically generated">
            <a:extLst>
              <a:ext uri="{FF2B5EF4-FFF2-40B4-BE49-F238E27FC236}">
                <a16:creationId xmlns:a16="http://schemas.microsoft.com/office/drawing/2014/main" id="{D40569D5-2E48-C8E3-E69B-76444EE9F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4" y="2232791"/>
            <a:ext cx="3098133" cy="1710995"/>
          </a:xfrm>
          <a:prstGeom prst="rect">
            <a:avLst/>
          </a:prstGeom>
        </p:spPr>
      </p:pic>
      <p:pic>
        <p:nvPicPr>
          <p:cNvPr id="5" name="Picture 4" descr="A list of text on a white background&#10;&#10;Description automatically generated">
            <a:extLst>
              <a:ext uri="{FF2B5EF4-FFF2-40B4-BE49-F238E27FC236}">
                <a16:creationId xmlns:a16="http://schemas.microsoft.com/office/drawing/2014/main" id="{72F09A34-BD14-F44E-9B16-BFBFBB013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2" y="722506"/>
            <a:ext cx="6092238" cy="10938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C1D00F4-3417-44D0-B45D-842C38617C0C}"/>
              </a:ext>
            </a:extLst>
          </p:cNvPr>
          <p:cNvSpPr/>
          <p:nvPr/>
        </p:nvSpPr>
        <p:spPr>
          <a:xfrm>
            <a:off x="859261" y="4664400"/>
            <a:ext cx="1584835" cy="147109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Adventurous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Health-conscious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Competitive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Performance-driven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Eco-conscious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Active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Tech-savvy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Social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Goal-oriented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Discerning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3D4672-9DA2-9459-62C7-D2ABB6DCE63C}"/>
              </a:ext>
            </a:extLst>
          </p:cNvPr>
          <p:cNvSpPr/>
          <p:nvPr/>
        </p:nvSpPr>
        <p:spPr>
          <a:xfrm>
            <a:off x="2910710" y="4664399"/>
            <a:ext cx="1584835" cy="147109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Innovative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Performance-driven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Customizable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Eco-friendly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Active lifestyle-focused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Technologically advanced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Socially responsible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Goal-oriented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Reliable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Stylish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CC246-5125-98B4-1CA1-A312AC27B4A4}"/>
              </a:ext>
            </a:extLst>
          </p:cNvPr>
          <p:cNvSpPr txBox="1"/>
          <p:nvPr/>
        </p:nvSpPr>
        <p:spPr>
          <a:xfrm>
            <a:off x="1214736" y="6207207"/>
            <a:ext cx="1229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Consumer Characteristics</a:t>
            </a:r>
            <a:endParaRPr lang="en-IN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9C16B-DE32-9041-56B0-0F5D7F817A62}"/>
              </a:ext>
            </a:extLst>
          </p:cNvPr>
          <p:cNvSpPr txBox="1"/>
          <p:nvPr/>
        </p:nvSpPr>
        <p:spPr>
          <a:xfrm>
            <a:off x="3196306" y="6330317"/>
            <a:ext cx="1229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Brand Attributes</a:t>
            </a:r>
            <a:endParaRPr lang="en-IN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92CB44-39C4-1D08-E796-A3AA260A2934}"/>
              </a:ext>
            </a:extLst>
          </p:cNvPr>
          <p:cNvSpPr txBox="1"/>
          <p:nvPr/>
        </p:nvSpPr>
        <p:spPr>
          <a:xfrm>
            <a:off x="3381515" y="2460442"/>
            <a:ext cx="2834448" cy="1954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Positioning</a:t>
            </a:r>
          </a:p>
          <a:p>
            <a:endParaRPr lang="en-US" sz="1100" dirty="0"/>
          </a:p>
          <a:p>
            <a:r>
              <a:rPr lang="en-US" sz="1100" dirty="0"/>
              <a:t>For cyclists who demand peak performance and durability, Reebok offers a line of cutting-edge cycling shoes and apparel, engineered with advanced technologies and customizable options to cater to individual preferences. With a commitment to innovation and athlete support, Reebok empowers cyclists at every level to ride with confidence and achieve their full potential on and off the road.</a:t>
            </a:r>
            <a:endParaRPr lang="en-IN" sz="1100" dirty="0"/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C76CB0A2-85E8-C9B6-B811-BCFEF6500921}"/>
              </a:ext>
            </a:extLst>
          </p:cNvPr>
          <p:cNvSpPr/>
          <p:nvPr/>
        </p:nvSpPr>
        <p:spPr>
          <a:xfrm>
            <a:off x="196802" y="255762"/>
            <a:ext cx="3295291" cy="369332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i="0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Product Designing</a:t>
            </a:r>
            <a:endParaRPr lang="en-IN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0B0FC-7754-149E-7F10-536C2AE34327}"/>
              </a:ext>
            </a:extLst>
          </p:cNvPr>
          <p:cNvSpPr txBox="1"/>
          <p:nvPr/>
        </p:nvSpPr>
        <p:spPr>
          <a:xfrm>
            <a:off x="587713" y="1976413"/>
            <a:ext cx="251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Reebok Velocity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5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D667FCB-5737-6EDB-1F6A-F7FFDE83CD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7423847" y="-1"/>
            <a:ext cx="4532513" cy="6771503"/>
          </a:xfrm>
          <a:prstGeom prst="rect">
            <a:avLst/>
          </a:prstGeom>
        </p:spPr>
      </p:pic>
      <p:pic>
        <p:nvPicPr>
          <p:cNvPr id="4" name="Graphic 3" descr="Factory with solid fill">
            <a:extLst>
              <a:ext uri="{FF2B5EF4-FFF2-40B4-BE49-F238E27FC236}">
                <a16:creationId xmlns:a16="http://schemas.microsoft.com/office/drawing/2014/main" id="{F0441FFF-2169-996B-AB4B-B52F1D8ED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46" y="2642629"/>
            <a:ext cx="715148" cy="715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7A0AB1-2869-4D13-7FAC-27857E6CF441}"/>
              </a:ext>
            </a:extLst>
          </p:cNvPr>
          <p:cNvSpPr txBox="1"/>
          <p:nvPr/>
        </p:nvSpPr>
        <p:spPr>
          <a:xfrm>
            <a:off x="1705380" y="2798063"/>
            <a:ext cx="226128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0" dirty="0">
                <a:effectLst/>
                <a:latin typeface="Söhne"/>
              </a:rPr>
              <a:t>Manufacturing</a:t>
            </a:r>
            <a:r>
              <a:rPr lang="en-US" sz="800" b="1" i="0" dirty="0">
                <a:effectLst/>
                <a:latin typeface="Söhne"/>
              </a:rPr>
              <a:t>:</a:t>
            </a:r>
            <a:endParaRPr lang="en-US" sz="800" b="0" i="0" dirty="0">
              <a:effectLst/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Strategic Partnerships:</a:t>
            </a:r>
            <a:r>
              <a:rPr lang="en-US" sz="800" b="0" i="0" dirty="0">
                <a:effectLst/>
                <a:latin typeface="Söhne"/>
              </a:rPr>
              <a:t> Collaborate with specialized manufacturers for high-quality production.</a:t>
            </a:r>
          </a:p>
          <a:p>
            <a:pPr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Technology Integration:</a:t>
            </a:r>
            <a:r>
              <a:rPr lang="en-US" sz="800" b="0" i="0" dirty="0">
                <a:effectLst/>
                <a:latin typeface="Söhne"/>
              </a:rPr>
              <a:t> Ensure integration of advanced materials and features for performance.</a:t>
            </a:r>
          </a:p>
          <a:p>
            <a:pPr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Innovation Focus:</a:t>
            </a:r>
            <a:r>
              <a:rPr lang="en-US" sz="800" b="0" i="0" dirty="0">
                <a:effectLst/>
                <a:latin typeface="Söhne"/>
              </a:rPr>
              <a:t> Invest in R&amp;D for unique designs and cutting-edge technology.</a:t>
            </a:r>
          </a:p>
          <a:p>
            <a:pPr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Sustainability Commitment:</a:t>
            </a:r>
            <a:r>
              <a:rPr lang="en-US" sz="800" b="0" i="0" dirty="0">
                <a:effectLst/>
                <a:latin typeface="Söhne"/>
              </a:rPr>
              <a:t> Source eco-friendly materials and promote sustainable manufacturing practices.</a:t>
            </a:r>
          </a:p>
          <a:p>
            <a:pPr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Cost Efficiency:</a:t>
            </a:r>
            <a:r>
              <a:rPr lang="en-US" sz="800" b="0" i="0" dirty="0">
                <a:effectLst/>
                <a:latin typeface="Söhne"/>
              </a:rPr>
              <a:t> Balance cost-effectiveness with product quality to maintain competitive pricing.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C8AE61-ADC6-EE8B-4695-9E1A47D62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10760" cy="188545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1E04D1E-B648-571F-4F6D-FB16EC477936}"/>
              </a:ext>
            </a:extLst>
          </p:cNvPr>
          <p:cNvSpPr/>
          <p:nvPr/>
        </p:nvSpPr>
        <p:spPr>
          <a:xfrm>
            <a:off x="1865870" y="1173892"/>
            <a:ext cx="1317024" cy="123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073593-AC17-8D9D-8593-0B5B08921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397" y="2074740"/>
            <a:ext cx="3079908" cy="30545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316020-D55C-ED4A-6717-23E9AFE9D684}"/>
              </a:ext>
            </a:extLst>
          </p:cNvPr>
          <p:cNvSpPr txBox="1"/>
          <p:nvPr/>
        </p:nvSpPr>
        <p:spPr>
          <a:xfrm>
            <a:off x="1705380" y="5112693"/>
            <a:ext cx="2869856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effectLst/>
                <a:latin typeface="Söhne"/>
              </a:rPr>
              <a:t>C&amp;F Agents:</a:t>
            </a:r>
            <a:endParaRPr lang="en-US" sz="105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Exclusive Distribution:</a:t>
            </a:r>
            <a:r>
              <a:rPr lang="en-US" sz="800" b="0" i="0" dirty="0">
                <a:effectLst/>
                <a:latin typeface="Söhne"/>
              </a:rPr>
              <a:t> Partner with dedicated C&amp;F agents to manage distribution channels efficiently.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Geographical Coverage:</a:t>
            </a:r>
            <a:r>
              <a:rPr lang="en-US" sz="800" b="0" i="0" dirty="0">
                <a:effectLst/>
                <a:latin typeface="Söhne"/>
              </a:rPr>
              <a:t> Select agents with extensive reach to ensure nationwide availability.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Training Support:</a:t>
            </a:r>
            <a:r>
              <a:rPr lang="en-US" sz="800" b="0" i="0" dirty="0">
                <a:effectLst/>
                <a:latin typeface="Söhne"/>
              </a:rPr>
              <a:t> Provide comprehensive training on product features and selling techniques.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Performance Incentives:</a:t>
            </a:r>
            <a:r>
              <a:rPr lang="en-US" sz="800" b="0" i="0" dirty="0">
                <a:effectLst/>
                <a:latin typeface="Söhne"/>
              </a:rPr>
              <a:t> Offer incentives based on sales performance to drive agent motivation.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Inventory Management:</a:t>
            </a:r>
            <a:r>
              <a:rPr lang="en-US" sz="800" b="0" i="0" dirty="0">
                <a:effectLst/>
                <a:latin typeface="Söhne"/>
              </a:rPr>
              <a:t> Implement systems for real-time tracking and efficient inventory management.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534DA-B17E-2954-5D0A-F112122FB249}"/>
              </a:ext>
            </a:extLst>
          </p:cNvPr>
          <p:cNvSpPr txBox="1"/>
          <p:nvPr/>
        </p:nvSpPr>
        <p:spPr>
          <a:xfrm>
            <a:off x="8683711" y="2606871"/>
            <a:ext cx="2869856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effectLst/>
                <a:latin typeface="Söhne"/>
              </a:rPr>
              <a:t>Distributor</a:t>
            </a:r>
            <a:r>
              <a:rPr lang="en-US" sz="800" b="1" i="0" dirty="0">
                <a:effectLst/>
                <a:latin typeface="Söhne"/>
              </a:rPr>
              <a:t>s:</a:t>
            </a:r>
            <a:endParaRPr lang="en-US" sz="8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Selective Partnerships:</a:t>
            </a:r>
            <a:r>
              <a:rPr lang="en-US" sz="800" b="0" i="0" dirty="0">
                <a:effectLst/>
                <a:latin typeface="Söhne"/>
              </a:rPr>
              <a:t> Choose distributors with expertise in cycling gear to target relevant markets.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Channel Expansion:</a:t>
            </a:r>
            <a:r>
              <a:rPr lang="en-US" sz="800" b="0" i="0" dirty="0">
                <a:effectLst/>
                <a:latin typeface="Söhne"/>
              </a:rPr>
              <a:t> Explore online platforms and specialty stores to broaden distribution channels.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Marketing Collaboration:</a:t>
            </a:r>
            <a:r>
              <a:rPr lang="en-US" sz="800" b="0" i="0" dirty="0">
                <a:effectLst/>
                <a:latin typeface="Söhne"/>
              </a:rPr>
              <a:t> Collaborate on marketing campaigns to increase brand visibility and product awareness.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Training Programs:</a:t>
            </a:r>
            <a:r>
              <a:rPr lang="en-US" sz="800" b="0" i="0" dirty="0">
                <a:effectLst/>
                <a:latin typeface="Söhne"/>
              </a:rPr>
              <a:t> Conduct regular training sessions for distributor staff to enhance product knowledge.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Performance Evaluation:</a:t>
            </a:r>
            <a:r>
              <a:rPr lang="en-US" sz="800" b="0" i="0" dirty="0">
                <a:effectLst/>
                <a:latin typeface="Söhne"/>
              </a:rPr>
              <a:t> Monitor distributor performance and provide feedback for continuous improvement.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45949-46EB-5F35-551E-5D5746771CDE}"/>
              </a:ext>
            </a:extLst>
          </p:cNvPr>
          <p:cNvSpPr txBox="1"/>
          <p:nvPr/>
        </p:nvSpPr>
        <p:spPr>
          <a:xfrm>
            <a:off x="8683711" y="5160927"/>
            <a:ext cx="307990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effectLst/>
                <a:latin typeface="Söhne"/>
              </a:rPr>
              <a:t>Retailers:</a:t>
            </a:r>
            <a:endParaRPr lang="en-US" sz="11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Specialized Retailers:</a:t>
            </a:r>
            <a:r>
              <a:rPr lang="en-US" sz="800" b="0" i="0" dirty="0">
                <a:effectLst/>
                <a:latin typeface="Söhne"/>
              </a:rPr>
              <a:t> Focus on partnerships with cycling-specific retailers for targeted reach.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Visual Merchandising:</a:t>
            </a:r>
            <a:r>
              <a:rPr lang="en-US" sz="800" b="0" i="0" dirty="0">
                <a:effectLst/>
                <a:latin typeface="Söhne"/>
              </a:rPr>
              <a:t> Provide branding materials and displays to ensure effective product presentation.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Staff Training:</a:t>
            </a:r>
            <a:r>
              <a:rPr lang="en-US" sz="800" b="0" i="0" dirty="0">
                <a:effectLst/>
                <a:latin typeface="Söhne"/>
              </a:rPr>
              <a:t> Offer training on product features and benefits to enhance customer service.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Incentive Programs:</a:t>
            </a:r>
            <a:r>
              <a:rPr lang="en-US" sz="800" b="0" i="0" dirty="0">
                <a:effectLst/>
                <a:latin typeface="Söhne"/>
              </a:rPr>
              <a:t> Implement sales incentives to encourage retailers to promote Reebok cycling shoes.</a:t>
            </a:r>
          </a:p>
          <a:p>
            <a:pPr algn="l">
              <a:buFont typeface="+mj-lt"/>
              <a:buAutoNum type="arabicPeriod"/>
            </a:pPr>
            <a:r>
              <a:rPr lang="en-US" sz="800" b="1" i="0" dirty="0">
                <a:effectLst/>
                <a:latin typeface="Söhne"/>
              </a:rPr>
              <a:t>Customer Feedback:</a:t>
            </a:r>
            <a:r>
              <a:rPr lang="en-US" sz="800" b="0" i="0" dirty="0">
                <a:effectLst/>
                <a:latin typeface="Söhne"/>
              </a:rPr>
              <a:t> Establish channels for retailers to provide feedback on product performance and market demand.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F774CAF-E4B9-E827-75D5-0617DDDCE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764" y="324496"/>
            <a:ext cx="2869856" cy="2047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Omni-channel Experience: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availability through both online platforms and </a:t>
            </a:r>
            <a:r>
              <a:rPr lang="en-US" altLang="en-US" sz="800" dirty="0">
                <a:latin typeface="Söhne"/>
              </a:rPr>
              <a:t>physical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800" b="1" dirty="0">
                <a:latin typeface="Söhne"/>
              </a:rPr>
              <a:t>stores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Customization: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customization options to cater to individual </a:t>
            </a:r>
            <a:r>
              <a:rPr lang="en-US" altLang="en-US" sz="800" dirty="0">
                <a:latin typeface="Söhne"/>
              </a:rPr>
              <a:t>preferences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Membership Benefits: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exclusive benefits for loyal customers to foster brand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NHE"/>
              </a:rPr>
              <a:t>Post-purchase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responsive customer service and hassle-free return policies for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Engagement: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Engage customers through cycling events, forums, and social media to build a loyal community.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EF72649B-ECEB-E18E-5E2B-1DA3512C1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270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26B371-4E4A-05BA-3083-C2BEEF3D4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22" y="5276360"/>
            <a:ext cx="920797" cy="641383"/>
          </a:xfrm>
          <a:prstGeom prst="rect">
            <a:avLst/>
          </a:prstGeom>
        </p:spPr>
      </p:pic>
      <p:pic>
        <p:nvPicPr>
          <p:cNvPr id="25" name="Graphic 24" descr="Truck with solid fill">
            <a:extLst>
              <a:ext uri="{FF2B5EF4-FFF2-40B4-BE49-F238E27FC236}">
                <a16:creationId xmlns:a16="http://schemas.microsoft.com/office/drawing/2014/main" id="{7CDE46B3-E473-7F91-946F-425C8B2315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03670" y="2074740"/>
            <a:ext cx="914400" cy="914400"/>
          </a:xfrm>
          <a:prstGeom prst="rect">
            <a:avLst/>
          </a:prstGeom>
        </p:spPr>
      </p:pic>
      <p:pic>
        <p:nvPicPr>
          <p:cNvPr id="27" name="Graphic 26" descr="Marketing with solid fill">
            <a:extLst>
              <a:ext uri="{FF2B5EF4-FFF2-40B4-BE49-F238E27FC236}">
                <a16:creationId xmlns:a16="http://schemas.microsoft.com/office/drawing/2014/main" id="{94EDBE2F-4B88-D227-E8F0-81C962EB66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6620" y="4518987"/>
            <a:ext cx="757373" cy="757373"/>
          </a:xfrm>
          <a:prstGeom prst="rect">
            <a:avLst/>
          </a:prstGeom>
        </p:spPr>
      </p:pic>
      <p:pic>
        <p:nvPicPr>
          <p:cNvPr id="29" name="Graphic 28" descr="Target Audience with solid fill">
            <a:extLst>
              <a:ext uri="{FF2B5EF4-FFF2-40B4-BE49-F238E27FC236}">
                <a16:creationId xmlns:a16="http://schemas.microsoft.com/office/drawing/2014/main" id="{C770156C-0919-60DD-C384-F6B6EE785F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59371" y="98051"/>
            <a:ext cx="734378" cy="7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0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1214</Words>
  <Application>Microsoft Office PowerPoint</Application>
  <PresentationFormat>Widescreen</PresentationFormat>
  <Paragraphs>141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-apple-system</vt:lpstr>
      <vt:lpstr>Arial</vt:lpstr>
      <vt:lpstr>Arial Black</vt:lpstr>
      <vt:lpstr>Calibri</vt:lpstr>
      <vt:lpstr>Calibri Light</vt:lpstr>
      <vt:lpstr>Google Sans</vt:lpstr>
      <vt:lpstr>Open Sans</vt:lpstr>
      <vt:lpstr>Söhne</vt:lpstr>
      <vt:lpstr>SONHE</vt:lpstr>
      <vt:lpstr>Office Theme</vt:lpstr>
      <vt:lpstr>ROUND 02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_2311354</dc:creator>
  <cp:lastModifiedBy>Deepanshu Rawat</cp:lastModifiedBy>
  <cp:revision>5</cp:revision>
  <dcterms:created xsi:type="dcterms:W3CDTF">2024-03-28T15:55:47Z</dcterms:created>
  <dcterms:modified xsi:type="dcterms:W3CDTF">2024-03-30T17:41:10Z</dcterms:modified>
</cp:coreProperties>
</file>